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6.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7.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Spend</c:v>
                </c:pt>
              </c:strCache>
            </c:strRef>
          </c:tx>
          <c:spPr>
            <a:solidFill>
              <a:schemeClr val="accent1"/>
            </a:solidFill>
            <a:ln w="9525" cap="flat">
              <a:solidFill>
                <a:srgbClr val="F9F9F9"/>
              </a:solidFill>
              <a:prstDash val="solid"/>
              <a:round/>
            </a:ln>
            <a:effectLst/>
          </c:spPr>
          <c:dPt>
            <c:idx val="0"/>
            <c:bubble3D val="0"/>
            <c:spPr>
              <a:solidFill>
                <a:srgbClr val="3FB984"/>
              </a:solidFill>
              <a:ln w="9525" cap="flat">
                <a:solidFill>
                  <a:srgbClr val="FFFFFF"/>
                </a:solidFill>
                <a:prstDash val="solid"/>
                <a:round/>
              </a:ln>
              <a:effectLst/>
            </c:spPr>
          </c:dPt>
          <c:dPt>
            <c:idx val="1"/>
            <c:bubble3D val="0"/>
            <c:spPr>
              <a:solidFill>
                <a:srgbClr val="2C8DD6"/>
              </a:solidFill>
              <a:ln w="9525" cap="flat">
                <a:solidFill>
                  <a:srgbClr val="FFFFFF"/>
                </a:solidFill>
                <a:prstDash val="solid"/>
                <a:round/>
              </a:ln>
              <a:effectLst/>
            </c:spPr>
          </c:dPt>
          <c:dPt>
            <c:idx val="2"/>
            <c:bubble3D val="0"/>
            <c:spPr>
              <a:solidFill>
                <a:srgbClr val="1E2761"/>
              </a:solidFill>
              <a:ln w="9525" cap="flat">
                <a:solidFill>
                  <a:srgbClr val="FFFFFF"/>
                </a:solidFill>
                <a:prstDash val="solid"/>
                <a:round/>
              </a:ln>
              <a:effectLst/>
            </c:spPr>
          </c:dPt>
          <c:dPt>
            <c:idx val="3"/>
            <c:bubble3D val="0"/>
            <c:spPr>
              <a:solidFill>
                <a:srgbClr val="F2B441"/>
              </a:solidFill>
              <a:ln w="9525" cap="flat">
                <a:solidFill>
                  <a:srgbClr val="FFFFFF"/>
                </a:solidFill>
                <a:prstDash val="solid"/>
                <a:round/>
              </a:ln>
              <a:effectLst/>
            </c:spPr>
          </c:dPt>
          <c:dPt>
            <c:idx val="4"/>
            <c:bubble3D val="0"/>
            <c:spPr>
              <a:solidFill>
                <a:srgbClr val="9B6BD8"/>
              </a:solidFill>
              <a:ln w="9525" cap="flat">
                <a:solidFill>
                  <a:srgbClr val="FFFFFF"/>
                </a:solidFill>
                <a:prstDash val="solid"/>
                <a:round/>
              </a:ln>
              <a:effectLst/>
            </c:spPr>
          </c:dPt>
          <c:dPt>
            <c:idx val="5"/>
            <c:bubble3D val="0"/>
            <c:spPr>
              <a:solidFill>
                <a:srgbClr val="B7C2D6"/>
              </a:solidFill>
              <a:ln w="9525"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4"/>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5"/>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Sheet1!$A$2:$A$7</c:f>
              <c:strCache>
                <c:ptCount val="6"/>
                <c:pt idx="0">
                  <c:v>Groceries</c:v>
                </c:pt>
                <c:pt idx="1">
                  <c:v>Utilities</c:v>
                </c:pt>
                <c:pt idx="2">
                  <c:v>Rent</c:v>
                </c:pt>
                <c:pt idx="3">
                  <c:v>Entertainment</c:v>
                </c:pt>
                <c:pt idx="4">
                  <c:v>Transfer</c:v>
                </c:pt>
                <c:pt idx="5">
                  <c:v>Other</c:v>
                </c:pt>
              </c:strCache>
            </c:strRef>
          </c:cat>
          <c:val>
            <c:numRef>
              <c:f>Sheet1!$B$2:$B$7</c:f>
              <c:numCache>
                <c:ptCount val="6"/>
                <c:pt idx="0">
                  <c:v>24</c:v>
                </c:pt>
                <c:pt idx="1">
                  <c:v>16</c:v>
                </c:pt>
                <c:pt idx="2">
                  <c:v>34</c:v>
                </c:pt>
                <c:pt idx="3">
                  <c:v>12</c:v>
                </c:pt>
                <c:pt idx="4">
                  <c:v>9</c:v>
                </c:pt>
                <c:pt idx="5">
                  <c:v>5</c:v>
                </c:pt>
              </c:numCache>
            </c:numRef>
          </c:val>
        </c:ser>
        <c:firstSliceAng val="0"/>
        <c:holeSize val="58"/>
      </c:doughnutChart>
      <c:spPr>
        <a:noFill/>
        <a:ln>
          <a:noFill/>
        </a:ln>
        <a:effectLst/>
      </c:spPr>
    </c:plotArea>
    <c:legend>
      <c:legendPos val="b"/>
      <c:overlay val="0"/>
      <c:txPr>
        <a:bodyPr/>
        <a:lstStyle/>
        <a:p>
          <a:pPr>
            <a:defRPr sz="1100">
              <a:solidFill>
                <a:srgbClr val="1B2335"/>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Interest</c:v>
                </c:pt>
              </c:strCache>
            </c:strRef>
          </c:tx>
          <c:spPr>
            <a:solidFill>
              <a:srgbClr val="F2B441"/>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Sheet1!$B$2:$B$13</c:f>
              <c:numCache>
                <c:formatCode>General</c:formatCode>
                <c:ptCount val="12"/>
                <c:pt idx="0">
                  <c:v>50</c:v>
                </c:pt>
                <c:pt idx="1">
                  <c:v>46</c:v>
                </c:pt>
                <c:pt idx="2">
                  <c:v>42</c:v>
                </c:pt>
                <c:pt idx="3">
                  <c:v>38</c:v>
                </c:pt>
                <c:pt idx="4">
                  <c:v>34</c:v>
                </c:pt>
                <c:pt idx="5">
                  <c:v>30</c:v>
                </c:pt>
                <c:pt idx="6">
                  <c:v>25</c:v>
                </c:pt>
                <c:pt idx="7">
                  <c:v>21</c:v>
                </c:pt>
                <c:pt idx="8">
                  <c:v>16</c:v>
                </c:pt>
                <c:pt idx="9">
                  <c:v>12</c:v>
                </c:pt>
                <c:pt idx="10">
                  <c:v>7</c:v>
                </c:pt>
                <c:pt idx="11">
                  <c:v>2</c:v>
                </c:pt>
              </c:numCache>
            </c:numRef>
          </c:val>
        </c:ser>
        <c:ser>
          <c:idx val="1"/>
          <c:order val="1"/>
          <c:tx>
            <c:strRef>
              <c:f>Sheet1!$C$1</c:f>
              <c:strCache>
                <c:ptCount val="1"/>
                <c:pt idx="0">
                  <c:v>Principal</c:v>
                </c:pt>
              </c:strCache>
            </c:strRef>
          </c:tx>
          <c:spPr>
            <a:solidFill>
              <a:srgbClr val="1E2761"/>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Sheet1!$C$2:$C$13</c:f>
              <c:numCache>
                <c:formatCode>General</c:formatCode>
                <c:ptCount val="12"/>
                <c:pt idx="0">
                  <c:v>10</c:v>
                </c:pt>
                <c:pt idx="1">
                  <c:v>14</c:v>
                </c:pt>
                <c:pt idx="2">
                  <c:v>18</c:v>
                </c:pt>
                <c:pt idx="3">
                  <c:v>22</c:v>
                </c:pt>
                <c:pt idx="4">
                  <c:v>26</c:v>
                </c:pt>
                <c:pt idx="5">
                  <c:v>30</c:v>
                </c:pt>
                <c:pt idx="6">
                  <c:v>35</c:v>
                </c:pt>
                <c:pt idx="7">
                  <c:v>39</c:v>
                </c:pt>
                <c:pt idx="8">
                  <c:v>44</c:v>
                </c:pt>
                <c:pt idx="9">
                  <c:v>48</c:v>
                </c:pt>
                <c:pt idx="10">
                  <c:v>53</c:v>
                </c:pt>
                <c:pt idx="11">
                  <c:v>58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5A6B8C"/>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50">
              <a:solidFill>
                <a:srgbClr val="1B2335"/>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Loans</c:v>
                </c:pt>
              </c:strCache>
            </c:strRef>
          </c:tx>
          <c:spPr>
            <a:solidFill>
              <a:srgbClr val="3FB984"/>
            </a:solidFill>
            <a:effectLst/>
          </c:spPr>
          <c:invertIfNegative val="0"/>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dPt>
            <c:idx val="0"/>
            <c:invertIfNegative val="0"/>
            <c:bubble3D val="0"/>
            <c:spPr>
              <a:solidFill>
                <a:srgbClr val="3FB984"/>
              </a:solidFill>
              <a:effectLst/>
            </c:spPr>
          </c:dPt>
          <c:dPt>
            <c:idx val="1"/>
            <c:invertIfNegative val="0"/>
            <c:bubble3D val="0"/>
            <c:spPr>
              <a:solidFill>
                <a:srgbClr val="F2B441"/>
              </a:solidFill>
              <a:effectLst/>
            </c:spPr>
          </c:dPt>
          <c:dPt>
            <c:idx val="2"/>
            <c:invertIfNegative val="0"/>
            <c:bubble3D val="0"/>
            <c:spPr>
              <a:solidFill>
                <a:srgbClr val="E8654F"/>
              </a:solidFill>
              <a:effectLst/>
            </c:spPr>
          </c:dPt>
          <c:cat>
            <c:multiLvlStrRef>
              <c:f>Sheet1!$A$2:$A$4</c:f>
              <c:multiLvlStrCache>
                <c:ptCount val="3"/>
                <c:lvl>
                  <c:pt idx="0">
                    <c:v>Approved</c:v>
                  </c:pt>
                  <c:pt idx="1">
                    <c:v>Pending</c:v>
                  </c:pt>
                  <c:pt idx="2">
                    <c:v>Rejected</c:v>
                  </c:pt>
                </c:lvl>
              </c:multiLvlStrCache>
            </c:multiLvlStrRef>
          </c:cat>
          <c:val>
            <c:numRef>
              <c:f>Sheet1!$B$2:$B$4</c:f>
              <c:numCache>
                <c:formatCode>General</c:formatCode>
                <c:ptCount val="3"/>
                <c:pt idx="0">
                  <c:v>186</c:v>
                </c:pt>
                <c:pt idx="1">
                  <c:v>54</c:v>
                </c:pt>
                <c:pt idx="2">
                  <c:v>41</c:v>
                </c:pt>
              </c:numCache>
            </c:numRef>
          </c:val>
        </c:ser>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ADCFC"/>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1E2761"/>
        </a:solidFill>
        <a:ln>
          <a:noFill/>
        </a:ln>
        <a:effectLst/>
      </c:spPr>
    </c:plotArea>
    <c:plotVisOnly val="1"/>
    <c:dispBlanksAs val="span"/>
  </c:chart>
  <c:spPr>
    <a:solidFill>
      <a:srgbClr val="1E2761"/>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areaChart>
        <c:varyColors val="0"/>
        <c:ser>
          <c:idx val="0"/>
          <c:order val="0"/>
          <c:tx>
            <c:strRef>
              <c:f>Sheet1!$B$1</c:f>
              <c:strCache>
                <c:ptCount val="1"/>
                <c:pt idx="0">
                  <c:v>Net Worth</c:v>
                </c:pt>
              </c:strCache>
            </c:strRef>
          </c:tx>
          <c:spPr>
            <a:solidFill>
              <a:srgbClr val="9B6BD8">
                <a:alpha val="35000"/>
              </a:srgbClr>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Jan</c:v>
                  </c:pt>
                  <c:pt idx="1">
                    <c:v>Feb</c:v>
                  </c:pt>
                  <c:pt idx="2">
                    <c:v>Mar</c:v>
                  </c:pt>
                  <c:pt idx="3">
                    <c:v>Apr</c:v>
                  </c:pt>
                  <c:pt idx="4">
                    <c:v>May</c:v>
                  </c:pt>
                  <c:pt idx="5">
                    <c:v>Jun</c:v>
                  </c:pt>
                </c:lvl>
              </c:multiLvlStrCache>
            </c:multiLvlStrRef>
          </c:cat>
          <c:val>
            <c:numRef>
              <c:f>Sheet1!$B$2:$B$7</c:f>
              <c:numCache>
                <c:formatCode>General</c:formatCode>
                <c:ptCount val="6"/>
                <c:pt idx="0">
                  <c:v>180</c:v>
                </c:pt>
                <c:pt idx="1">
                  <c:v>196</c:v>
                </c:pt>
                <c:pt idx="2">
                  <c:v>212</c:v>
                </c:pt>
                <c:pt idx="3">
                  <c:v>205</c:v>
                </c:pt>
                <c:pt idx="4">
                  <c:v>234</c:v>
                </c:pt>
                <c:pt idx="5">
                  <c:v>261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axId val="2094734554"/>
        <c:axId val="2094734552"/>
        <c:axId val="2094734556"/>
      </c:area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A6B8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6EA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B8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Income</c:v>
                </c:pt>
              </c:strCache>
            </c:strRef>
          </c:tx>
          <c:spPr>
            <a:solidFill>
              <a:srgbClr val="3FB98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Apr</c:v>
                  </c:pt>
                  <c:pt idx="1">
                    <c:v>May</c:v>
                  </c:pt>
                  <c:pt idx="2">
                    <c:v>Jun</c:v>
                  </c:pt>
                </c:lvl>
              </c:multiLvlStrCache>
            </c:multiLvlStrRef>
          </c:cat>
          <c:val>
            <c:numRef>
              <c:f>Sheet1!$B$2:$B$4</c:f>
              <c:numCache>
                <c:formatCode>General</c:formatCode>
                <c:ptCount val="3"/>
                <c:pt idx="0">
                  <c:v>82</c:v>
                </c:pt>
                <c:pt idx="1">
                  <c:v>90</c:v>
                </c:pt>
                <c:pt idx="2">
                  <c:v>96</c:v>
                </c:pt>
              </c:numCache>
            </c:numRef>
          </c:val>
        </c:ser>
        <c:ser>
          <c:idx val="1"/>
          <c:order val="1"/>
          <c:tx>
            <c:strRef>
              <c:f>Sheet1!$C$1</c:f>
              <c:strCache>
                <c:ptCount val="1"/>
                <c:pt idx="0">
                  <c:v>Expense</c:v>
                </c:pt>
              </c:strCache>
            </c:strRef>
          </c:tx>
          <c:spPr>
            <a:solidFill>
              <a:srgbClr val="E8654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Apr</c:v>
                  </c:pt>
                  <c:pt idx="1">
                    <c:v>May</c:v>
                  </c:pt>
                  <c:pt idx="2">
                    <c:v>Jun</c:v>
                  </c:pt>
                </c:lvl>
              </c:multiLvlStrCache>
            </c:multiLvlStrRef>
          </c:cat>
          <c:val>
            <c:numRef>
              <c:f>Sheet1!$C$2:$C$4</c:f>
              <c:numCache>
                <c:formatCode>General</c:formatCode>
                <c:ptCount val="3"/>
                <c:pt idx="0">
                  <c:v>61</c:v>
                </c:pt>
                <c:pt idx="1">
                  <c:v>58</c:v>
                </c:pt>
                <c:pt idx="2">
                  <c:v>64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A6B8C"/>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50">
              <a:solidFill>
                <a:srgbClr val="1B2335"/>
              </a:solidFill>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ms</c:v>
                </c:pt>
              </c:strCache>
            </c:strRef>
          </c:tx>
          <c:spPr>
            <a:solidFill>
              <a:srgbClr val="E8654F"/>
            </a:solidFill>
            <a:effectLst/>
          </c:spPr>
          <c:invertIfNegative val="0"/>
          <c:dLbls>
            <c:numFmt formatCode="#,##0" sourceLinked="0"/>
            <c:txPr>
              <a:bodyPr/>
              <a:lstStyle/>
              <a:p>
                <a:pPr>
                  <a:defRPr b="0" i="0" strike="noStrike" sz="1300" u="none">
                    <a:solidFill>
                      <a:srgbClr val="1B2335"/>
                    </a:solidFill>
                    <a:latin typeface="Arial"/>
                  </a:defRPr>
                </a:pPr>
              </a:p>
            </c:txPr>
            <c:showLegendKey val="0"/>
            <c:showVal val="1"/>
            <c:showCatName val="0"/>
            <c:showSerName val="0"/>
            <c:showPercent val="0"/>
            <c:showBubbleSize val="0"/>
            <c:showLeaderLines val="0"/>
          </c:dLbls>
          <c:dPt>
            <c:idx val="0"/>
            <c:invertIfNegative val="0"/>
            <c:bubble3D val="0"/>
            <c:spPr>
              <a:solidFill>
                <a:srgbClr val="E8654F"/>
              </a:solidFill>
              <a:effectLst/>
            </c:spPr>
          </c:dPt>
          <c:dPt>
            <c:idx val="1"/>
            <c:invertIfNegative val="0"/>
            <c:bubble3D val="0"/>
            <c:spPr>
              <a:solidFill>
                <a:srgbClr val="3FB984"/>
              </a:solidFill>
              <a:effectLst/>
            </c:spPr>
          </c:dPt>
          <c:cat>
            <c:multiLvlStrRef>
              <c:f>Sheet1!$A$2:$A$3</c:f>
              <c:multiLvlStrCache>
                <c:ptCount val="2"/>
                <c:lvl>
                  <c:pt idx="0">
                    <c:v>Before</c:v>
                  </c:pt>
                  <c:pt idx="1">
                    <c:v>After</c:v>
                  </c:pt>
                </c:lvl>
              </c:multiLvlStrCache>
            </c:multiLvlStrRef>
          </c:cat>
          <c:val>
            <c:numRef>
              <c:f>Sheet1!$B$2:$B$3</c:f>
              <c:numCache>
                <c:formatCode>General</c:formatCode>
                <c:ptCount val="2"/>
                <c:pt idx="0">
                  <c:v>420</c:v>
                </c:pt>
                <c:pt idx="1">
                  <c:v>95</c:v>
                </c:pt>
              </c:numCache>
            </c:numRef>
          </c:val>
        </c:ser>
        <c:dLbls>
          <c:numFmt formatCode="#,##0" sourceLinked="0"/>
          <c:txPr>
            <a:bodyPr/>
            <a:lstStyle/>
            <a:p>
              <a:pPr>
                <a:defRPr b="0" i="0" strike="noStrike" sz="1300" u="none">
                  <a:solidFill>
                    <a:srgbClr val="1B233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B2335"/>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Methods</c:v>
                </c:pt>
              </c:strCache>
            </c:strRef>
          </c:tx>
          <c:spPr>
            <a:solidFill>
              <a:schemeClr val="accent1"/>
            </a:solidFill>
            <a:ln w="9525" cap="flat">
              <a:solidFill>
                <a:srgbClr val="F9F9F9"/>
              </a:solidFill>
              <a:prstDash val="solid"/>
              <a:round/>
            </a:ln>
            <a:effectLst/>
          </c:spPr>
          <c:dPt>
            <c:idx val="0"/>
            <c:bubble3D val="0"/>
            <c:spPr>
              <a:solidFill>
                <a:srgbClr val="3FB984"/>
              </a:solidFill>
              <a:ln w="9525" cap="flat">
                <a:solidFill>
                  <a:srgbClr val="1E2761"/>
                </a:solidFill>
                <a:prstDash val="solid"/>
                <a:round/>
              </a:ln>
              <a:effectLst/>
            </c:spPr>
          </c:dPt>
          <c:dPt>
            <c:idx val="1"/>
            <c:bubble3D val="0"/>
            <c:spPr>
              <a:solidFill>
                <a:srgbClr val="2C8DD6"/>
              </a:solidFill>
              <a:ln w="9525" cap="flat">
                <a:solidFill>
                  <a:srgbClr val="1E2761"/>
                </a:solidFill>
                <a:prstDash val="solid"/>
                <a:round/>
              </a:ln>
              <a:effectLst/>
            </c:spPr>
          </c:dPt>
          <c:dPt>
            <c:idx val="2"/>
            <c:bubble3D val="0"/>
            <c:spPr>
              <a:solidFill>
                <a:srgbClr val="F2B441"/>
              </a:solidFill>
              <a:ln w="9525" cap="flat">
                <a:solidFill>
                  <a:srgbClr val="1E2761"/>
                </a:solidFill>
                <a:prstDash val="solid"/>
                <a:round/>
              </a:ln>
              <a:effectLst/>
            </c:spPr>
          </c:dPt>
          <c:dPt>
            <c:idx val="3"/>
            <c:bubble3D val="0"/>
            <c:spPr>
              <a:solidFill>
                <a:srgbClr val="9B6BD8"/>
              </a:solidFill>
              <a:ln w="9525" cap="flat">
                <a:solidFill>
                  <a:srgbClr val="1E2761"/>
                </a:solidFill>
                <a:prstDash val="solid"/>
                <a:round/>
              </a:ln>
              <a:effectLst/>
            </c:spPr>
          </c:dPt>
          <c:dPt>
            <c:idx val="4"/>
            <c:bubble3D val="0"/>
            <c:spPr>
              <a:solidFill>
                <a:srgbClr val="E8654F"/>
              </a:solidFill>
              <a:ln w="9525" cap="flat">
                <a:solidFill>
                  <a:srgbClr val="1E2761"/>
                </a:solidFill>
                <a:prstDash val="solid"/>
                <a:round/>
              </a:ln>
              <a:effectLst/>
            </c:spPr>
          </c:dPt>
          <c:dLbls>
            <c:dLbl>
              <c:idx val="0"/>
              <c:numFmt formatCode="General" sourceLinked="0"/>
              <c:spPr/>
              <c:txPr>
                <a:bodyPr/>
                <a:lstStyle/>
                <a:p>
                  <a:pPr>
                    <a:defRPr sz="1100" b="0" i="0" u="none" strike="noStrike">
                      <a:solidFill>
                        <a:srgbClr val="FFFFFF"/>
                      </a:solidFill>
                      <a:latin typeface="Arial"/>
                    </a:defRPr>
                  </a:pPr>
                </a:p>
              </c:txPr>
              <c:showLegendKey val="0"/>
              <c:showVal val="1"/>
              <c:showCatName val="0"/>
              <c:showSerName val="0"/>
              <c:showPercent val="0"/>
              <c:showBubbleSize val="0"/>
            </c:dLbl>
            <c:dLbl>
              <c:idx val="1"/>
              <c:numFmt formatCode="General" sourceLinked="0"/>
              <c:spPr/>
              <c:txPr>
                <a:bodyPr/>
                <a:lstStyle/>
                <a:p>
                  <a:pPr>
                    <a:defRPr sz="1100" b="0" i="0" u="none" strike="noStrike">
                      <a:solidFill>
                        <a:srgbClr val="FFFFFF"/>
                      </a:solidFill>
                      <a:latin typeface="Arial"/>
                    </a:defRPr>
                  </a:pPr>
                </a:p>
              </c:txPr>
              <c:showLegendKey val="0"/>
              <c:showVal val="1"/>
              <c:showCatName val="0"/>
              <c:showSerName val="0"/>
              <c:showPercent val="0"/>
              <c:showBubbleSize val="0"/>
            </c:dLbl>
            <c:dLbl>
              <c:idx val="2"/>
              <c:numFmt formatCode="General" sourceLinked="0"/>
              <c:spPr/>
              <c:txPr>
                <a:bodyPr/>
                <a:lstStyle/>
                <a:p>
                  <a:pPr>
                    <a:defRPr sz="1100" b="0" i="0" u="none" strike="noStrike">
                      <a:solidFill>
                        <a:srgbClr val="FFFFFF"/>
                      </a:solidFill>
                      <a:latin typeface="Arial"/>
                    </a:defRPr>
                  </a:pPr>
                </a:p>
              </c:txPr>
              <c:showLegendKey val="0"/>
              <c:showVal val="1"/>
              <c:showCatName val="0"/>
              <c:showSerName val="0"/>
              <c:showPercent val="0"/>
              <c:showBubbleSize val="0"/>
            </c:dLbl>
            <c:dLbl>
              <c:idx val="3"/>
              <c:numFmt formatCode="General" sourceLinked="0"/>
              <c:spPr/>
              <c:txPr>
                <a:bodyPr/>
                <a:lstStyle/>
                <a:p>
                  <a:pPr>
                    <a:defRPr sz="1100" b="0" i="0" u="none" strike="noStrike">
                      <a:solidFill>
                        <a:srgbClr val="FFFFFF"/>
                      </a:solidFill>
                      <a:latin typeface="Arial"/>
                    </a:defRPr>
                  </a:pPr>
                </a:p>
              </c:txPr>
              <c:showLegendKey val="0"/>
              <c:showVal val="1"/>
              <c:showCatName val="0"/>
              <c:showSerName val="0"/>
              <c:showPercent val="0"/>
              <c:showBubbleSize val="0"/>
            </c:dLbl>
            <c:dLbl>
              <c:idx val="4"/>
              <c:numFmt formatCode="General" sourceLinked="0"/>
              <c:spPr/>
              <c:txPr>
                <a:bodyPr/>
                <a:lstStyle/>
                <a:p>
                  <a:pPr>
                    <a:defRPr sz="1100" b="0" i="0" u="none" strike="noStrike">
                      <a:solidFill>
                        <a:srgbClr val="FFFFFF"/>
                      </a:solidFill>
                      <a:latin typeface="Arial"/>
                    </a:defRPr>
                  </a:pPr>
                </a:p>
              </c:txPr>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GET</c:v>
                </c:pt>
                <c:pt idx="1">
                  <c:v>POST</c:v>
                </c:pt>
                <c:pt idx="2">
                  <c:v>PUT</c:v>
                </c:pt>
                <c:pt idx="3">
                  <c:v>PATCH</c:v>
                </c:pt>
                <c:pt idx="4">
                  <c:v>DELETE</c:v>
                </c:pt>
              </c:strCache>
            </c:strRef>
          </c:cat>
          <c:val>
            <c:numRef>
              <c:f>Sheet1!$B$2:$B$6</c:f>
              <c:numCache>
                <c:ptCount val="5"/>
                <c:pt idx="0">
                  <c:v>30</c:v>
                </c:pt>
                <c:pt idx="1">
                  <c:v>10</c:v>
                </c:pt>
                <c:pt idx="2">
                  <c:v>4</c:v>
                </c:pt>
                <c:pt idx="3">
                  <c:v>3</c:v>
                </c:pt>
                <c:pt idx="4">
                  <c:v>2</c:v>
                </c:pt>
              </c:numCache>
            </c:numRef>
          </c:val>
        </c:ser>
        <c:firstSliceAng val="0"/>
        <c:holeSize val="55"/>
      </c:doughnutChart>
      <c:spPr>
        <a:noFill/>
        <a:ln>
          <a:noFill/>
        </a:ln>
        <a:effectLst/>
      </c:spPr>
    </c:plotArea>
    <c:legend>
      <c:legendPos val="b"/>
      <c:overlay val="0"/>
      <c:txPr>
        <a:bodyPr/>
        <a:lstStyle/>
        <a:p>
          <a:pPr>
            <a:defRPr sz="1100">
              <a:solidFill>
                <a:srgbClr val="CADCFC"/>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We're the PMIS intern team from Infosys Bhubaneswar, Labs 4 and 5. Over sixty days and five sprints we built NeoBank 360 — a unified digital banking platform. At a glance: eight modules, eleven tables, forty-nine endpoints, twenty-three passing tests. We'll move from the problem, through architecture and modules, into the deeper technical design, and finish with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Banking today is fragmented. Balances sit in one app, budgeting happens in a spreadsheet, bills somewhere else, and lending is opaque. The net result is that no one has a single real-time view of their financial health. These four pain points each map directly to a module we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NeoBank 360 is our answer: one platform for every financial need. Because everything sits on one normalised schema, a transaction recorded once instantly powers budgets, insights and dashboards — no syncing, no duplication. Security and performance underpin all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stack was chosen deliberately. Angular for its built-in routing and interceptors; Spring Boot on Java 21 for a mature, secure ecosystem; MySQL because a ledger demands ACID and exact decimals; JWT for stateless scaling; Chart.js for analytics; Docker for reproducibility. Every choice has a why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architecture in one picture — a layered N-Tier design. A user action passes through an RxJS service, the JWT interceptor attaches the token, the API authenticates and authorises, a service runs the logic in a transaction, JPA reaches MySQL, and a JSON DTO flows back. Five clean tiers, each independently testable, without the operational cost of microservices.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feature area: core banking. Onboarding captures KYC and hashes passwords with BCrypt. Accounts follow an approval lifecycle. Transfers are atomic — both legs commit or neither does. And every value uses an exact decimal type, so there's no floating-point error in any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feature area: budgeting and bills, brought inside the bank. Budgets are per category per month, with a uniqueness constraint. Adherence is computed live against categorised spend — the doughnut is exactly that view. Bills transition through pending, paid and overdue automatically, and rewards accrue on activity. Because it's wired to live transactions, nothing is stale.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logic-rich module: lending. The workflow runs apply, review, approve, disburse, schedule. The EMI uses the standard reducing-balance formula, but the detail that matters is rounding — interest is computed on the live balance, so early payments are interest-heavy and later ones principal-heavy, as the chart shows. The final instalment absorbs the rounding residual, so the loan amortises to exactly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a foundational pillar. The diagram shows our JWT flow: on login we verify the BCrypt hash and issue an HS256-signed token; every later request is validated by a custom filter that sets the security context. On the right are the controls — strength-12 BCrypt, role-based access with ADMIN-only admin routes plus ownership checks returning 403, and a fully stateless design which is why CSRF is safely disabled. For production we'd externalise the secret and add refresh-token rotation.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data model is eleven normalised tables. Users is the identity anchor; accounts and transactions form the core banking chain; budgets, bills and rewards hang off users. The loan domain is a four-table chain from products to applications to accounts to the repayment schedule. And the system audit log records every call independently. Foreign keys enforce integrity with deliberate cascade-versus-restrict choices, and all money uses exact decimals.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Sprint 5 added advanced analytics, first for administrators. Live KPIs across the top, loan status in the bar chart. The highlight is the audit log on the right — one AOP interceptor logs every endpoint with status, latency and acting user, without blocking the response and without touching any controller. Seed the demo DB heavily so these look enterprise-ready.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engine serves customers their own wealth view — net-worth area chart, income versus expense, a spending doughnut, budget adherence and reward insights. Crucially, none of this needed a separate warehouse: every visual derives from the existing schema, so what the customer sees is always consistent with their real transactions.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Performance was engineered, not hoped for. We eliminated N+1 queries by pushing aggregation into single JPQL queries; added a composite index on account-and-date for history and analytics; cached the read-heavy, write-rare loan catalogue with cache eviction on writes; and kept the audit log non-blocking via AOP. The chart illustrates the kind of dashboard latency improvement these produced. Exact figures depend on hardware and dataset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across every layer. The automated suite runs with the Maven build — twenty-three tests, zero failures, zero errors — covering auth and RBAC, admin aggregations, insights logic, and context bootstrap. Beyond that, Postman collections for the API, manual end-to-end walkthroughs of the critical journeys, and load testing on the heaviest dashboard queries. We specifically verify a customer token is rejected from admin endpoints with a 403.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Deployment is containerised with a multi-stage Docker build — compile with the full JDK, then ship only the JAR in a slim runtime image. All configuration comes from environment variables, so the same image runs unchanged across environments and secrets are never committed. Rollback is deterministic via versioned image tags, and additive migrations keep database recovery predictable.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API is forty-nine RESTful endpoints across fourteen controllers, the majority reads as you'd expect. They group cleanly by resource — auth, accounts and transactions, budgets and bills, the loan chain, and analytics. Everything is documented and explorable through Swagger UI generated by springdoc, so reviewers can try the live contract rather than read a static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sixty-day lifecycle across five sprints: foundation, then budgets and bills, then the loan engine, then insights and admin controls, and finally analytics, deployment and handover. Integration was continuous — we wired each feature end-to-end within its sprint rather than leaving a painful integration phase to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matrix records who owned what — authentication and accounts, transactions, budgets and bills, the loan engine, and the analytics layer. Ownership reflects primary accountability, but every module was peer-reviewed and integrated collaboratively. If a question goes deep into a module that isn't mine, I'll hand it to the person who built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hurdles stand out. EMI decimal drift — solved by computing interest on the live balance and absorbing the residual in the final instalment. N+1 queries — solved by pushing aggregation into the database with composite indexes. Audit clutter — solved with one AOP aspect. And stateless multi-tenant auth — solved with self-contained tokens plus ownership checks. The meta-lesson: cross-cutting concerns belong in declarative infrastructure, and financial correctness is as much about rounding as formula.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brings us to the live demo. We'll walk the full journey end to end: register and log in, approve the account as admin, make a transfer, apply for a loan, approve it and watch the EMI schedule generate, then open the analytics dashboards. The database is seeded heavily so the charts look enterprise-ready, and we have fallback screenshots for every step. Let's switch to the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Relationships xmlns="http://schemas.openxmlformats.org/package/2006/relationships"><Relationship Id="rId6" Type="http://schemas.openxmlformats.org/officeDocument/2006/relationships/chart" Target="/ppt/charts/chart2.xml"/><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Relationships xmlns="http://schemas.openxmlformats.org/package/2006/relationships"><Relationship Id="rId5" Type="http://schemas.openxmlformats.org/officeDocument/2006/relationships/chart" Target="/ppt/charts/chart3.xml"/><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image" Target="../media/image-12-1.png"/><Relationship Id="rId4" Type="http://schemas.openxmlformats.org/officeDocument/2006/relationships/image" Target="../media/image-12-2.png"/><Relationship Id="rId5" Type="http://schemas.openxmlformats.org/officeDocument/2006/relationships/image" Target="../media/image-12-3.png"/><Relationship Id="rId6" Type="http://schemas.openxmlformats.org/officeDocument/2006/relationships/image" Target="../media/image-12-4.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chart" Target="/ppt/charts/chart6.xml"/><Relationship Id="rId2" Type="http://schemas.openxmlformats.org/officeDocument/2006/relationships/image" Target="../media/image-13-1.png"/><Relationship Id="rId3" Type="http://schemas.openxmlformats.org/officeDocument/2006/relationships/image" Target="../media/image-13-2.png"/><Relationship Id="rId4" Type="http://schemas.openxmlformats.org/officeDocument/2006/relationships/image" Target="../media/image-13-3.png"/><Relationship Id="rId5" Type="http://schemas.openxmlformats.org/officeDocument/2006/relationships/image" Target="../media/image-13-4.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1.png"/><Relationship Id="rId3" Type="http://schemas.openxmlformats.org/officeDocument/2006/relationships/image" Target="../media/image-14-1.png"/><Relationship Id="rId4" Type="http://schemas.openxmlformats.org/officeDocument/2006/relationships/image" Target="../media/image-14-1.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chart" Target="/ppt/charts/chart7.xml"/><Relationship Id="rId2" Type="http://schemas.openxmlformats.org/officeDocument/2006/relationships/image" Target="../media/image-16-1.png"/><Relationship Id="rId3" Type="http://schemas.openxmlformats.org/officeDocument/2006/relationships/image" Target="../media/image-16-2.png"/><Relationship Id="rId4" Type="http://schemas.openxmlformats.org/officeDocument/2006/relationships/image" Target="../media/image-16-3.png"/><Relationship Id="rId5" Type="http://schemas.openxmlformats.org/officeDocument/2006/relationships/image" Target="../media/image-16-4.png"/><Relationship Id="rId6" Type="http://schemas.openxmlformats.org/officeDocument/2006/relationships/image" Target="../media/image-16-5.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778240" y="-2194560"/>
            <a:ext cx="5852160" cy="5852160"/>
          </a:xfrm>
          <a:prstGeom prst="ellipse">
            <a:avLst/>
          </a:prstGeom>
          <a:solidFill>
            <a:srgbClr val="16203F"/>
          </a:solidFill>
          <a:ln/>
        </p:spPr>
      </p:sp>
      <p:sp>
        <p:nvSpPr>
          <p:cNvPr id="3" name="Shape 1"/>
          <p:cNvSpPr/>
          <p:nvPr/>
        </p:nvSpPr>
        <p:spPr>
          <a:xfrm>
            <a:off x="10058400" y="-1097280"/>
            <a:ext cx="3108960" cy="3108960"/>
          </a:xfrm>
          <a:prstGeom prst="ellipse">
            <a:avLst/>
          </a:prstGeom>
          <a:solidFill>
            <a:srgbClr val="1F2E55"/>
          </a:solidFill>
          <a:ln/>
        </p:spPr>
      </p:sp>
      <p:sp>
        <p:nvSpPr>
          <p:cNvPr id="4" name="Shape 2"/>
          <p:cNvSpPr/>
          <p:nvPr/>
        </p:nvSpPr>
        <p:spPr>
          <a:xfrm>
            <a:off x="822960" y="777240"/>
            <a:ext cx="1051560" cy="1051560"/>
          </a:xfrm>
          <a:prstGeom prst="ellipse">
            <a:avLst/>
          </a:prstGeom>
          <a:solidFill>
            <a:srgbClr val="F2B441"/>
          </a:solidFill>
          <a:ln/>
          <a:effectLst>
            <a:outerShdw sx="100000" sy="100000" kx="0" ky="0" algn="bl" rotWithShape="0" blurRad="114300" dist="38100" dir="5400000">
              <a:srgbClr val="1A2440">
                <a:alpha val="16000"/>
              </a:srgbClr>
            </a:outerShdw>
          </a:effectLst>
        </p:spPr>
      </p:sp>
      <p:pic>
        <p:nvPicPr>
          <p:cNvPr id="5" name="Image 0" descr="/home/claude/build/icons/bank_navy.png"/>
          <p:cNvPicPr>
            <a:picLocks noChangeAspect="1"/>
          </p:cNvPicPr>
          <p:nvPr/>
        </p:nvPicPr>
        <p:blipFill>
          <a:blip r:embed="rId1"/>
          <a:stretch>
            <a:fillRect/>
          </a:stretch>
        </p:blipFill>
        <p:spPr>
          <a:xfrm>
            <a:off x="1096366" y="1050646"/>
            <a:ext cx="504749" cy="504749"/>
          </a:xfrm>
          <a:prstGeom prst="rect">
            <a:avLst/>
          </a:prstGeom>
        </p:spPr>
      </p:pic>
      <p:sp>
        <p:nvSpPr>
          <p:cNvPr id="6" name="Text 3"/>
          <p:cNvSpPr/>
          <p:nvPr/>
        </p:nvSpPr>
        <p:spPr>
          <a:xfrm>
            <a:off x="2057400" y="932688"/>
            <a:ext cx="8229600" cy="365760"/>
          </a:xfrm>
          <a:prstGeom prst="rect">
            <a:avLst/>
          </a:prstGeom>
          <a:noFill/>
          <a:ln/>
        </p:spPr>
        <p:txBody>
          <a:bodyPr wrap="square" lIns="0" tIns="0" rIns="0" bIns="0" rtlCol="0" anchor="ctr"/>
          <a:lstStyle/>
          <a:p>
            <a:pPr indent="0" marL="0">
              <a:buNone/>
            </a:pPr>
            <a:r>
              <a:rPr lang="en-US" sz="1300" b="1" spc="300" kern="0" dirty="0">
                <a:solidFill>
                  <a:srgbClr val="CADCFC"/>
                </a:solidFill>
                <a:latin typeface="Arial" pitchFamily="34" charset="0"/>
                <a:ea typeface="Arial" pitchFamily="34" charset="-122"/>
                <a:cs typeface="Arial" pitchFamily="34" charset="-120"/>
              </a:rPr>
              <a:t>INFOSYS LIMITED  ·  PMIS INTERNSHIP</a:t>
            </a:r>
            <a:endParaRPr lang="en-US" sz="1300" dirty="0"/>
          </a:p>
        </p:txBody>
      </p:sp>
      <p:sp>
        <p:nvSpPr>
          <p:cNvPr id="7" name="Text 4"/>
          <p:cNvSpPr/>
          <p:nvPr/>
        </p:nvSpPr>
        <p:spPr>
          <a:xfrm>
            <a:off x="2057400" y="1261872"/>
            <a:ext cx="8229600" cy="365760"/>
          </a:xfrm>
          <a:prstGeom prst="rect">
            <a:avLst/>
          </a:prstGeom>
          <a:noFill/>
          <a:ln/>
        </p:spPr>
        <p:txBody>
          <a:bodyPr wrap="square" lIns="0" tIns="0" rIns="0" bIns="0" rtlCol="0" anchor="ctr"/>
          <a:lstStyle/>
          <a:p>
            <a:pPr indent="0" marL="0">
              <a:buNone/>
            </a:pPr>
            <a:r>
              <a:rPr lang="en-US" sz="1200" dirty="0">
                <a:solidFill>
                  <a:srgbClr val="8A97AD"/>
                </a:solidFill>
                <a:latin typeface="Arial" pitchFamily="34" charset="0"/>
                <a:ea typeface="Arial" pitchFamily="34" charset="-122"/>
                <a:cs typeface="Arial" pitchFamily="34" charset="-120"/>
              </a:rPr>
              <a:t>Bhubaneswar Development Centre  ·  Lab 4 &amp; Lab 5</a:t>
            </a:r>
            <a:endParaRPr lang="en-US" sz="1200" dirty="0"/>
          </a:p>
        </p:txBody>
      </p:sp>
      <p:sp>
        <p:nvSpPr>
          <p:cNvPr id="8" name="Text 5"/>
          <p:cNvSpPr/>
          <p:nvPr/>
        </p:nvSpPr>
        <p:spPr>
          <a:xfrm>
            <a:off x="777240" y="2240280"/>
            <a:ext cx="10607040" cy="1371600"/>
          </a:xfrm>
          <a:prstGeom prst="rect">
            <a:avLst/>
          </a:prstGeom>
          <a:noFill/>
          <a:ln/>
        </p:spPr>
        <p:txBody>
          <a:bodyPr wrap="square" lIns="0" tIns="0" rIns="0" bIns="0" rtlCol="0" anchor="ctr"/>
          <a:lstStyle/>
          <a:p>
            <a:pPr indent="0" marL="0">
              <a:buNone/>
            </a:pPr>
            <a:r>
              <a:rPr lang="en-US" sz="7800" b="1" dirty="0">
                <a:solidFill>
                  <a:srgbClr val="FFFFFF"/>
                </a:solidFill>
                <a:latin typeface="Bookman Old Style" pitchFamily="34" charset="0"/>
                <a:ea typeface="Bookman Old Style" pitchFamily="34" charset="-122"/>
                <a:cs typeface="Bookman Old Style" pitchFamily="34" charset="-120"/>
              </a:rPr>
              <a:t>NeoBank 360</a:t>
            </a:r>
            <a:endParaRPr lang="en-US" sz="7800" dirty="0"/>
          </a:p>
        </p:txBody>
      </p:sp>
      <p:sp>
        <p:nvSpPr>
          <p:cNvPr id="9" name="Text 6"/>
          <p:cNvSpPr/>
          <p:nvPr/>
        </p:nvSpPr>
        <p:spPr>
          <a:xfrm>
            <a:off x="822960" y="3520440"/>
            <a:ext cx="10607040" cy="640080"/>
          </a:xfrm>
          <a:prstGeom prst="rect">
            <a:avLst/>
          </a:prstGeom>
          <a:noFill/>
          <a:ln/>
        </p:spPr>
        <p:txBody>
          <a:bodyPr wrap="square" lIns="0" tIns="0" rIns="0" bIns="0" rtlCol="0" anchor="ctr"/>
          <a:lstStyle/>
          <a:p>
            <a:pPr indent="0" marL="0">
              <a:buNone/>
            </a:pPr>
            <a:r>
              <a:rPr lang="en-US" sz="2700" dirty="0">
                <a:solidFill>
                  <a:srgbClr val="CADCFC"/>
                </a:solidFill>
                <a:latin typeface="Arial" pitchFamily="34" charset="0"/>
                <a:ea typeface="Arial" pitchFamily="34" charset="-122"/>
                <a:cs typeface="Arial" pitchFamily="34" charset="-120"/>
              </a:rPr>
              <a:t>Unified Digital Banking Platform</a:t>
            </a:r>
            <a:endParaRPr lang="en-US" sz="2700" dirty="0"/>
          </a:p>
          <a:p>
            <a:pPr indent="0" marL="0">
              <a:buNone/>
            </a:pPr>
            <a:r>
              <a:rPr lang="en-US" sz="1600" dirty="0">
                <a:solidFill>
                  <a:srgbClr val="CADCFC"/>
                </a:solidFill>
                <a:latin typeface="Arial" pitchFamily="34" charset="0"/>
                <a:ea typeface="Arial" pitchFamily="34" charset="-122"/>
                <a:cs typeface="Arial" pitchFamily="34" charset="-120"/>
              </a:rPr>
              <a:t>By Ritik Shekhar Parida • Intern ID: 584355</a:t>
            </a:r>
            <a:endParaRPr lang="en-US" sz="1600" dirty="0"/>
          </a:p>
        </p:txBody>
      </p:sp>
      <p:sp>
        <p:nvSpPr>
          <p:cNvPr id="10" name="Shape 7"/>
          <p:cNvSpPr/>
          <p:nvPr/>
        </p:nvSpPr>
        <p:spPr>
          <a:xfrm>
            <a:off x="868680" y="4224528"/>
            <a:ext cx="1371600" cy="45720"/>
          </a:xfrm>
          <a:prstGeom prst="rect">
            <a:avLst/>
          </a:prstGeom>
          <a:solidFill>
            <a:srgbClr val="F2B441"/>
          </a:solidFill>
          <a:ln/>
        </p:spPr>
      </p:sp>
      <p:sp>
        <p:nvSpPr>
          <p:cNvPr id="11" name="Text 8"/>
          <p:cNvSpPr/>
          <p:nvPr/>
        </p:nvSpPr>
        <p:spPr>
          <a:xfrm>
            <a:off x="822960" y="4617720"/>
            <a:ext cx="2103120" cy="566928"/>
          </a:xfrm>
          <a:prstGeom prst="rect">
            <a:avLst/>
          </a:prstGeom>
          <a:noFill/>
          <a:ln/>
        </p:spPr>
        <p:txBody>
          <a:bodyPr wrap="square" lIns="0" tIns="0" rIns="0" bIns="0" rtlCol="0" anchor="ctr"/>
          <a:lstStyle/>
          <a:p>
            <a:pPr indent="0" marL="0">
              <a:buNone/>
            </a:pPr>
            <a:r>
              <a:rPr lang="en-US" sz="3200" b="1" dirty="0">
                <a:solidFill>
                  <a:srgbClr val="F2B441"/>
                </a:solidFill>
                <a:latin typeface="Bookman Old Style" pitchFamily="34" charset="0"/>
                <a:ea typeface="Bookman Old Style" pitchFamily="34" charset="-122"/>
                <a:cs typeface="Bookman Old Style" pitchFamily="34" charset="-120"/>
              </a:rPr>
              <a:t>8</a:t>
            </a:r>
            <a:endParaRPr lang="en-US" sz="3200" dirty="0"/>
          </a:p>
        </p:txBody>
      </p:sp>
      <p:sp>
        <p:nvSpPr>
          <p:cNvPr id="12" name="Text 9"/>
          <p:cNvSpPr/>
          <p:nvPr/>
        </p:nvSpPr>
        <p:spPr>
          <a:xfrm>
            <a:off x="822960" y="5193792"/>
            <a:ext cx="2240280" cy="365760"/>
          </a:xfrm>
          <a:prstGeom prst="rect">
            <a:avLst/>
          </a:prstGeom>
          <a:noFill/>
          <a:ln/>
        </p:spPr>
        <p:txBody>
          <a:bodyPr wrap="square" lIns="0" tIns="0" rIns="0" bIns="0" rtlCol="0" anchor="ctr"/>
          <a:lstStyle/>
          <a:p>
            <a:pPr indent="0" marL="0">
              <a:buNone/>
            </a:pPr>
            <a:r>
              <a:rPr lang="en-US" sz="1200" dirty="0">
                <a:solidFill>
                  <a:srgbClr val="CADCFC"/>
                </a:solidFill>
                <a:latin typeface="Arial" pitchFamily="34" charset="0"/>
                <a:ea typeface="Arial" pitchFamily="34" charset="-122"/>
                <a:cs typeface="Arial" pitchFamily="34" charset="-120"/>
              </a:rPr>
              <a:t>Core Modules</a:t>
            </a:r>
            <a:endParaRPr lang="en-US" sz="1200" dirty="0"/>
          </a:p>
        </p:txBody>
      </p:sp>
      <p:sp>
        <p:nvSpPr>
          <p:cNvPr id="13" name="Text 10"/>
          <p:cNvSpPr/>
          <p:nvPr/>
        </p:nvSpPr>
        <p:spPr>
          <a:xfrm>
            <a:off x="3035808" y="4617720"/>
            <a:ext cx="2103120" cy="566928"/>
          </a:xfrm>
          <a:prstGeom prst="rect">
            <a:avLst/>
          </a:prstGeom>
          <a:noFill/>
          <a:ln/>
        </p:spPr>
        <p:txBody>
          <a:bodyPr wrap="square" lIns="0" tIns="0" rIns="0" bIns="0" rtlCol="0" anchor="ctr"/>
          <a:lstStyle/>
          <a:p>
            <a:pPr indent="0" marL="0">
              <a:buNone/>
            </a:pPr>
            <a:r>
              <a:rPr lang="en-US" sz="3200" b="1" dirty="0">
                <a:solidFill>
                  <a:srgbClr val="F2B441"/>
                </a:solidFill>
                <a:latin typeface="Bookman Old Style" pitchFamily="34" charset="0"/>
                <a:ea typeface="Bookman Old Style" pitchFamily="34" charset="-122"/>
                <a:cs typeface="Bookman Old Style" pitchFamily="34" charset="-120"/>
              </a:rPr>
              <a:t>11</a:t>
            </a:r>
            <a:endParaRPr lang="en-US" sz="3200" dirty="0"/>
          </a:p>
        </p:txBody>
      </p:sp>
      <p:sp>
        <p:nvSpPr>
          <p:cNvPr id="14" name="Text 11"/>
          <p:cNvSpPr/>
          <p:nvPr/>
        </p:nvSpPr>
        <p:spPr>
          <a:xfrm>
            <a:off x="3035808" y="5193792"/>
            <a:ext cx="2240280" cy="365760"/>
          </a:xfrm>
          <a:prstGeom prst="rect">
            <a:avLst/>
          </a:prstGeom>
          <a:noFill/>
          <a:ln/>
        </p:spPr>
        <p:txBody>
          <a:bodyPr wrap="square" lIns="0" tIns="0" rIns="0" bIns="0" rtlCol="0" anchor="ctr"/>
          <a:lstStyle/>
          <a:p>
            <a:pPr indent="0" marL="0">
              <a:buNone/>
            </a:pPr>
            <a:r>
              <a:rPr lang="en-US" sz="1200" dirty="0">
                <a:solidFill>
                  <a:srgbClr val="CADCFC"/>
                </a:solidFill>
                <a:latin typeface="Arial" pitchFamily="34" charset="0"/>
                <a:ea typeface="Arial" pitchFamily="34" charset="-122"/>
                <a:cs typeface="Arial" pitchFamily="34" charset="-120"/>
              </a:rPr>
              <a:t>DB Tables</a:t>
            </a:r>
            <a:endParaRPr lang="en-US" sz="1200" dirty="0"/>
          </a:p>
        </p:txBody>
      </p:sp>
      <p:sp>
        <p:nvSpPr>
          <p:cNvPr id="15" name="Text 12"/>
          <p:cNvSpPr/>
          <p:nvPr/>
        </p:nvSpPr>
        <p:spPr>
          <a:xfrm>
            <a:off x="5248656" y="4617720"/>
            <a:ext cx="2103120" cy="566928"/>
          </a:xfrm>
          <a:prstGeom prst="rect">
            <a:avLst/>
          </a:prstGeom>
          <a:noFill/>
          <a:ln/>
        </p:spPr>
        <p:txBody>
          <a:bodyPr wrap="square" lIns="0" tIns="0" rIns="0" bIns="0" rtlCol="0" anchor="ctr"/>
          <a:lstStyle/>
          <a:p>
            <a:pPr indent="0" marL="0">
              <a:buNone/>
            </a:pPr>
            <a:r>
              <a:rPr lang="en-US" sz="3200" b="1" dirty="0">
                <a:solidFill>
                  <a:srgbClr val="F2B441"/>
                </a:solidFill>
                <a:latin typeface="Bookman Old Style" pitchFamily="34" charset="0"/>
                <a:ea typeface="Bookman Old Style" pitchFamily="34" charset="-122"/>
                <a:cs typeface="Bookman Old Style" pitchFamily="34" charset="-120"/>
              </a:rPr>
              <a:t>49</a:t>
            </a:r>
            <a:endParaRPr lang="en-US" sz="3200" dirty="0"/>
          </a:p>
        </p:txBody>
      </p:sp>
      <p:sp>
        <p:nvSpPr>
          <p:cNvPr id="16" name="Text 13"/>
          <p:cNvSpPr/>
          <p:nvPr/>
        </p:nvSpPr>
        <p:spPr>
          <a:xfrm>
            <a:off x="5248656" y="5193792"/>
            <a:ext cx="2240280" cy="365760"/>
          </a:xfrm>
          <a:prstGeom prst="rect">
            <a:avLst/>
          </a:prstGeom>
          <a:noFill/>
          <a:ln/>
        </p:spPr>
        <p:txBody>
          <a:bodyPr wrap="square" lIns="0" tIns="0" rIns="0" bIns="0" rtlCol="0" anchor="ctr"/>
          <a:lstStyle/>
          <a:p>
            <a:pPr indent="0" marL="0">
              <a:buNone/>
            </a:pPr>
            <a:r>
              <a:rPr lang="en-US" sz="1200" dirty="0">
                <a:solidFill>
                  <a:srgbClr val="CADCFC"/>
                </a:solidFill>
                <a:latin typeface="Arial" pitchFamily="34" charset="0"/>
                <a:ea typeface="Arial" pitchFamily="34" charset="-122"/>
                <a:cs typeface="Arial" pitchFamily="34" charset="-120"/>
              </a:rPr>
              <a:t>REST APIs</a:t>
            </a:r>
            <a:endParaRPr lang="en-US" sz="1200" dirty="0"/>
          </a:p>
        </p:txBody>
      </p:sp>
      <p:sp>
        <p:nvSpPr>
          <p:cNvPr id="17" name="Text 14"/>
          <p:cNvSpPr/>
          <p:nvPr/>
        </p:nvSpPr>
        <p:spPr>
          <a:xfrm>
            <a:off x="7461504" y="4617720"/>
            <a:ext cx="2103120" cy="566928"/>
          </a:xfrm>
          <a:prstGeom prst="rect">
            <a:avLst/>
          </a:prstGeom>
          <a:noFill/>
          <a:ln/>
        </p:spPr>
        <p:txBody>
          <a:bodyPr wrap="square" lIns="0" tIns="0" rIns="0" bIns="0" rtlCol="0" anchor="ctr"/>
          <a:lstStyle/>
          <a:p>
            <a:pPr indent="0" marL="0">
              <a:buNone/>
            </a:pPr>
            <a:r>
              <a:rPr lang="en-US" sz="3200" b="1" dirty="0">
                <a:solidFill>
                  <a:srgbClr val="F2B441"/>
                </a:solidFill>
                <a:latin typeface="Bookman Old Style" pitchFamily="34" charset="0"/>
                <a:ea typeface="Bookman Old Style" pitchFamily="34" charset="-122"/>
                <a:cs typeface="Bookman Old Style" pitchFamily="34" charset="-120"/>
              </a:rPr>
              <a:t>23</a:t>
            </a:r>
            <a:endParaRPr lang="en-US" sz="3200" dirty="0"/>
          </a:p>
        </p:txBody>
      </p:sp>
      <p:sp>
        <p:nvSpPr>
          <p:cNvPr id="18" name="Text 15"/>
          <p:cNvSpPr/>
          <p:nvPr/>
        </p:nvSpPr>
        <p:spPr>
          <a:xfrm>
            <a:off x="7461504" y="5193792"/>
            <a:ext cx="2240280" cy="365760"/>
          </a:xfrm>
          <a:prstGeom prst="rect">
            <a:avLst/>
          </a:prstGeom>
          <a:noFill/>
          <a:ln/>
        </p:spPr>
        <p:txBody>
          <a:bodyPr wrap="square" lIns="0" tIns="0" rIns="0" bIns="0" rtlCol="0" anchor="ctr"/>
          <a:lstStyle/>
          <a:p>
            <a:pPr indent="0" marL="0">
              <a:buNone/>
            </a:pPr>
            <a:r>
              <a:rPr lang="en-US" sz="1200" dirty="0">
                <a:solidFill>
                  <a:srgbClr val="CADCFC"/>
                </a:solidFill>
                <a:latin typeface="Arial" pitchFamily="34" charset="0"/>
                <a:ea typeface="Arial" pitchFamily="34" charset="-122"/>
                <a:cs typeface="Arial" pitchFamily="34" charset="-120"/>
              </a:rPr>
              <a:t>Tests Passing</a:t>
            </a:r>
            <a:endParaRPr lang="en-US" sz="1200" dirty="0"/>
          </a:p>
        </p:txBody>
      </p:sp>
      <p:sp>
        <p:nvSpPr>
          <p:cNvPr id="19" name="Text 16"/>
          <p:cNvSpPr/>
          <p:nvPr/>
        </p:nvSpPr>
        <p:spPr>
          <a:xfrm>
            <a:off x="9674352" y="4617720"/>
            <a:ext cx="2103120" cy="566928"/>
          </a:xfrm>
          <a:prstGeom prst="rect">
            <a:avLst/>
          </a:prstGeom>
          <a:noFill/>
          <a:ln/>
        </p:spPr>
        <p:txBody>
          <a:bodyPr wrap="square" lIns="0" tIns="0" rIns="0" bIns="0" rtlCol="0" anchor="ctr"/>
          <a:lstStyle/>
          <a:p>
            <a:pPr indent="0" marL="0">
              <a:buNone/>
            </a:pPr>
            <a:r>
              <a:rPr lang="en-US" sz="3200" b="1" dirty="0">
                <a:solidFill>
                  <a:srgbClr val="F2B441"/>
                </a:solidFill>
                <a:latin typeface="Bookman Old Style" pitchFamily="34" charset="0"/>
                <a:ea typeface="Bookman Old Style" pitchFamily="34" charset="-122"/>
                <a:cs typeface="Bookman Old Style" pitchFamily="34" charset="-120"/>
              </a:rPr>
              <a:t>5</a:t>
            </a:r>
            <a:endParaRPr lang="en-US" sz="3200" dirty="0"/>
          </a:p>
        </p:txBody>
      </p:sp>
      <p:sp>
        <p:nvSpPr>
          <p:cNvPr id="20" name="Text 17"/>
          <p:cNvSpPr/>
          <p:nvPr/>
        </p:nvSpPr>
        <p:spPr>
          <a:xfrm>
            <a:off x="9674352" y="5193792"/>
            <a:ext cx="2240280" cy="365760"/>
          </a:xfrm>
          <a:prstGeom prst="rect">
            <a:avLst/>
          </a:prstGeom>
          <a:noFill/>
          <a:ln/>
        </p:spPr>
        <p:txBody>
          <a:bodyPr wrap="square" lIns="0" tIns="0" rIns="0" bIns="0" rtlCol="0" anchor="ctr"/>
          <a:lstStyle/>
          <a:p>
            <a:pPr indent="0" marL="0">
              <a:buNone/>
            </a:pPr>
            <a:r>
              <a:rPr lang="en-US" sz="1200" dirty="0">
                <a:solidFill>
                  <a:srgbClr val="CADCFC"/>
                </a:solidFill>
                <a:latin typeface="Arial" pitchFamily="34" charset="0"/>
                <a:ea typeface="Arial" pitchFamily="34" charset="-122"/>
                <a:cs typeface="Arial" pitchFamily="34" charset="-120"/>
              </a:rPr>
              <a:t>Sprints · 60 Days</a:t>
            </a:r>
            <a:endParaRPr lang="en-US" sz="1200" dirty="0"/>
          </a:p>
        </p:txBody>
      </p:sp>
      <p:sp>
        <p:nvSpPr>
          <p:cNvPr id="21" name="Text 18"/>
          <p:cNvSpPr/>
          <p:nvPr/>
        </p:nvSpPr>
        <p:spPr>
          <a:xfrm>
            <a:off x="822960" y="6144768"/>
            <a:ext cx="10515600" cy="365760"/>
          </a:xfrm>
          <a:prstGeom prst="rect">
            <a:avLst/>
          </a:prstGeom>
          <a:noFill/>
          <a:ln/>
        </p:spPr>
        <p:txBody>
          <a:bodyPr wrap="square" lIns="0" tIns="0" rIns="0" bIns="0" rtlCol="0" anchor="ctr"/>
          <a:lstStyle/>
          <a:p>
            <a:pPr indent="0" marL="0">
              <a:buNone/>
            </a:pPr>
            <a:r>
              <a:rPr lang="en-US" sz="1250" dirty="0">
                <a:solidFill>
                  <a:srgbClr val="8A97AD"/>
                </a:solidFill>
                <a:latin typeface="Arial" pitchFamily="34" charset="0"/>
                <a:ea typeface="Arial" pitchFamily="34" charset="-122"/>
                <a:cs typeface="Arial" pitchFamily="34" charset="-120"/>
              </a:rPr>
              <a:t xml:space="preserve">Software Architecture &amp; Demo  ·  </a:t>
            </a:r>
            <a:pPr indent="0" marL="0">
              <a:buNone/>
            </a:pPr>
            <a:r>
              <a:rPr lang="en-US" sz="1250" b="1" dirty="0">
                <a:solidFill>
                  <a:srgbClr val="F2B441"/>
                </a:solidFill>
                <a:latin typeface="Arial" pitchFamily="34" charset="0"/>
                <a:ea typeface="Arial" pitchFamily="34" charset="-122"/>
                <a:cs typeface="Arial" pitchFamily="34" charset="-120"/>
              </a:rPr>
              <a:t>Confidential — Internal Use Only</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822960" cy="502920"/>
          </a:xfrm>
          <a:prstGeom prst="rect">
            <a:avLst/>
          </a:prstGeom>
          <a:noFill/>
          <a:ln/>
        </p:spPr>
        <p:txBody>
          <a:bodyPr wrap="square" lIns="0" tIns="0" rIns="0" bIns="0" rtlCol="0" anchor="ctr"/>
          <a:lstStyle/>
          <a:p>
            <a:pPr indent="0" marL="0">
              <a:buNone/>
            </a:pPr>
            <a:r>
              <a:rPr lang="en-US" sz="2600" b="1" dirty="0">
                <a:solidFill>
                  <a:srgbClr val="CADCFC"/>
                </a:solidFill>
                <a:latin typeface="Bookman Old Style" pitchFamily="34" charset="0"/>
                <a:ea typeface="Bookman Old Style" pitchFamily="34" charset="-122"/>
                <a:cs typeface="Bookman Old Style" pitchFamily="34" charset="-120"/>
              </a:rPr>
              <a:t>02</a:t>
            </a:r>
            <a:endParaRPr lang="en-US" sz="2600" dirty="0"/>
          </a:p>
        </p:txBody>
      </p:sp>
      <p:sp>
        <p:nvSpPr>
          <p:cNvPr id="3" name="Shape 1"/>
          <p:cNvSpPr/>
          <p:nvPr/>
        </p:nvSpPr>
        <p:spPr>
          <a:xfrm>
            <a:off x="1078992" y="457200"/>
            <a:ext cx="25603" cy="384048"/>
          </a:xfrm>
          <a:prstGeom prst="rect">
            <a:avLst/>
          </a:prstGeom>
          <a:solidFill>
            <a:srgbClr val="E8654F"/>
          </a:solidFill>
          <a:ln/>
        </p:spPr>
      </p:sp>
      <p:sp>
        <p:nvSpPr>
          <p:cNvPr id="4" name="Text 2"/>
          <p:cNvSpPr/>
          <p:nvPr/>
        </p:nvSpPr>
        <p:spPr>
          <a:xfrm>
            <a:off x="1225296" y="365760"/>
            <a:ext cx="9601200" cy="274320"/>
          </a:xfrm>
          <a:prstGeom prst="rect">
            <a:avLst/>
          </a:prstGeom>
          <a:noFill/>
          <a:ln/>
        </p:spPr>
        <p:txBody>
          <a:bodyPr wrap="square" lIns="0" tIns="0" rIns="0" bIns="0" rtlCol="0" anchor="ctr"/>
          <a:lstStyle/>
          <a:p>
            <a:pPr indent="0" marL="0">
              <a:buNone/>
            </a:pPr>
            <a:r>
              <a:rPr lang="en-US" sz="1150" b="1" spc="300" kern="0" dirty="0">
                <a:solidFill>
                  <a:srgbClr val="E8654F"/>
                </a:solidFill>
                <a:latin typeface="Arial" pitchFamily="34" charset="0"/>
                <a:ea typeface="Arial" pitchFamily="34" charset="-122"/>
                <a:cs typeface="Arial" pitchFamily="34" charset="-120"/>
              </a:rPr>
              <a:t>THE PROBLEM</a:t>
            </a:r>
            <a:endParaRPr lang="en-US" sz="1150" dirty="0"/>
          </a:p>
        </p:txBody>
      </p:sp>
      <p:sp>
        <p:nvSpPr>
          <p:cNvPr id="5" name="Text 3"/>
          <p:cNvSpPr/>
          <p:nvPr/>
        </p:nvSpPr>
        <p:spPr>
          <a:xfrm>
            <a:off x="1207008" y="603504"/>
            <a:ext cx="10424160" cy="566928"/>
          </a:xfrm>
          <a:prstGeom prst="rect">
            <a:avLst/>
          </a:prstGeom>
          <a:noFill/>
          <a:ln/>
        </p:spPr>
        <p:txBody>
          <a:bodyPr wrap="square" lIns="0" tIns="0" rIns="0" bIns="0" rtlCol="0" anchor="ctr"/>
          <a:lstStyle/>
          <a:p>
            <a:pPr indent="0" marL="0">
              <a:buNone/>
            </a:pPr>
            <a:r>
              <a:rPr lang="en-US" sz="2700" b="1" dirty="0">
                <a:solidFill>
                  <a:srgbClr val="1B2335"/>
                </a:solidFill>
                <a:latin typeface="Bookman Old Style" pitchFamily="34" charset="0"/>
                <a:ea typeface="Bookman Old Style" pitchFamily="34" charset="-122"/>
                <a:cs typeface="Bookman Old Style" pitchFamily="34" charset="-120"/>
              </a:rPr>
              <a:t>Banking Today Is Fragmented</a:t>
            </a:r>
            <a:endParaRPr lang="en-US" sz="2700" dirty="0"/>
          </a:p>
        </p:txBody>
      </p:sp>
      <p:sp>
        <p:nvSpPr>
          <p:cNvPr id="6" name="Shape 4"/>
          <p:cNvSpPr/>
          <p:nvPr/>
        </p:nvSpPr>
        <p:spPr>
          <a:xfrm>
            <a:off x="548640" y="1554480"/>
            <a:ext cx="11064240" cy="1078992"/>
          </a:xfrm>
          <a:prstGeom prst="roundRect">
            <a:avLst>
              <a:gd name="adj" fmla="val 6780"/>
            </a:avLst>
          </a:prstGeom>
          <a:solidFill>
            <a:srgbClr val="F4F7FC"/>
          </a:solidFill>
          <a:ln/>
          <a:effectLst>
            <a:outerShdw sx="100000" sy="100000" kx="0" ky="0" algn="bl" rotWithShape="0" blurRad="114300" dist="38100" dir="5400000">
              <a:srgbClr val="1A2440">
                <a:alpha val="16000"/>
              </a:srgbClr>
            </a:outerShdw>
          </a:effectLst>
        </p:spPr>
      </p:sp>
      <p:sp>
        <p:nvSpPr>
          <p:cNvPr id="7" name="Shape 5"/>
          <p:cNvSpPr/>
          <p:nvPr/>
        </p:nvSpPr>
        <p:spPr>
          <a:xfrm>
            <a:off x="777240" y="1773936"/>
            <a:ext cx="640080" cy="640080"/>
          </a:xfrm>
          <a:prstGeom prst="ellipse">
            <a:avLst/>
          </a:prstGeom>
          <a:solidFill>
            <a:srgbClr val="E8654F"/>
          </a:solidFill>
          <a:ln/>
          <a:effectLst>
            <a:outerShdw sx="100000" sy="100000" kx="0" ky="0" algn="bl" rotWithShape="0" blurRad="114300" dist="38100" dir="5400000">
              <a:srgbClr val="1A2440">
                <a:alpha val="16000"/>
              </a:srgbClr>
            </a:outerShdw>
          </a:effectLst>
        </p:spPr>
      </p:sp>
      <p:pic>
        <p:nvPicPr>
          <p:cNvPr id="8" name="Image 0" descr="/home/claude/build/icons/wallet_white.png"/>
          <p:cNvPicPr>
            <a:picLocks noChangeAspect="1"/>
          </p:cNvPicPr>
          <p:nvPr/>
        </p:nvPicPr>
        <p:blipFill>
          <a:blip r:embed="rId1"/>
          <a:stretch>
            <a:fillRect/>
          </a:stretch>
        </p:blipFill>
        <p:spPr>
          <a:xfrm>
            <a:off x="943661" y="1940357"/>
            <a:ext cx="307238" cy="307238"/>
          </a:xfrm>
          <a:prstGeom prst="rect">
            <a:avLst/>
          </a:prstGeom>
        </p:spPr>
      </p:pic>
      <p:sp>
        <p:nvSpPr>
          <p:cNvPr id="9" name="Text 6"/>
          <p:cNvSpPr/>
          <p:nvPr/>
        </p:nvSpPr>
        <p:spPr>
          <a:xfrm>
            <a:off x="1627632" y="1700784"/>
            <a:ext cx="3657600" cy="457200"/>
          </a:xfrm>
          <a:prstGeom prst="rect">
            <a:avLst/>
          </a:prstGeom>
          <a:noFill/>
          <a:ln/>
        </p:spPr>
        <p:txBody>
          <a:bodyPr wrap="square" lIns="0" tIns="0" rIns="0" bIns="0" rtlCol="0" anchor="ctr"/>
          <a:lstStyle/>
          <a:p>
            <a:pPr indent="0" marL="0">
              <a:buNone/>
            </a:pPr>
            <a:r>
              <a:rPr lang="en-US" sz="1800" b="1" dirty="0">
                <a:solidFill>
                  <a:srgbClr val="1B2335"/>
                </a:solidFill>
                <a:latin typeface="Bookman Old Style" pitchFamily="34" charset="0"/>
                <a:ea typeface="Bookman Old Style" pitchFamily="34" charset="-122"/>
                <a:cs typeface="Bookman Old Style" pitchFamily="34" charset="-120"/>
              </a:rPr>
              <a:t>Scattered Accounts</a:t>
            </a:r>
            <a:endParaRPr lang="en-US" sz="1800" dirty="0"/>
          </a:p>
        </p:txBody>
      </p:sp>
      <p:sp>
        <p:nvSpPr>
          <p:cNvPr id="10" name="Text 7"/>
          <p:cNvSpPr/>
          <p:nvPr/>
        </p:nvSpPr>
        <p:spPr>
          <a:xfrm>
            <a:off x="5349240" y="1664208"/>
            <a:ext cx="6080760" cy="859536"/>
          </a:xfrm>
          <a:prstGeom prst="rect">
            <a:avLst/>
          </a:prstGeom>
          <a:noFill/>
          <a:ln/>
        </p:spPr>
        <p:txBody>
          <a:bodyPr wrap="square" lIns="0" tIns="0" rIns="0" bIns="0" rtlCol="0" anchor="ctr"/>
          <a:lstStyle/>
          <a:p>
            <a:pPr indent="0" marL="0">
              <a:buNone/>
            </a:pPr>
            <a:r>
              <a:rPr lang="en-US" sz="1350" dirty="0">
                <a:solidFill>
                  <a:srgbClr val="5A6B8C"/>
                </a:solidFill>
                <a:latin typeface="Arial" pitchFamily="34" charset="0"/>
                <a:ea typeface="Arial" pitchFamily="34" charset="-122"/>
                <a:cs typeface="Arial" pitchFamily="34" charset="-120"/>
              </a:rPr>
              <a:t>Balances and transactions live across disconnected apps with no single source of truth.</a:t>
            </a:r>
            <a:endParaRPr lang="en-US" sz="1350" dirty="0"/>
          </a:p>
        </p:txBody>
      </p:sp>
      <p:sp>
        <p:nvSpPr>
          <p:cNvPr id="11" name="Shape 8"/>
          <p:cNvSpPr/>
          <p:nvPr/>
        </p:nvSpPr>
        <p:spPr>
          <a:xfrm>
            <a:off x="548640" y="2779776"/>
            <a:ext cx="11064240" cy="1078992"/>
          </a:xfrm>
          <a:prstGeom prst="roundRect">
            <a:avLst>
              <a:gd name="adj" fmla="val 6780"/>
            </a:avLst>
          </a:prstGeom>
          <a:solidFill>
            <a:srgbClr val="F4F7FC"/>
          </a:solidFill>
          <a:ln/>
          <a:effectLst>
            <a:outerShdw sx="100000" sy="100000" kx="0" ky="0" algn="bl" rotWithShape="0" blurRad="114300" dist="38100" dir="5400000">
              <a:srgbClr val="1A2440">
                <a:alpha val="16000"/>
              </a:srgbClr>
            </a:outerShdw>
          </a:effectLst>
        </p:spPr>
      </p:sp>
      <p:sp>
        <p:nvSpPr>
          <p:cNvPr id="12" name="Shape 9"/>
          <p:cNvSpPr/>
          <p:nvPr/>
        </p:nvSpPr>
        <p:spPr>
          <a:xfrm>
            <a:off x="777240" y="2999232"/>
            <a:ext cx="640080" cy="640080"/>
          </a:xfrm>
          <a:prstGeom prst="ellipse">
            <a:avLst/>
          </a:prstGeom>
          <a:solidFill>
            <a:srgbClr val="E8654F"/>
          </a:solidFill>
          <a:ln/>
          <a:effectLst>
            <a:outerShdw sx="100000" sy="100000" kx="0" ky="0" algn="bl" rotWithShape="0" blurRad="114300" dist="38100" dir="5400000">
              <a:srgbClr val="1A2440">
                <a:alpha val="16000"/>
              </a:srgbClr>
            </a:outerShdw>
          </a:effectLst>
        </p:spPr>
      </p:sp>
      <p:pic>
        <p:nvPicPr>
          <p:cNvPr id="13" name="Image 1" descr="/home/claude/build/icons/receipt_white.png"/>
          <p:cNvPicPr>
            <a:picLocks noChangeAspect="1"/>
          </p:cNvPicPr>
          <p:nvPr/>
        </p:nvPicPr>
        <p:blipFill>
          <a:blip r:embed="rId2"/>
          <a:stretch>
            <a:fillRect/>
          </a:stretch>
        </p:blipFill>
        <p:spPr>
          <a:xfrm>
            <a:off x="943661" y="3165653"/>
            <a:ext cx="307238" cy="307238"/>
          </a:xfrm>
          <a:prstGeom prst="rect">
            <a:avLst/>
          </a:prstGeom>
        </p:spPr>
      </p:pic>
      <p:sp>
        <p:nvSpPr>
          <p:cNvPr id="14" name="Text 10"/>
          <p:cNvSpPr/>
          <p:nvPr/>
        </p:nvSpPr>
        <p:spPr>
          <a:xfrm>
            <a:off x="1627632" y="2926080"/>
            <a:ext cx="3657600" cy="457200"/>
          </a:xfrm>
          <a:prstGeom prst="rect">
            <a:avLst/>
          </a:prstGeom>
          <a:noFill/>
          <a:ln/>
        </p:spPr>
        <p:txBody>
          <a:bodyPr wrap="square" lIns="0" tIns="0" rIns="0" bIns="0" rtlCol="0" anchor="ctr"/>
          <a:lstStyle/>
          <a:p>
            <a:pPr indent="0" marL="0">
              <a:buNone/>
            </a:pPr>
            <a:r>
              <a:rPr lang="en-US" sz="1800" b="1" dirty="0">
                <a:solidFill>
                  <a:srgbClr val="1B2335"/>
                </a:solidFill>
                <a:latin typeface="Bookman Old Style" pitchFamily="34" charset="0"/>
                <a:ea typeface="Bookman Old Style" pitchFamily="34" charset="-122"/>
                <a:cs typeface="Bookman Old Style" pitchFamily="34" charset="-120"/>
              </a:rPr>
              <a:t>Manual Money Management</a:t>
            </a:r>
            <a:endParaRPr lang="en-US" sz="1800" dirty="0"/>
          </a:p>
        </p:txBody>
      </p:sp>
      <p:sp>
        <p:nvSpPr>
          <p:cNvPr id="15" name="Text 11"/>
          <p:cNvSpPr/>
          <p:nvPr/>
        </p:nvSpPr>
        <p:spPr>
          <a:xfrm>
            <a:off x="5349240" y="2889504"/>
            <a:ext cx="6080760" cy="859536"/>
          </a:xfrm>
          <a:prstGeom prst="rect">
            <a:avLst/>
          </a:prstGeom>
          <a:noFill/>
          <a:ln/>
        </p:spPr>
        <p:txBody>
          <a:bodyPr wrap="square" lIns="0" tIns="0" rIns="0" bIns="0" rtlCol="0" anchor="ctr"/>
          <a:lstStyle/>
          <a:p>
            <a:pPr indent="0" marL="0">
              <a:buNone/>
            </a:pPr>
            <a:r>
              <a:rPr lang="en-US" sz="1350" dirty="0">
                <a:solidFill>
                  <a:srgbClr val="5A6B8C"/>
                </a:solidFill>
                <a:latin typeface="Arial" pitchFamily="34" charset="0"/>
                <a:ea typeface="Arial" pitchFamily="34" charset="-122"/>
                <a:cs typeface="Arial" pitchFamily="34" charset="-120"/>
              </a:rPr>
              <a:t>Budgeting and bill tracking happen in spreadsheets outside the bank — stale and error-prone.</a:t>
            </a:r>
            <a:endParaRPr lang="en-US" sz="1350" dirty="0"/>
          </a:p>
        </p:txBody>
      </p:sp>
      <p:sp>
        <p:nvSpPr>
          <p:cNvPr id="16" name="Shape 12"/>
          <p:cNvSpPr/>
          <p:nvPr/>
        </p:nvSpPr>
        <p:spPr>
          <a:xfrm>
            <a:off x="548640" y="4005072"/>
            <a:ext cx="11064240" cy="1078992"/>
          </a:xfrm>
          <a:prstGeom prst="roundRect">
            <a:avLst>
              <a:gd name="adj" fmla="val 6780"/>
            </a:avLst>
          </a:prstGeom>
          <a:solidFill>
            <a:srgbClr val="F4F7FC"/>
          </a:solidFill>
          <a:ln/>
          <a:effectLst>
            <a:outerShdw sx="100000" sy="100000" kx="0" ky="0" algn="bl" rotWithShape="0" blurRad="114300" dist="38100" dir="5400000">
              <a:srgbClr val="1A2440">
                <a:alpha val="16000"/>
              </a:srgbClr>
            </a:outerShdw>
          </a:effectLst>
        </p:spPr>
      </p:sp>
      <p:sp>
        <p:nvSpPr>
          <p:cNvPr id="17" name="Shape 13"/>
          <p:cNvSpPr/>
          <p:nvPr/>
        </p:nvSpPr>
        <p:spPr>
          <a:xfrm>
            <a:off x="777240" y="4224528"/>
            <a:ext cx="640080" cy="640080"/>
          </a:xfrm>
          <a:prstGeom prst="ellipse">
            <a:avLst/>
          </a:prstGeom>
          <a:solidFill>
            <a:srgbClr val="E8654F"/>
          </a:solidFill>
          <a:ln/>
          <a:effectLst>
            <a:outerShdw sx="100000" sy="100000" kx="0" ky="0" algn="bl" rotWithShape="0" blurRad="114300" dist="38100" dir="5400000">
              <a:srgbClr val="1A2440">
                <a:alpha val="16000"/>
              </a:srgbClr>
            </a:outerShdw>
          </a:effectLst>
        </p:spPr>
      </p:sp>
      <p:pic>
        <p:nvPicPr>
          <p:cNvPr id="18" name="Image 2" descr="/home/claude/build/icons/money_white.png"/>
          <p:cNvPicPr>
            <a:picLocks noChangeAspect="1"/>
          </p:cNvPicPr>
          <p:nvPr/>
        </p:nvPicPr>
        <p:blipFill>
          <a:blip r:embed="rId3"/>
          <a:stretch>
            <a:fillRect/>
          </a:stretch>
        </p:blipFill>
        <p:spPr>
          <a:xfrm>
            <a:off x="943661" y="4390949"/>
            <a:ext cx="307238" cy="307238"/>
          </a:xfrm>
          <a:prstGeom prst="rect">
            <a:avLst/>
          </a:prstGeom>
        </p:spPr>
      </p:pic>
      <p:sp>
        <p:nvSpPr>
          <p:cNvPr id="19" name="Text 14"/>
          <p:cNvSpPr/>
          <p:nvPr/>
        </p:nvSpPr>
        <p:spPr>
          <a:xfrm>
            <a:off x="1627632" y="4151376"/>
            <a:ext cx="3657600" cy="457200"/>
          </a:xfrm>
          <a:prstGeom prst="rect">
            <a:avLst/>
          </a:prstGeom>
          <a:noFill/>
          <a:ln/>
        </p:spPr>
        <p:txBody>
          <a:bodyPr wrap="square" lIns="0" tIns="0" rIns="0" bIns="0" rtlCol="0" anchor="ctr"/>
          <a:lstStyle/>
          <a:p>
            <a:pPr indent="0" marL="0">
              <a:buNone/>
            </a:pPr>
            <a:r>
              <a:rPr lang="en-US" sz="1800" b="1" dirty="0">
                <a:solidFill>
                  <a:srgbClr val="1B2335"/>
                </a:solidFill>
                <a:latin typeface="Bookman Old Style" pitchFamily="34" charset="0"/>
                <a:ea typeface="Bookman Old Style" pitchFamily="34" charset="-122"/>
                <a:cs typeface="Bookman Old Style" pitchFamily="34" charset="-120"/>
              </a:rPr>
              <a:t>Opaque Lending</a:t>
            </a:r>
            <a:endParaRPr lang="en-US" sz="1800" dirty="0"/>
          </a:p>
        </p:txBody>
      </p:sp>
      <p:sp>
        <p:nvSpPr>
          <p:cNvPr id="20" name="Text 15"/>
          <p:cNvSpPr/>
          <p:nvPr/>
        </p:nvSpPr>
        <p:spPr>
          <a:xfrm>
            <a:off x="5349240" y="4114800"/>
            <a:ext cx="6080760" cy="859536"/>
          </a:xfrm>
          <a:prstGeom prst="rect">
            <a:avLst/>
          </a:prstGeom>
          <a:noFill/>
          <a:ln/>
        </p:spPr>
        <p:txBody>
          <a:bodyPr wrap="square" lIns="0" tIns="0" rIns="0" bIns="0" rtlCol="0" anchor="ctr"/>
          <a:lstStyle/>
          <a:p>
            <a:pPr indent="0" marL="0">
              <a:buNone/>
            </a:pPr>
            <a:r>
              <a:rPr lang="en-US" sz="1350" dirty="0">
                <a:solidFill>
                  <a:srgbClr val="5A6B8C"/>
                </a:solidFill>
                <a:latin typeface="Arial" pitchFamily="34" charset="0"/>
                <a:ea typeface="Arial" pitchFamily="34" charset="-122"/>
                <a:cs typeface="Arial" pitchFamily="34" charset="-120"/>
              </a:rPr>
              <a:t>Loan eligibility, EMIs and repayment schedules are slow, manual and rarely transparent.</a:t>
            </a:r>
            <a:endParaRPr lang="en-US" sz="1350" dirty="0"/>
          </a:p>
        </p:txBody>
      </p:sp>
      <p:sp>
        <p:nvSpPr>
          <p:cNvPr id="21" name="Shape 16"/>
          <p:cNvSpPr/>
          <p:nvPr/>
        </p:nvSpPr>
        <p:spPr>
          <a:xfrm>
            <a:off x="548640" y="5230368"/>
            <a:ext cx="11064240" cy="1078992"/>
          </a:xfrm>
          <a:prstGeom prst="roundRect">
            <a:avLst>
              <a:gd name="adj" fmla="val 6780"/>
            </a:avLst>
          </a:prstGeom>
          <a:solidFill>
            <a:srgbClr val="F4F7FC"/>
          </a:solidFill>
          <a:ln/>
          <a:effectLst>
            <a:outerShdw sx="100000" sy="100000" kx="0" ky="0" algn="bl" rotWithShape="0" blurRad="114300" dist="38100" dir="5400000">
              <a:srgbClr val="1A2440">
                <a:alpha val="16000"/>
              </a:srgbClr>
            </a:outerShdw>
          </a:effectLst>
        </p:spPr>
      </p:sp>
      <p:sp>
        <p:nvSpPr>
          <p:cNvPr id="22" name="Shape 17"/>
          <p:cNvSpPr/>
          <p:nvPr/>
        </p:nvSpPr>
        <p:spPr>
          <a:xfrm>
            <a:off x="777240" y="5449824"/>
            <a:ext cx="640080" cy="640080"/>
          </a:xfrm>
          <a:prstGeom prst="ellipse">
            <a:avLst/>
          </a:prstGeom>
          <a:solidFill>
            <a:srgbClr val="E8654F"/>
          </a:solidFill>
          <a:ln/>
          <a:effectLst>
            <a:outerShdw sx="100000" sy="100000" kx="0" ky="0" algn="bl" rotWithShape="0" blurRad="114300" dist="38100" dir="5400000">
              <a:srgbClr val="1A2440">
                <a:alpha val="16000"/>
              </a:srgbClr>
            </a:outerShdw>
          </a:effectLst>
        </p:spPr>
      </p:sp>
      <p:pic>
        <p:nvPicPr>
          <p:cNvPr id="23" name="Image 3" descr="/home/claude/build/icons/eye_white.png"/>
          <p:cNvPicPr>
            <a:picLocks noChangeAspect="1"/>
          </p:cNvPicPr>
          <p:nvPr/>
        </p:nvPicPr>
        <p:blipFill>
          <a:blip r:embed="rId4"/>
          <a:stretch>
            <a:fillRect/>
          </a:stretch>
        </p:blipFill>
        <p:spPr>
          <a:xfrm>
            <a:off x="943661" y="5616245"/>
            <a:ext cx="307238" cy="307238"/>
          </a:xfrm>
          <a:prstGeom prst="rect">
            <a:avLst/>
          </a:prstGeom>
        </p:spPr>
      </p:pic>
      <p:sp>
        <p:nvSpPr>
          <p:cNvPr id="24" name="Text 18"/>
          <p:cNvSpPr/>
          <p:nvPr/>
        </p:nvSpPr>
        <p:spPr>
          <a:xfrm>
            <a:off x="1627632" y="5376672"/>
            <a:ext cx="3657600" cy="457200"/>
          </a:xfrm>
          <a:prstGeom prst="rect">
            <a:avLst/>
          </a:prstGeom>
          <a:noFill/>
          <a:ln/>
        </p:spPr>
        <p:txBody>
          <a:bodyPr wrap="square" lIns="0" tIns="0" rIns="0" bIns="0" rtlCol="0" anchor="ctr"/>
          <a:lstStyle/>
          <a:p>
            <a:pPr indent="0" marL="0">
              <a:buNone/>
            </a:pPr>
            <a:r>
              <a:rPr lang="en-US" sz="1800" b="1" dirty="0">
                <a:solidFill>
                  <a:srgbClr val="1B2335"/>
                </a:solidFill>
                <a:latin typeface="Bookman Old Style" pitchFamily="34" charset="0"/>
                <a:ea typeface="Bookman Old Style" pitchFamily="34" charset="-122"/>
                <a:cs typeface="Bookman Old Style" pitchFamily="34" charset="-120"/>
              </a:rPr>
              <a:t>No Unified Insight</a:t>
            </a:r>
            <a:endParaRPr lang="en-US" sz="1800" dirty="0"/>
          </a:p>
        </p:txBody>
      </p:sp>
      <p:sp>
        <p:nvSpPr>
          <p:cNvPr id="25" name="Text 19"/>
          <p:cNvSpPr/>
          <p:nvPr/>
        </p:nvSpPr>
        <p:spPr>
          <a:xfrm>
            <a:off x="5349240" y="5340096"/>
            <a:ext cx="6080760" cy="859536"/>
          </a:xfrm>
          <a:prstGeom prst="rect">
            <a:avLst/>
          </a:prstGeom>
          <a:noFill/>
          <a:ln/>
        </p:spPr>
        <p:txBody>
          <a:bodyPr wrap="square" lIns="0" tIns="0" rIns="0" bIns="0" rtlCol="0" anchor="ctr"/>
          <a:lstStyle/>
          <a:p>
            <a:pPr indent="0" marL="0">
              <a:buNone/>
            </a:pPr>
            <a:r>
              <a:rPr lang="en-US" sz="1350" dirty="0">
                <a:solidFill>
                  <a:srgbClr val="5A6B8C"/>
                </a:solidFill>
                <a:latin typeface="Arial" pitchFamily="34" charset="0"/>
                <a:ea typeface="Arial" pitchFamily="34" charset="-122"/>
                <a:cs typeface="Arial" pitchFamily="34" charset="-120"/>
              </a:rPr>
              <a:t>Customers lack a consolidated, real-time view of their financial health across products.</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778240" y="-2194560"/>
            <a:ext cx="5852160" cy="5852160"/>
          </a:xfrm>
          <a:prstGeom prst="ellipse">
            <a:avLst/>
          </a:prstGeom>
          <a:solidFill>
            <a:srgbClr val="16203F"/>
          </a:solidFill>
          <a:ln/>
        </p:spPr>
      </p:sp>
      <p:sp>
        <p:nvSpPr>
          <p:cNvPr id="3" name="Shape 1"/>
          <p:cNvSpPr/>
          <p:nvPr/>
        </p:nvSpPr>
        <p:spPr>
          <a:xfrm>
            <a:off x="10058400" y="-1097280"/>
            <a:ext cx="3108960" cy="3108960"/>
          </a:xfrm>
          <a:prstGeom prst="ellipse">
            <a:avLst/>
          </a:prstGeom>
          <a:solidFill>
            <a:srgbClr val="1F2E55"/>
          </a:solidFill>
          <a:ln/>
        </p:spPr>
      </p:sp>
      <p:sp>
        <p:nvSpPr>
          <p:cNvPr id="4" name="Text 2"/>
          <p:cNvSpPr/>
          <p:nvPr/>
        </p:nvSpPr>
        <p:spPr>
          <a:xfrm>
            <a:off x="502920" y="384048"/>
            <a:ext cx="822960" cy="502920"/>
          </a:xfrm>
          <a:prstGeom prst="rect">
            <a:avLst/>
          </a:prstGeom>
          <a:noFill/>
          <a:ln/>
        </p:spPr>
        <p:txBody>
          <a:bodyPr wrap="square" lIns="0" tIns="0" rIns="0" bIns="0" rtlCol="0" anchor="ctr"/>
          <a:lstStyle/>
          <a:p>
            <a:pPr indent="0" marL="0">
              <a:buNone/>
            </a:pPr>
            <a:r>
              <a:rPr lang="en-US" sz="2600" b="1" dirty="0">
                <a:solidFill>
                  <a:srgbClr val="CADCFC"/>
                </a:solidFill>
                <a:latin typeface="Bookman Old Style" pitchFamily="34" charset="0"/>
                <a:ea typeface="Bookman Old Style" pitchFamily="34" charset="-122"/>
                <a:cs typeface="Bookman Old Style" pitchFamily="34" charset="-120"/>
              </a:rPr>
              <a:t>03</a:t>
            </a:r>
            <a:endParaRPr lang="en-US" sz="2600" dirty="0"/>
          </a:p>
        </p:txBody>
      </p:sp>
      <p:sp>
        <p:nvSpPr>
          <p:cNvPr id="5" name="Shape 3"/>
          <p:cNvSpPr/>
          <p:nvPr/>
        </p:nvSpPr>
        <p:spPr>
          <a:xfrm>
            <a:off x="1078992" y="457200"/>
            <a:ext cx="25603" cy="384048"/>
          </a:xfrm>
          <a:prstGeom prst="rect">
            <a:avLst/>
          </a:prstGeom>
          <a:solidFill>
            <a:srgbClr val="F2B441"/>
          </a:solidFill>
          <a:ln/>
        </p:spPr>
      </p:sp>
      <p:sp>
        <p:nvSpPr>
          <p:cNvPr id="6" name="Text 4"/>
          <p:cNvSpPr/>
          <p:nvPr/>
        </p:nvSpPr>
        <p:spPr>
          <a:xfrm>
            <a:off x="1225296" y="365760"/>
            <a:ext cx="9601200" cy="274320"/>
          </a:xfrm>
          <a:prstGeom prst="rect">
            <a:avLst/>
          </a:prstGeom>
          <a:noFill/>
          <a:ln/>
        </p:spPr>
        <p:txBody>
          <a:bodyPr wrap="square" lIns="0" tIns="0" rIns="0" bIns="0" rtlCol="0" anchor="ctr"/>
          <a:lstStyle/>
          <a:p>
            <a:pPr indent="0" marL="0">
              <a:buNone/>
            </a:pPr>
            <a:r>
              <a:rPr lang="en-US" sz="1150" b="1" spc="300" kern="0" dirty="0">
                <a:solidFill>
                  <a:srgbClr val="F2B441"/>
                </a:solidFill>
                <a:latin typeface="Arial" pitchFamily="34" charset="0"/>
                <a:ea typeface="Arial" pitchFamily="34" charset="-122"/>
                <a:cs typeface="Arial" pitchFamily="34" charset="-120"/>
              </a:rPr>
              <a:t>THE SOLUTION</a:t>
            </a:r>
            <a:endParaRPr lang="en-US" sz="1150" dirty="0"/>
          </a:p>
        </p:txBody>
      </p:sp>
      <p:sp>
        <p:nvSpPr>
          <p:cNvPr id="7" name="Text 5"/>
          <p:cNvSpPr/>
          <p:nvPr/>
        </p:nvSpPr>
        <p:spPr>
          <a:xfrm>
            <a:off x="1207008" y="603504"/>
            <a:ext cx="10424160" cy="566928"/>
          </a:xfrm>
          <a:prstGeom prst="rect">
            <a:avLst/>
          </a:prstGeom>
          <a:noFill/>
          <a:ln/>
        </p:spPr>
        <p:txBody>
          <a:bodyPr wrap="square" lIns="0" tIns="0" rIns="0" bIns="0" rtlCol="0" anchor="ctr"/>
          <a:lstStyle/>
          <a:p>
            <a:pPr indent="0" marL="0">
              <a:buNone/>
            </a:pPr>
            <a:r>
              <a:rPr lang="en-US" sz="2700" b="1" dirty="0">
                <a:solidFill>
                  <a:srgbClr val="FFFFFF"/>
                </a:solidFill>
                <a:latin typeface="Bookman Old Style" pitchFamily="34" charset="0"/>
                <a:ea typeface="Bookman Old Style" pitchFamily="34" charset="-122"/>
                <a:cs typeface="Bookman Old Style" pitchFamily="34" charset="-120"/>
              </a:rPr>
              <a:t>One Platform, Every Financial Need</a:t>
            </a:r>
            <a:endParaRPr lang="en-US" sz="2700" dirty="0"/>
          </a:p>
        </p:txBody>
      </p:sp>
      <p:sp>
        <p:nvSpPr>
          <p:cNvPr id="8" name="Text 6"/>
          <p:cNvSpPr/>
          <p:nvPr/>
        </p:nvSpPr>
        <p:spPr>
          <a:xfrm>
            <a:off x="1207008" y="1298448"/>
            <a:ext cx="10058400" cy="640080"/>
          </a:xfrm>
          <a:prstGeom prst="rect">
            <a:avLst/>
          </a:prstGeom>
          <a:noFill/>
          <a:ln/>
        </p:spPr>
        <p:txBody>
          <a:bodyPr wrap="square" lIns="0" tIns="0" rIns="0" bIns="0" rtlCol="0" anchor="ctr"/>
          <a:lstStyle/>
          <a:p>
            <a:pPr indent="0" marL="0">
              <a:buNone/>
            </a:pPr>
            <a:r>
              <a:rPr lang="en-US" sz="1450" dirty="0">
                <a:solidFill>
                  <a:srgbClr val="CADCFC"/>
                </a:solidFill>
                <a:latin typeface="Arial" pitchFamily="34" charset="0"/>
                <a:ea typeface="Arial" pitchFamily="34" charset="-122"/>
                <a:cs typeface="Arial" pitchFamily="34" charset="-120"/>
              </a:rPr>
              <a:t>NeoBank 360 collapses banking silos into a single secure application — core banking, budgeting, bills, lending and analytics share one data model, one security posture, one experience.</a:t>
            </a:r>
            <a:endParaRPr lang="en-US" sz="1450" dirty="0"/>
          </a:p>
        </p:txBody>
      </p:sp>
      <p:sp>
        <p:nvSpPr>
          <p:cNvPr id="9" name="Shape 7"/>
          <p:cNvSpPr/>
          <p:nvPr/>
        </p:nvSpPr>
        <p:spPr>
          <a:xfrm>
            <a:off x="548640" y="2148840"/>
            <a:ext cx="3529584" cy="1481328"/>
          </a:xfrm>
          <a:prstGeom prst="roundRect">
            <a:avLst>
              <a:gd name="adj" fmla="val 5556"/>
            </a:avLst>
          </a:prstGeom>
          <a:solidFill>
            <a:srgbClr val="16203F"/>
          </a:solidFill>
          <a:ln w="12700">
            <a:solidFill>
              <a:srgbClr val="2C3A63"/>
            </a:solidFill>
            <a:prstDash val="solid"/>
          </a:ln>
        </p:spPr>
      </p:sp>
      <p:sp>
        <p:nvSpPr>
          <p:cNvPr id="10" name="Shape 8"/>
          <p:cNvSpPr/>
          <p:nvPr/>
        </p:nvSpPr>
        <p:spPr>
          <a:xfrm>
            <a:off x="768096" y="2368296"/>
            <a:ext cx="603504" cy="603504"/>
          </a:xfrm>
          <a:prstGeom prst="ellipse">
            <a:avLst/>
          </a:prstGeom>
          <a:solidFill>
            <a:srgbClr val="F2B441"/>
          </a:solidFill>
          <a:ln/>
          <a:effectLst>
            <a:outerShdw sx="100000" sy="100000" kx="0" ky="0" algn="bl" rotWithShape="0" blurRad="114300" dist="38100" dir="5400000">
              <a:srgbClr val="1A2440">
                <a:alpha val="16000"/>
              </a:srgbClr>
            </a:outerShdw>
          </a:effectLst>
        </p:spPr>
      </p:sp>
      <p:pic>
        <p:nvPicPr>
          <p:cNvPr id="11" name="Image 0" descr="/home/claude/build/icons/bank_navy.png"/>
          <p:cNvPicPr>
            <a:picLocks noChangeAspect="1"/>
          </p:cNvPicPr>
          <p:nvPr/>
        </p:nvPicPr>
        <p:blipFill>
          <a:blip r:embed="rId1"/>
          <a:stretch>
            <a:fillRect/>
          </a:stretch>
        </p:blipFill>
        <p:spPr>
          <a:xfrm>
            <a:off x="925007" y="2525207"/>
            <a:ext cx="289682" cy="289682"/>
          </a:xfrm>
          <a:prstGeom prst="rect">
            <a:avLst/>
          </a:prstGeom>
        </p:spPr>
      </p:pic>
      <p:sp>
        <p:nvSpPr>
          <p:cNvPr id="12" name="Text 9"/>
          <p:cNvSpPr/>
          <p:nvPr/>
        </p:nvSpPr>
        <p:spPr>
          <a:xfrm>
            <a:off x="1481328" y="2350008"/>
            <a:ext cx="2432304" cy="566928"/>
          </a:xfrm>
          <a:prstGeom prst="rect">
            <a:avLst/>
          </a:prstGeom>
          <a:noFill/>
          <a:ln/>
        </p:spPr>
        <p:txBody>
          <a:bodyPr wrap="square" lIns="0" tIns="0" rIns="0" bIns="0" rtlCol="0" anchor="ctr"/>
          <a:lstStyle/>
          <a:p>
            <a:pPr indent="0" marL="0">
              <a:buNone/>
            </a:pPr>
            <a:r>
              <a:rPr lang="en-US" sz="1550" b="1" dirty="0">
                <a:solidFill>
                  <a:srgbClr val="FFFFFF"/>
                </a:solidFill>
                <a:latin typeface="Bookman Old Style" pitchFamily="34" charset="0"/>
                <a:ea typeface="Bookman Old Style" pitchFamily="34" charset="-122"/>
                <a:cs typeface="Bookman Old Style" pitchFamily="34" charset="-120"/>
              </a:rPr>
              <a:t>Unified Core Banking</a:t>
            </a:r>
            <a:endParaRPr lang="en-US" sz="1550" dirty="0"/>
          </a:p>
        </p:txBody>
      </p:sp>
      <p:sp>
        <p:nvSpPr>
          <p:cNvPr id="13" name="Text 10"/>
          <p:cNvSpPr/>
          <p:nvPr/>
        </p:nvSpPr>
        <p:spPr>
          <a:xfrm>
            <a:off x="786384" y="2935224"/>
            <a:ext cx="3072384" cy="603504"/>
          </a:xfrm>
          <a:prstGeom prst="rect">
            <a:avLst/>
          </a:prstGeom>
          <a:noFill/>
          <a:ln/>
        </p:spPr>
        <p:txBody>
          <a:bodyPr wrap="square" lIns="0" tIns="0" rIns="0" bIns="0" rtlCol="0" anchor="ctr"/>
          <a:lstStyle/>
          <a:p>
            <a:pPr indent="0" marL="0">
              <a:buNone/>
            </a:pPr>
            <a:r>
              <a:rPr lang="en-US" sz="1180" dirty="0">
                <a:solidFill>
                  <a:srgbClr val="CADCFC"/>
                </a:solidFill>
                <a:latin typeface="Arial" pitchFamily="34" charset="0"/>
                <a:ea typeface="Arial" pitchFamily="34" charset="-122"/>
                <a:cs typeface="Arial" pitchFamily="34" charset="-120"/>
              </a:rPr>
              <a:t>Accounts, transactions and atomic transfers in one ledger with a full audit trail.</a:t>
            </a:r>
            <a:endParaRPr lang="en-US" sz="1180" dirty="0"/>
          </a:p>
        </p:txBody>
      </p:sp>
      <p:sp>
        <p:nvSpPr>
          <p:cNvPr id="14" name="Shape 11"/>
          <p:cNvSpPr/>
          <p:nvPr/>
        </p:nvSpPr>
        <p:spPr>
          <a:xfrm>
            <a:off x="4325112" y="2148840"/>
            <a:ext cx="3529584" cy="1481328"/>
          </a:xfrm>
          <a:prstGeom prst="roundRect">
            <a:avLst>
              <a:gd name="adj" fmla="val 5556"/>
            </a:avLst>
          </a:prstGeom>
          <a:solidFill>
            <a:srgbClr val="16203F"/>
          </a:solidFill>
          <a:ln w="12700">
            <a:solidFill>
              <a:srgbClr val="2C3A63"/>
            </a:solidFill>
            <a:prstDash val="solid"/>
          </a:ln>
        </p:spPr>
      </p:sp>
      <p:sp>
        <p:nvSpPr>
          <p:cNvPr id="15" name="Shape 12"/>
          <p:cNvSpPr/>
          <p:nvPr/>
        </p:nvSpPr>
        <p:spPr>
          <a:xfrm>
            <a:off x="4544568" y="2368296"/>
            <a:ext cx="603504" cy="603504"/>
          </a:xfrm>
          <a:prstGeom prst="ellipse">
            <a:avLst/>
          </a:prstGeom>
          <a:solidFill>
            <a:srgbClr val="F2B441"/>
          </a:solidFill>
          <a:ln/>
          <a:effectLst>
            <a:outerShdw sx="100000" sy="100000" kx="0" ky="0" algn="bl" rotWithShape="0" blurRad="114300" dist="38100" dir="5400000">
              <a:srgbClr val="1A2440">
                <a:alpha val="16000"/>
              </a:srgbClr>
            </a:outerShdw>
          </a:effectLst>
        </p:spPr>
      </p:sp>
      <p:pic>
        <p:nvPicPr>
          <p:cNvPr id="16" name="Image 1" descr="/home/claude/build/icons/wallet_navy.png"/>
          <p:cNvPicPr>
            <a:picLocks noChangeAspect="1"/>
          </p:cNvPicPr>
          <p:nvPr/>
        </p:nvPicPr>
        <p:blipFill>
          <a:blip r:embed="rId2"/>
          <a:stretch>
            <a:fillRect/>
          </a:stretch>
        </p:blipFill>
        <p:spPr>
          <a:xfrm>
            <a:off x="4701479" y="2525207"/>
            <a:ext cx="289682" cy="289682"/>
          </a:xfrm>
          <a:prstGeom prst="rect">
            <a:avLst/>
          </a:prstGeom>
        </p:spPr>
      </p:pic>
      <p:sp>
        <p:nvSpPr>
          <p:cNvPr id="17" name="Text 13"/>
          <p:cNvSpPr/>
          <p:nvPr/>
        </p:nvSpPr>
        <p:spPr>
          <a:xfrm>
            <a:off x="5257800" y="2350008"/>
            <a:ext cx="2432304" cy="566928"/>
          </a:xfrm>
          <a:prstGeom prst="rect">
            <a:avLst/>
          </a:prstGeom>
          <a:noFill/>
          <a:ln/>
        </p:spPr>
        <p:txBody>
          <a:bodyPr wrap="square" lIns="0" tIns="0" rIns="0" bIns="0" rtlCol="0" anchor="ctr"/>
          <a:lstStyle/>
          <a:p>
            <a:pPr indent="0" marL="0">
              <a:buNone/>
            </a:pPr>
            <a:r>
              <a:rPr lang="en-US" sz="1550" b="1" dirty="0">
                <a:solidFill>
                  <a:srgbClr val="FFFFFF"/>
                </a:solidFill>
                <a:latin typeface="Bookman Old Style" pitchFamily="34" charset="0"/>
                <a:ea typeface="Bookman Old Style" pitchFamily="34" charset="-122"/>
                <a:cs typeface="Bookman Old Style" pitchFamily="34" charset="-120"/>
              </a:rPr>
              <a:t>Built-in PFM</a:t>
            </a:r>
            <a:endParaRPr lang="en-US" sz="1550" dirty="0"/>
          </a:p>
        </p:txBody>
      </p:sp>
      <p:sp>
        <p:nvSpPr>
          <p:cNvPr id="18" name="Text 14"/>
          <p:cNvSpPr/>
          <p:nvPr/>
        </p:nvSpPr>
        <p:spPr>
          <a:xfrm>
            <a:off x="4562856" y="2935224"/>
            <a:ext cx="3072384" cy="603504"/>
          </a:xfrm>
          <a:prstGeom prst="rect">
            <a:avLst/>
          </a:prstGeom>
          <a:noFill/>
          <a:ln/>
        </p:spPr>
        <p:txBody>
          <a:bodyPr wrap="square" lIns="0" tIns="0" rIns="0" bIns="0" rtlCol="0" anchor="ctr"/>
          <a:lstStyle/>
          <a:p>
            <a:pPr indent="0" marL="0">
              <a:buNone/>
            </a:pPr>
            <a:r>
              <a:rPr lang="en-US" sz="1180" dirty="0">
                <a:solidFill>
                  <a:srgbClr val="CADCFC"/>
                </a:solidFill>
                <a:latin typeface="Arial" pitchFamily="34" charset="0"/>
                <a:ea typeface="Arial" pitchFamily="34" charset="-122"/>
                <a:cs typeface="Arial" pitchFamily="34" charset="-120"/>
              </a:rPr>
              <a:t>Monthly budgets and bill scheduling driven by real transaction data.</a:t>
            </a:r>
            <a:endParaRPr lang="en-US" sz="1180" dirty="0"/>
          </a:p>
        </p:txBody>
      </p:sp>
      <p:sp>
        <p:nvSpPr>
          <p:cNvPr id="19" name="Shape 15"/>
          <p:cNvSpPr/>
          <p:nvPr/>
        </p:nvSpPr>
        <p:spPr>
          <a:xfrm>
            <a:off x="8101584" y="2148840"/>
            <a:ext cx="3529584" cy="1481328"/>
          </a:xfrm>
          <a:prstGeom prst="roundRect">
            <a:avLst>
              <a:gd name="adj" fmla="val 5556"/>
            </a:avLst>
          </a:prstGeom>
          <a:solidFill>
            <a:srgbClr val="16203F"/>
          </a:solidFill>
          <a:ln w="12700">
            <a:solidFill>
              <a:srgbClr val="2C3A63"/>
            </a:solidFill>
            <a:prstDash val="solid"/>
          </a:ln>
        </p:spPr>
      </p:sp>
      <p:sp>
        <p:nvSpPr>
          <p:cNvPr id="20" name="Shape 16"/>
          <p:cNvSpPr/>
          <p:nvPr/>
        </p:nvSpPr>
        <p:spPr>
          <a:xfrm>
            <a:off x="8321040" y="2368296"/>
            <a:ext cx="603504" cy="603504"/>
          </a:xfrm>
          <a:prstGeom prst="ellipse">
            <a:avLst/>
          </a:prstGeom>
          <a:solidFill>
            <a:srgbClr val="F2B441"/>
          </a:solidFill>
          <a:ln/>
          <a:effectLst>
            <a:outerShdw sx="100000" sy="100000" kx="0" ky="0" algn="bl" rotWithShape="0" blurRad="114300" dist="38100" dir="5400000">
              <a:srgbClr val="1A2440">
                <a:alpha val="16000"/>
              </a:srgbClr>
            </a:outerShdw>
          </a:effectLst>
        </p:spPr>
      </p:sp>
      <p:pic>
        <p:nvPicPr>
          <p:cNvPr id="21" name="Image 2" descr="/home/claude/build/icons/money_navy.png"/>
          <p:cNvPicPr>
            <a:picLocks noChangeAspect="1"/>
          </p:cNvPicPr>
          <p:nvPr/>
        </p:nvPicPr>
        <p:blipFill>
          <a:blip r:embed="rId3"/>
          <a:stretch>
            <a:fillRect/>
          </a:stretch>
        </p:blipFill>
        <p:spPr>
          <a:xfrm>
            <a:off x="8477951" y="2525207"/>
            <a:ext cx="289682" cy="289682"/>
          </a:xfrm>
          <a:prstGeom prst="rect">
            <a:avLst/>
          </a:prstGeom>
        </p:spPr>
      </p:pic>
      <p:sp>
        <p:nvSpPr>
          <p:cNvPr id="22" name="Text 17"/>
          <p:cNvSpPr/>
          <p:nvPr/>
        </p:nvSpPr>
        <p:spPr>
          <a:xfrm>
            <a:off x="9034272" y="2350008"/>
            <a:ext cx="2432304" cy="566928"/>
          </a:xfrm>
          <a:prstGeom prst="rect">
            <a:avLst/>
          </a:prstGeom>
          <a:noFill/>
          <a:ln/>
        </p:spPr>
        <p:txBody>
          <a:bodyPr wrap="square" lIns="0" tIns="0" rIns="0" bIns="0" rtlCol="0" anchor="ctr"/>
          <a:lstStyle/>
          <a:p>
            <a:pPr indent="0" marL="0">
              <a:buNone/>
            </a:pPr>
            <a:r>
              <a:rPr lang="en-US" sz="1550" b="1" dirty="0">
                <a:solidFill>
                  <a:srgbClr val="FFFFFF"/>
                </a:solidFill>
                <a:latin typeface="Bookman Old Style" pitchFamily="34" charset="0"/>
                <a:ea typeface="Bookman Old Style" pitchFamily="34" charset="-122"/>
                <a:cs typeface="Bookman Old Style" pitchFamily="34" charset="-120"/>
              </a:rPr>
              <a:t>Transparent Lending</a:t>
            </a:r>
            <a:endParaRPr lang="en-US" sz="1550" dirty="0"/>
          </a:p>
        </p:txBody>
      </p:sp>
      <p:sp>
        <p:nvSpPr>
          <p:cNvPr id="23" name="Text 18"/>
          <p:cNvSpPr/>
          <p:nvPr/>
        </p:nvSpPr>
        <p:spPr>
          <a:xfrm>
            <a:off x="8339328" y="2935224"/>
            <a:ext cx="3072384" cy="603504"/>
          </a:xfrm>
          <a:prstGeom prst="rect">
            <a:avLst/>
          </a:prstGeom>
          <a:noFill/>
          <a:ln/>
        </p:spPr>
        <p:txBody>
          <a:bodyPr wrap="square" lIns="0" tIns="0" rIns="0" bIns="0" rtlCol="0" anchor="ctr"/>
          <a:lstStyle/>
          <a:p>
            <a:pPr indent="0" marL="0">
              <a:buNone/>
            </a:pPr>
            <a:r>
              <a:rPr lang="en-US" sz="1180" dirty="0">
                <a:solidFill>
                  <a:srgbClr val="CADCFC"/>
                </a:solidFill>
                <a:latin typeface="Arial" pitchFamily="34" charset="0"/>
                <a:ea typeface="Arial" pitchFamily="34" charset="-122"/>
                <a:cs typeface="Arial" pitchFamily="34" charset="-120"/>
              </a:rPr>
              <a:t>Self-service loan applications with an automated EMI engine and clear schedules.</a:t>
            </a:r>
            <a:endParaRPr lang="en-US" sz="1180" dirty="0"/>
          </a:p>
        </p:txBody>
      </p:sp>
      <p:sp>
        <p:nvSpPr>
          <p:cNvPr id="24" name="Shape 19"/>
          <p:cNvSpPr/>
          <p:nvPr/>
        </p:nvSpPr>
        <p:spPr>
          <a:xfrm>
            <a:off x="548640" y="3867912"/>
            <a:ext cx="3529584" cy="1481328"/>
          </a:xfrm>
          <a:prstGeom prst="roundRect">
            <a:avLst>
              <a:gd name="adj" fmla="val 5556"/>
            </a:avLst>
          </a:prstGeom>
          <a:solidFill>
            <a:srgbClr val="16203F"/>
          </a:solidFill>
          <a:ln w="12700">
            <a:solidFill>
              <a:srgbClr val="2C3A63"/>
            </a:solidFill>
            <a:prstDash val="solid"/>
          </a:ln>
        </p:spPr>
      </p:sp>
      <p:sp>
        <p:nvSpPr>
          <p:cNvPr id="25" name="Shape 20"/>
          <p:cNvSpPr/>
          <p:nvPr/>
        </p:nvSpPr>
        <p:spPr>
          <a:xfrm>
            <a:off x="768096" y="4087368"/>
            <a:ext cx="603504" cy="603504"/>
          </a:xfrm>
          <a:prstGeom prst="ellipse">
            <a:avLst/>
          </a:prstGeom>
          <a:solidFill>
            <a:srgbClr val="F2B441"/>
          </a:solidFill>
          <a:ln/>
          <a:effectLst>
            <a:outerShdw sx="100000" sy="100000" kx="0" ky="0" algn="bl" rotWithShape="0" blurRad="114300" dist="38100" dir="5400000">
              <a:srgbClr val="1A2440">
                <a:alpha val="16000"/>
              </a:srgbClr>
            </a:outerShdw>
          </a:effectLst>
        </p:spPr>
      </p:sp>
      <p:pic>
        <p:nvPicPr>
          <p:cNvPr id="26" name="Image 3" descr="/home/claude/build/icons/pie_navy.png"/>
          <p:cNvPicPr>
            <a:picLocks noChangeAspect="1"/>
          </p:cNvPicPr>
          <p:nvPr/>
        </p:nvPicPr>
        <p:blipFill>
          <a:blip r:embed="rId4"/>
          <a:stretch>
            <a:fillRect/>
          </a:stretch>
        </p:blipFill>
        <p:spPr>
          <a:xfrm>
            <a:off x="925007" y="4244279"/>
            <a:ext cx="289682" cy="289682"/>
          </a:xfrm>
          <a:prstGeom prst="rect">
            <a:avLst/>
          </a:prstGeom>
        </p:spPr>
      </p:pic>
      <p:sp>
        <p:nvSpPr>
          <p:cNvPr id="27" name="Text 21"/>
          <p:cNvSpPr/>
          <p:nvPr/>
        </p:nvSpPr>
        <p:spPr>
          <a:xfrm>
            <a:off x="1481328" y="4069080"/>
            <a:ext cx="2432304" cy="566928"/>
          </a:xfrm>
          <a:prstGeom prst="rect">
            <a:avLst/>
          </a:prstGeom>
          <a:noFill/>
          <a:ln/>
        </p:spPr>
        <p:txBody>
          <a:bodyPr wrap="square" lIns="0" tIns="0" rIns="0" bIns="0" rtlCol="0" anchor="ctr"/>
          <a:lstStyle/>
          <a:p>
            <a:pPr indent="0" marL="0">
              <a:buNone/>
            </a:pPr>
            <a:r>
              <a:rPr lang="en-US" sz="1550" b="1" dirty="0">
                <a:solidFill>
                  <a:srgbClr val="FFFFFF"/>
                </a:solidFill>
                <a:latin typeface="Bookman Old Style" pitchFamily="34" charset="0"/>
                <a:ea typeface="Bookman Old Style" pitchFamily="34" charset="-122"/>
                <a:cs typeface="Bookman Old Style" pitchFamily="34" charset="-120"/>
              </a:rPr>
              <a:t>Dual Analytics</a:t>
            </a:r>
            <a:endParaRPr lang="en-US" sz="1550" dirty="0"/>
          </a:p>
        </p:txBody>
      </p:sp>
      <p:sp>
        <p:nvSpPr>
          <p:cNvPr id="28" name="Text 22"/>
          <p:cNvSpPr/>
          <p:nvPr/>
        </p:nvSpPr>
        <p:spPr>
          <a:xfrm>
            <a:off x="786384" y="4654296"/>
            <a:ext cx="3072384" cy="603504"/>
          </a:xfrm>
          <a:prstGeom prst="rect">
            <a:avLst/>
          </a:prstGeom>
          <a:noFill/>
          <a:ln/>
        </p:spPr>
        <p:txBody>
          <a:bodyPr wrap="square" lIns="0" tIns="0" rIns="0" bIns="0" rtlCol="0" anchor="ctr"/>
          <a:lstStyle/>
          <a:p>
            <a:pPr indent="0" marL="0">
              <a:buNone/>
            </a:pPr>
            <a:r>
              <a:rPr lang="en-US" sz="1180" dirty="0">
                <a:solidFill>
                  <a:srgbClr val="CADCFC"/>
                </a:solidFill>
                <a:latin typeface="Arial" pitchFamily="34" charset="0"/>
                <a:ea typeface="Arial" pitchFamily="34" charset="-122"/>
                <a:cs typeface="Arial" pitchFamily="34" charset="-120"/>
              </a:rPr>
              <a:t>Operational dashboards for admins and rich wealth visualisations for customers.</a:t>
            </a:r>
            <a:endParaRPr lang="en-US" sz="1180" dirty="0"/>
          </a:p>
        </p:txBody>
      </p:sp>
      <p:sp>
        <p:nvSpPr>
          <p:cNvPr id="29" name="Shape 23"/>
          <p:cNvSpPr/>
          <p:nvPr/>
        </p:nvSpPr>
        <p:spPr>
          <a:xfrm>
            <a:off x="4325112" y="3867912"/>
            <a:ext cx="3529584" cy="1481328"/>
          </a:xfrm>
          <a:prstGeom prst="roundRect">
            <a:avLst>
              <a:gd name="adj" fmla="val 5556"/>
            </a:avLst>
          </a:prstGeom>
          <a:solidFill>
            <a:srgbClr val="16203F"/>
          </a:solidFill>
          <a:ln w="12700">
            <a:solidFill>
              <a:srgbClr val="2C3A63"/>
            </a:solidFill>
            <a:prstDash val="solid"/>
          </a:ln>
        </p:spPr>
      </p:sp>
      <p:sp>
        <p:nvSpPr>
          <p:cNvPr id="30" name="Shape 24"/>
          <p:cNvSpPr/>
          <p:nvPr/>
        </p:nvSpPr>
        <p:spPr>
          <a:xfrm>
            <a:off x="4544568" y="4087368"/>
            <a:ext cx="603504" cy="603504"/>
          </a:xfrm>
          <a:prstGeom prst="ellipse">
            <a:avLst/>
          </a:prstGeom>
          <a:solidFill>
            <a:srgbClr val="F2B441"/>
          </a:solidFill>
          <a:ln/>
          <a:effectLst>
            <a:outerShdw sx="100000" sy="100000" kx="0" ky="0" algn="bl" rotWithShape="0" blurRad="114300" dist="38100" dir="5400000">
              <a:srgbClr val="1A2440">
                <a:alpha val="16000"/>
              </a:srgbClr>
            </a:outerShdw>
          </a:effectLst>
        </p:spPr>
      </p:sp>
      <p:pic>
        <p:nvPicPr>
          <p:cNvPr id="31" name="Image 4" descr="/home/claude/build/icons/shield_navy.png"/>
          <p:cNvPicPr>
            <a:picLocks noChangeAspect="1"/>
          </p:cNvPicPr>
          <p:nvPr/>
        </p:nvPicPr>
        <p:blipFill>
          <a:blip r:embed="rId5"/>
          <a:stretch>
            <a:fillRect/>
          </a:stretch>
        </p:blipFill>
        <p:spPr>
          <a:xfrm>
            <a:off x="4701479" y="4244279"/>
            <a:ext cx="289682" cy="289682"/>
          </a:xfrm>
          <a:prstGeom prst="rect">
            <a:avLst/>
          </a:prstGeom>
        </p:spPr>
      </p:pic>
      <p:sp>
        <p:nvSpPr>
          <p:cNvPr id="32" name="Text 25"/>
          <p:cNvSpPr/>
          <p:nvPr/>
        </p:nvSpPr>
        <p:spPr>
          <a:xfrm>
            <a:off x="5257800" y="4069080"/>
            <a:ext cx="2432304" cy="566928"/>
          </a:xfrm>
          <a:prstGeom prst="rect">
            <a:avLst/>
          </a:prstGeom>
          <a:noFill/>
          <a:ln/>
        </p:spPr>
        <p:txBody>
          <a:bodyPr wrap="square" lIns="0" tIns="0" rIns="0" bIns="0" rtlCol="0" anchor="ctr"/>
          <a:lstStyle/>
          <a:p>
            <a:pPr indent="0" marL="0">
              <a:buNone/>
            </a:pPr>
            <a:r>
              <a:rPr lang="en-US" sz="1550" b="1" dirty="0">
                <a:solidFill>
                  <a:srgbClr val="FFFFFF"/>
                </a:solidFill>
                <a:latin typeface="Bookman Old Style" pitchFamily="34" charset="0"/>
                <a:ea typeface="Bookman Old Style" pitchFamily="34" charset="-122"/>
                <a:cs typeface="Bookman Old Style" pitchFamily="34" charset="-120"/>
              </a:rPr>
              <a:t>Secure by Design</a:t>
            </a:r>
            <a:endParaRPr lang="en-US" sz="1550" dirty="0"/>
          </a:p>
        </p:txBody>
      </p:sp>
      <p:sp>
        <p:nvSpPr>
          <p:cNvPr id="33" name="Text 26"/>
          <p:cNvSpPr/>
          <p:nvPr/>
        </p:nvSpPr>
        <p:spPr>
          <a:xfrm>
            <a:off x="4562856" y="4654296"/>
            <a:ext cx="3072384" cy="603504"/>
          </a:xfrm>
          <a:prstGeom prst="rect">
            <a:avLst/>
          </a:prstGeom>
          <a:noFill/>
          <a:ln/>
        </p:spPr>
        <p:txBody>
          <a:bodyPr wrap="square" lIns="0" tIns="0" rIns="0" bIns="0" rtlCol="0" anchor="ctr"/>
          <a:lstStyle/>
          <a:p>
            <a:pPr indent="0" marL="0">
              <a:buNone/>
            </a:pPr>
            <a:r>
              <a:rPr lang="en-US" sz="1180" dirty="0">
                <a:solidFill>
                  <a:srgbClr val="CADCFC"/>
                </a:solidFill>
                <a:latin typeface="Arial" pitchFamily="34" charset="0"/>
                <a:ea typeface="Arial" pitchFamily="34" charset="-122"/>
                <a:cs typeface="Arial" pitchFamily="34" charset="-120"/>
              </a:rPr>
              <a:t>Stateless JWT, BCrypt hashing and role-based access protect every request.</a:t>
            </a:r>
            <a:endParaRPr lang="en-US" sz="1180" dirty="0"/>
          </a:p>
        </p:txBody>
      </p:sp>
      <p:sp>
        <p:nvSpPr>
          <p:cNvPr id="34" name="Shape 27"/>
          <p:cNvSpPr/>
          <p:nvPr/>
        </p:nvSpPr>
        <p:spPr>
          <a:xfrm>
            <a:off x="8101584" y="3867912"/>
            <a:ext cx="3529584" cy="1481328"/>
          </a:xfrm>
          <a:prstGeom prst="roundRect">
            <a:avLst>
              <a:gd name="adj" fmla="val 5556"/>
            </a:avLst>
          </a:prstGeom>
          <a:solidFill>
            <a:srgbClr val="16203F"/>
          </a:solidFill>
          <a:ln w="12700">
            <a:solidFill>
              <a:srgbClr val="2C3A63"/>
            </a:solidFill>
            <a:prstDash val="solid"/>
          </a:ln>
        </p:spPr>
      </p:sp>
      <p:sp>
        <p:nvSpPr>
          <p:cNvPr id="35" name="Shape 28"/>
          <p:cNvSpPr/>
          <p:nvPr/>
        </p:nvSpPr>
        <p:spPr>
          <a:xfrm>
            <a:off x="8321040" y="4087368"/>
            <a:ext cx="603504" cy="603504"/>
          </a:xfrm>
          <a:prstGeom prst="ellipse">
            <a:avLst/>
          </a:prstGeom>
          <a:solidFill>
            <a:srgbClr val="F2B441"/>
          </a:solidFill>
          <a:ln/>
          <a:effectLst>
            <a:outerShdw sx="100000" sy="100000" kx="0" ky="0" algn="bl" rotWithShape="0" blurRad="114300" dist="38100" dir="5400000">
              <a:srgbClr val="1A2440">
                <a:alpha val="16000"/>
              </a:srgbClr>
            </a:outerShdw>
          </a:effectLst>
        </p:spPr>
      </p:sp>
      <p:pic>
        <p:nvPicPr>
          <p:cNvPr id="36" name="Image 5" descr="/home/claude/build/icons/bolt_navy.png"/>
          <p:cNvPicPr>
            <a:picLocks noChangeAspect="1"/>
          </p:cNvPicPr>
          <p:nvPr/>
        </p:nvPicPr>
        <p:blipFill>
          <a:blip r:embed="rId6"/>
          <a:stretch>
            <a:fillRect/>
          </a:stretch>
        </p:blipFill>
        <p:spPr>
          <a:xfrm>
            <a:off x="8477951" y="4244279"/>
            <a:ext cx="289682" cy="289682"/>
          </a:xfrm>
          <a:prstGeom prst="rect">
            <a:avLst/>
          </a:prstGeom>
        </p:spPr>
      </p:pic>
      <p:sp>
        <p:nvSpPr>
          <p:cNvPr id="37" name="Text 29"/>
          <p:cNvSpPr/>
          <p:nvPr/>
        </p:nvSpPr>
        <p:spPr>
          <a:xfrm>
            <a:off x="9034272" y="4069080"/>
            <a:ext cx="2432304" cy="566928"/>
          </a:xfrm>
          <a:prstGeom prst="rect">
            <a:avLst/>
          </a:prstGeom>
          <a:noFill/>
          <a:ln/>
        </p:spPr>
        <p:txBody>
          <a:bodyPr wrap="square" lIns="0" tIns="0" rIns="0" bIns="0" rtlCol="0" anchor="ctr"/>
          <a:lstStyle/>
          <a:p>
            <a:pPr indent="0" marL="0">
              <a:buNone/>
            </a:pPr>
            <a:r>
              <a:rPr lang="en-US" sz="1550" b="1" dirty="0">
                <a:solidFill>
                  <a:srgbClr val="FFFFFF"/>
                </a:solidFill>
                <a:latin typeface="Bookman Old Style" pitchFamily="34" charset="0"/>
                <a:ea typeface="Bookman Old Style" pitchFamily="34" charset="-122"/>
                <a:cs typeface="Bookman Old Style" pitchFamily="34" charset="-120"/>
              </a:rPr>
              <a:t>Enterprise Performance</a:t>
            </a:r>
            <a:endParaRPr lang="en-US" sz="1550" dirty="0"/>
          </a:p>
        </p:txBody>
      </p:sp>
      <p:sp>
        <p:nvSpPr>
          <p:cNvPr id="38" name="Text 30"/>
          <p:cNvSpPr/>
          <p:nvPr/>
        </p:nvSpPr>
        <p:spPr>
          <a:xfrm>
            <a:off x="8339328" y="4654296"/>
            <a:ext cx="3072384" cy="603504"/>
          </a:xfrm>
          <a:prstGeom prst="rect">
            <a:avLst/>
          </a:prstGeom>
          <a:noFill/>
          <a:ln/>
        </p:spPr>
        <p:txBody>
          <a:bodyPr wrap="square" lIns="0" tIns="0" rIns="0" bIns="0" rtlCol="0" anchor="ctr"/>
          <a:lstStyle/>
          <a:p>
            <a:pPr indent="0" marL="0">
              <a:buNone/>
            </a:pPr>
            <a:r>
              <a:rPr lang="en-US" sz="1180" dirty="0">
                <a:solidFill>
                  <a:srgbClr val="CADCFC"/>
                </a:solidFill>
                <a:latin typeface="Arial" pitchFamily="34" charset="0"/>
                <a:ea typeface="Arial" pitchFamily="34" charset="-122"/>
                <a:cs typeface="Arial" pitchFamily="34" charset="-120"/>
              </a:rPr>
              <a:t>Composite indexes, caching and an AOP audit log keep it fast and observable.</a:t>
            </a:r>
            <a:endParaRPr lang="en-US" sz="11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822960" cy="502920"/>
          </a:xfrm>
          <a:prstGeom prst="rect">
            <a:avLst/>
          </a:prstGeom>
          <a:noFill/>
          <a:ln/>
        </p:spPr>
        <p:txBody>
          <a:bodyPr wrap="square" lIns="0" tIns="0" rIns="0" bIns="0" rtlCol="0" anchor="ctr"/>
          <a:lstStyle/>
          <a:p>
            <a:pPr indent="0" marL="0">
              <a:buNone/>
            </a:pPr>
            <a:r>
              <a:rPr lang="en-US" sz="2600" b="1" dirty="0">
                <a:solidFill>
                  <a:srgbClr val="CADCFC"/>
                </a:solidFill>
                <a:latin typeface="Bookman Old Style" pitchFamily="34" charset="0"/>
                <a:ea typeface="Bookman Old Style" pitchFamily="34" charset="-122"/>
                <a:cs typeface="Bookman Old Style" pitchFamily="34" charset="-120"/>
              </a:rPr>
              <a:t>04</a:t>
            </a:r>
            <a:endParaRPr lang="en-US" sz="2600" dirty="0"/>
          </a:p>
        </p:txBody>
      </p:sp>
      <p:sp>
        <p:nvSpPr>
          <p:cNvPr id="3" name="Shape 1"/>
          <p:cNvSpPr/>
          <p:nvPr/>
        </p:nvSpPr>
        <p:spPr>
          <a:xfrm>
            <a:off x="1078992" y="457200"/>
            <a:ext cx="25603" cy="384048"/>
          </a:xfrm>
          <a:prstGeom prst="rect">
            <a:avLst/>
          </a:prstGeom>
          <a:solidFill>
            <a:srgbClr val="1E2761"/>
          </a:solidFill>
          <a:ln/>
        </p:spPr>
      </p:sp>
      <p:sp>
        <p:nvSpPr>
          <p:cNvPr id="4" name="Text 2"/>
          <p:cNvSpPr/>
          <p:nvPr/>
        </p:nvSpPr>
        <p:spPr>
          <a:xfrm>
            <a:off x="1225296" y="365760"/>
            <a:ext cx="9601200" cy="274320"/>
          </a:xfrm>
          <a:prstGeom prst="rect">
            <a:avLst/>
          </a:prstGeom>
          <a:noFill/>
          <a:ln/>
        </p:spPr>
        <p:txBody>
          <a:bodyPr wrap="square" lIns="0" tIns="0" rIns="0" bIns="0" rtlCol="0" anchor="ctr"/>
          <a:lstStyle/>
          <a:p>
            <a:pPr indent="0" marL="0">
              <a:buNone/>
            </a:pPr>
            <a:r>
              <a:rPr lang="en-US" sz="1150" b="1" spc="300" kern="0" dirty="0">
                <a:solidFill>
                  <a:srgbClr val="1E2761"/>
                </a:solidFill>
                <a:latin typeface="Arial" pitchFamily="34" charset="0"/>
                <a:ea typeface="Arial" pitchFamily="34" charset="-122"/>
                <a:cs typeface="Arial" pitchFamily="34" charset="-120"/>
              </a:rPr>
              <a:t>TECHNOLOGY STACK</a:t>
            </a:r>
            <a:endParaRPr lang="en-US" sz="1150" dirty="0"/>
          </a:p>
        </p:txBody>
      </p:sp>
      <p:sp>
        <p:nvSpPr>
          <p:cNvPr id="5" name="Text 3"/>
          <p:cNvSpPr/>
          <p:nvPr/>
        </p:nvSpPr>
        <p:spPr>
          <a:xfrm>
            <a:off x="1207008" y="603504"/>
            <a:ext cx="10424160" cy="566928"/>
          </a:xfrm>
          <a:prstGeom prst="rect">
            <a:avLst/>
          </a:prstGeom>
          <a:noFill/>
          <a:ln/>
        </p:spPr>
        <p:txBody>
          <a:bodyPr wrap="square" lIns="0" tIns="0" rIns="0" bIns="0" rtlCol="0" anchor="ctr"/>
          <a:lstStyle/>
          <a:p>
            <a:pPr indent="0" marL="0">
              <a:buNone/>
            </a:pPr>
            <a:r>
              <a:rPr lang="en-US" sz="2700" b="1" dirty="0">
                <a:solidFill>
                  <a:srgbClr val="1B2335"/>
                </a:solidFill>
                <a:latin typeface="Bookman Old Style" pitchFamily="34" charset="0"/>
                <a:ea typeface="Bookman Old Style" pitchFamily="34" charset="-122"/>
                <a:cs typeface="Bookman Old Style" pitchFamily="34" charset="-120"/>
              </a:rPr>
              <a:t>Enterprise-Grade, Decoupled Full Stack</a:t>
            </a:r>
            <a:endParaRPr lang="en-US" sz="2700" dirty="0"/>
          </a:p>
        </p:txBody>
      </p:sp>
      <p:sp>
        <p:nvSpPr>
          <p:cNvPr id="6" name="Shape 4"/>
          <p:cNvSpPr/>
          <p:nvPr/>
        </p:nvSpPr>
        <p:spPr>
          <a:xfrm>
            <a:off x="548640" y="1572768"/>
            <a:ext cx="3529584" cy="1783080"/>
          </a:xfrm>
          <a:prstGeom prst="roundRect">
            <a:avLst>
              <a:gd name="adj" fmla="val 4615"/>
            </a:avLst>
          </a:prstGeom>
          <a:solidFill>
            <a:srgbClr val="F4F7FC"/>
          </a:solidFill>
          <a:ln/>
          <a:effectLst>
            <a:outerShdw sx="100000" sy="100000" kx="0" ky="0" algn="bl" rotWithShape="0" blurRad="114300" dist="38100" dir="5400000">
              <a:srgbClr val="1A2440">
                <a:alpha val="16000"/>
              </a:srgbClr>
            </a:outerShdw>
          </a:effectLst>
        </p:spPr>
      </p:sp>
      <p:sp>
        <p:nvSpPr>
          <p:cNvPr id="7" name="Shape 5"/>
          <p:cNvSpPr/>
          <p:nvPr/>
        </p:nvSpPr>
        <p:spPr>
          <a:xfrm>
            <a:off x="786384" y="1810512"/>
            <a:ext cx="713232" cy="713232"/>
          </a:xfrm>
          <a:prstGeom prst="ellipse">
            <a:avLst/>
          </a:prstGeom>
          <a:solidFill>
            <a:srgbClr val="E8654F"/>
          </a:solidFill>
          <a:ln/>
          <a:effectLst>
            <a:outerShdw sx="100000" sy="100000" kx="0" ky="0" algn="bl" rotWithShape="0" blurRad="114300" dist="38100" dir="5400000">
              <a:srgbClr val="1A2440">
                <a:alpha val="16000"/>
              </a:srgbClr>
            </a:outerShdw>
          </a:effectLst>
        </p:spPr>
      </p:sp>
      <p:pic>
        <p:nvPicPr>
          <p:cNvPr id="8" name="Image 0" descr="/home/claude/build/icons/angular_white.png"/>
          <p:cNvPicPr>
            <a:picLocks noChangeAspect="1"/>
          </p:cNvPicPr>
          <p:nvPr/>
        </p:nvPicPr>
        <p:blipFill>
          <a:blip r:embed="rId1"/>
          <a:stretch>
            <a:fillRect/>
          </a:stretch>
        </p:blipFill>
        <p:spPr>
          <a:xfrm>
            <a:off x="971824" y="1995952"/>
            <a:ext cx="342351" cy="342351"/>
          </a:xfrm>
          <a:prstGeom prst="rect">
            <a:avLst/>
          </a:prstGeom>
        </p:spPr>
      </p:pic>
      <p:sp>
        <p:nvSpPr>
          <p:cNvPr id="9" name="Text 6"/>
          <p:cNvSpPr/>
          <p:nvPr/>
        </p:nvSpPr>
        <p:spPr>
          <a:xfrm>
            <a:off x="1627632" y="1828800"/>
            <a:ext cx="2295144" cy="384048"/>
          </a:xfrm>
          <a:prstGeom prst="rect">
            <a:avLst/>
          </a:prstGeom>
          <a:noFill/>
          <a:ln/>
        </p:spPr>
        <p:txBody>
          <a:bodyPr wrap="square" lIns="0" tIns="0" rIns="0" bIns="0" rtlCol="0" anchor="ctr"/>
          <a:lstStyle/>
          <a:p>
            <a:pPr indent="0" marL="0">
              <a:buNone/>
            </a:pPr>
            <a:r>
              <a:rPr lang="en-US" sz="1700" b="1" dirty="0">
                <a:solidFill>
                  <a:srgbClr val="1B2335"/>
                </a:solidFill>
                <a:latin typeface="Bookman Old Style" pitchFamily="34" charset="0"/>
                <a:ea typeface="Bookman Old Style" pitchFamily="34" charset="-122"/>
                <a:cs typeface="Bookman Old Style" pitchFamily="34" charset="-120"/>
              </a:rPr>
              <a:t>Angular 21</a:t>
            </a:r>
            <a:endParaRPr lang="en-US" sz="1700" dirty="0"/>
          </a:p>
        </p:txBody>
      </p:sp>
      <p:sp>
        <p:nvSpPr>
          <p:cNvPr id="10" name="Text 7"/>
          <p:cNvSpPr/>
          <p:nvPr/>
        </p:nvSpPr>
        <p:spPr>
          <a:xfrm>
            <a:off x="1627632" y="2231136"/>
            <a:ext cx="2295144" cy="274320"/>
          </a:xfrm>
          <a:prstGeom prst="rect">
            <a:avLst/>
          </a:prstGeom>
          <a:noFill/>
          <a:ln/>
        </p:spPr>
        <p:txBody>
          <a:bodyPr wrap="square" lIns="0" tIns="0" rIns="0" bIns="0" rtlCol="0" anchor="ctr"/>
          <a:lstStyle/>
          <a:p>
            <a:pPr indent="0" marL="0">
              <a:buNone/>
            </a:pPr>
            <a:r>
              <a:rPr lang="en-US" sz="1000" b="1" spc="120" kern="0" dirty="0">
                <a:solidFill>
                  <a:srgbClr val="E8654F"/>
                </a:solidFill>
                <a:latin typeface="Arial" pitchFamily="34" charset="0"/>
                <a:ea typeface="Arial" pitchFamily="34" charset="-122"/>
                <a:cs typeface="Arial" pitchFamily="34" charset="-120"/>
              </a:rPr>
              <a:t>FRONTEND SPA</a:t>
            </a:r>
            <a:endParaRPr lang="en-US" sz="1000" dirty="0"/>
          </a:p>
        </p:txBody>
      </p:sp>
      <p:sp>
        <p:nvSpPr>
          <p:cNvPr id="11" name="Text 8"/>
          <p:cNvSpPr/>
          <p:nvPr/>
        </p:nvSpPr>
        <p:spPr>
          <a:xfrm>
            <a:off x="804672" y="2615184"/>
            <a:ext cx="3026664" cy="594360"/>
          </a:xfrm>
          <a:prstGeom prst="rect">
            <a:avLst/>
          </a:prstGeom>
          <a:noFill/>
          <a:ln/>
        </p:spPr>
        <p:txBody>
          <a:bodyPr wrap="square" lIns="0" tIns="0" rIns="0" bIns="0" rtlCol="0" anchor="ctr"/>
          <a:lstStyle/>
          <a:p>
            <a:pPr indent="0" marL="0">
              <a:buNone/>
            </a:pPr>
            <a:r>
              <a:rPr lang="en-US" sz="1180" dirty="0">
                <a:solidFill>
                  <a:srgbClr val="5A6B8C"/>
                </a:solidFill>
                <a:latin typeface="Arial" pitchFamily="34" charset="0"/>
                <a:ea typeface="Arial" pitchFamily="34" charset="-122"/>
                <a:cs typeface="Arial" pitchFamily="34" charset="-120"/>
              </a:rPr>
              <a:t>Routing, HttpClient interceptors and guards map onto JWT + RBAC.</a:t>
            </a:r>
            <a:endParaRPr lang="en-US" sz="1180" dirty="0"/>
          </a:p>
        </p:txBody>
      </p:sp>
      <p:sp>
        <p:nvSpPr>
          <p:cNvPr id="12" name="Shape 9"/>
          <p:cNvSpPr/>
          <p:nvPr/>
        </p:nvSpPr>
        <p:spPr>
          <a:xfrm>
            <a:off x="4325112" y="1572768"/>
            <a:ext cx="3529584" cy="1783080"/>
          </a:xfrm>
          <a:prstGeom prst="roundRect">
            <a:avLst>
              <a:gd name="adj" fmla="val 4615"/>
            </a:avLst>
          </a:prstGeom>
          <a:solidFill>
            <a:srgbClr val="F4F7FC"/>
          </a:solidFill>
          <a:ln/>
          <a:effectLst>
            <a:outerShdw sx="100000" sy="100000" kx="0" ky="0" algn="bl" rotWithShape="0" blurRad="114300" dist="38100" dir="5400000">
              <a:srgbClr val="1A2440">
                <a:alpha val="16000"/>
              </a:srgbClr>
            </a:outerShdw>
          </a:effectLst>
        </p:spPr>
      </p:sp>
      <p:sp>
        <p:nvSpPr>
          <p:cNvPr id="13" name="Shape 10"/>
          <p:cNvSpPr/>
          <p:nvPr/>
        </p:nvSpPr>
        <p:spPr>
          <a:xfrm>
            <a:off x="4562856" y="1810512"/>
            <a:ext cx="713232" cy="713232"/>
          </a:xfrm>
          <a:prstGeom prst="ellipse">
            <a:avLst/>
          </a:prstGeom>
          <a:solidFill>
            <a:srgbClr val="3FB984"/>
          </a:solidFill>
          <a:ln/>
          <a:effectLst>
            <a:outerShdw sx="100000" sy="100000" kx="0" ky="0" algn="bl" rotWithShape="0" blurRad="114300" dist="38100" dir="5400000">
              <a:srgbClr val="1A2440">
                <a:alpha val="16000"/>
              </a:srgbClr>
            </a:outerShdw>
          </a:effectLst>
        </p:spPr>
      </p:sp>
      <p:pic>
        <p:nvPicPr>
          <p:cNvPr id="14" name="Image 1" descr="/home/claude/build/icons/java_white.png"/>
          <p:cNvPicPr>
            <a:picLocks noChangeAspect="1"/>
          </p:cNvPicPr>
          <p:nvPr/>
        </p:nvPicPr>
        <p:blipFill>
          <a:blip r:embed="rId2"/>
          <a:stretch>
            <a:fillRect/>
          </a:stretch>
        </p:blipFill>
        <p:spPr>
          <a:xfrm>
            <a:off x="4748296" y="1995952"/>
            <a:ext cx="342351" cy="342351"/>
          </a:xfrm>
          <a:prstGeom prst="rect">
            <a:avLst/>
          </a:prstGeom>
        </p:spPr>
      </p:pic>
      <p:sp>
        <p:nvSpPr>
          <p:cNvPr id="15" name="Text 11"/>
          <p:cNvSpPr/>
          <p:nvPr/>
        </p:nvSpPr>
        <p:spPr>
          <a:xfrm>
            <a:off x="5404104" y="1828800"/>
            <a:ext cx="2295144" cy="384048"/>
          </a:xfrm>
          <a:prstGeom prst="rect">
            <a:avLst/>
          </a:prstGeom>
          <a:noFill/>
          <a:ln/>
        </p:spPr>
        <p:txBody>
          <a:bodyPr wrap="square" lIns="0" tIns="0" rIns="0" bIns="0" rtlCol="0" anchor="ctr"/>
          <a:lstStyle/>
          <a:p>
            <a:pPr indent="0" marL="0">
              <a:buNone/>
            </a:pPr>
            <a:r>
              <a:rPr lang="en-US" sz="1700" b="1" dirty="0">
                <a:solidFill>
                  <a:srgbClr val="1B2335"/>
                </a:solidFill>
                <a:latin typeface="Bookman Old Style" pitchFamily="34" charset="0"/>
                <a:ea typeface="Bookman Old Style" pitchFamily="34" charset="-122"/>
                <a:cs typeface="Bookman Old Style" pitchFamily="34" charset="-120"/>
              </a:rPr>
              <a:t>Spring Boot 4</a:t>
            </a:r>
            <a:endParaRPr lang="en-US" sz="1700" dirty="0"/>
          </a:p>
        </p:txBody>
      </p:sp>
      <p:sp>
        <p:nvSpPr>
          <p:cNvPr id="16" name="Text 12"/>
          <p:cNvSpPr/>
          <p:nvPr/>
        </p:nvSpPr>
        <p:spPr>
          <a:xfrm>
            <a:off x="5404104" y="2231136"/>
            <a:ext cx="2295144" cy="274320"/>
          </a:xfrm>
          <a:prstGeom prst="rect">
            <a:avLst/>
          </a:prstGeom>
          <a:noFill/>
          <a:ln/>
        </p:spPr>
        <p:txBody>
          <a:bodyPr wrap="square" lIns="0" tIns="0" rIns="0" bIns="0" rtlCol="0" anchor="ctr"/>
          <a:lstStyle/>
          <a:p>
            <a:pPr indent="0" marL="0">
              <a:buNone/>
            </a:pPr>
            <a:r>
              <a:rPr lang="en-US" sz="1000" b="1" spc="120" kern="0" dirty="0">
                <a:solidFill>
                  <a:srgbClr val="3FB984"/>
                </a:solidFill>
                <a:latin typeface="Arial" pitchFamily="34" charset="0"/>
                <a:ea typeface="Arial" pitchFamily="34" charset="-122"/>
                <a:cs typeface="Arial" pitchFamily="34" charset="-120"/>
              </a:rPr>
              <a:t>BACKEND · JAVA 21</a:t>
            </a:r>
            <a:endParaRPr lang="en-US" sz="1000" dirty="0"/>
          </a:p>
        </p:txBody>
      </p:sp>
      <p:sp>
        <p:nvSpPr>
          <p:cNvPr id="17" name="Text 13"/>
          <p:cNvSpPr/>
          <p:nvPr/>
        </p:nvSpPr>
        <p:spPr>
          <a:xfrm>
            <a:off x="4581144" y="2615184"/>
            <a:ext cx="3026664" cy="594360"/>
          </a:xfrm>
          <a:prstGeom prst="rect">
            <a:avLst/>
          </a:prstGeom>
          <a:noFill/>
          <a:ln/>
        </p:spPr>
        <p:txBody>
          <a:bodyPr wrap="square" lIns="0" tIns="0" rIns="0" bIns="0" rtlCol="0" anchor="ctr"/>
          <a:lstStyle/>
          <a:p>
            <a:pPr indent="0" marL="0">
              <a:buNone/>
            </a:pPr>
            <a:r>
              <a:rPr lang="en-US" sz="1180" dirty="0">
                <a:solidFill>
                  <a:srgbClr val="5A6B8C"/>
                </a:solidFill>
                <a:latin typeface="Arial" pitchFamily="34" charset="0"/>
                <a:ea typeface="Arial" pitchFamily="34" charset="-122"/>
                <a:cs typeface="Arial" pitchFamily="34" charset="-120"/>
              </a:rPr>
              <a:t>Spring Security, Data JPA, AOP and caching as a modular monolith.</a:t>
            </a:r>
            <a:endParaRPr lang="en-US" sz="1180" dirty="0"/>
          </a:p>
        </p:txBody>
      </p:sp>
      <p:sp>
        <p:nvSpPr>
          <p:cNvPr id="18" name="Shape 14"/>
          <p:cNvSpPr/>
          <p:nvPr/>
        </p:nvSpPr>
        <p:spPr>
          <a:xfrm>
            <a:off x="8101584" y="1572768"/>
            <a:ext cx="3529584" cy="1783080"/>
          </a:xfrm>
          <a:prstGeom prst="roundRect">
            <a:avLst>
              <a:gd name="adj" fmla="val 4615"/>
            </a:avLst>
          </a:prstGeom>
          <a:solidFill>
            <a:srgbClr val="F4F7FC"/>
          </a:solidFill>
          <a:ln/>
          <a:effectLst>
            <a:outerShdw sx="100000" sy="100000" kx="0" ky="0" algn="bl" rotWithShape="0" blurRad="114300" dist="38100" dir="5400000">
              <a:srgbClr val="1A2440">
                <a:alpha val="16000"/>
              </a:srgbClr>
            </a:outerShdw>
          </a:effectLst>
        </p:spPr>
      </p:sp>
      <p:sp>
        <p:nvSpPr>
          <p:cNvPr id="19" name="Shape 15"/>
          <p:cNvSpPr/>
          <p:nvPr/>
        </p:nvSpPr>
        <p:spPr>
          <a:xfrm>
            <a:off x="8339328" y="1810512"/>
            <a:ext cx="713232" cy="713232"/>
          </a:xfrm>
          <a:prstGeom prst="ellipse">
            <a:avLst/>
          </a:prstGeom>
          <a:solidFill>
            <a:srgbClr val="1E2761"/>
          </a:solidFill>
          <a:ln/>
          <a:effectLst>
            <a:outerShdw sx="100000" sy="100000" kx="0" ky="0" algn="bl" rotWithShape="0" blurRad="114300" dist="38100" dir="5400000">
              <a:srgbClr val="1A2440">
                <a:alpha val="16000"/>
              </a:srgbClr>
            </a:outerShdw>
          </a:effectLst>
        </p:spPr>
      </p:sp>
      <p:pic>
        <p:nvPicPr>
          <p:cNvPr id="20" name="Image 2" descr="/home/claude/build/icons/database_white.png"/>
          <p:cNvPicPr>
            <a:picLocks noChangeAspect="1"/>
          </p:cNvPicPr>
          <p:nvPr/>
        </p:nvPicPr>
        <p:blipFill>
          <a:blip r:embed="rId3"/>
          <a:stretch>
            <a:fillRect/>
          </a:stretch>
        </p:blipFill>
        <p:spPr>
          <a:xfrm>
            <a:off x="8524768" y="1995952"/>
            <a:ext cx="342351" cy="342351"/>
          </a:xfrm>
          <a:prstGeom prst="rect">
            <a:avLst/>
          </a:prstGeom>
        </p:spPr>
      </p:pic>
      <p:sp>
        <p:nvSpPr>
          <p:cNvPr id="21" name="Text 16"/>
          <p:cNvSpPr/>
          <p:nvPr/>
        </p:nvSpPr>
        <p:spPr>
          <a:xfrm>
            <a:off x="9180576" y="1828800"/>
            <a:ext cx="2295144" cy="384048"/>
          </a:xfrm>
          <a:prstGeom prst="rect">
            <a:avLst/>
          </a:prstGeom>
          <a:noFill/>
          <a:ln/>
        </p:spPr>
        <p:txBody>
          <a:bodyPr wrap="square" lIns="0" tIns="0" rIns="0" bIns="0" rtlCol="0" anchor="ctr"/>
          <a:lstStyle/>
          <a:p>
            <a:pPr indent="0" marL="0">
              <a:buNone/>
            </a:pPr>
            <a:r>
              <a:rPr lang="en-US" sz="1700" b="1" dirty="0">
                <a:solidFill>
                  <a:srgbClr val="1B2335"/>
                </a:solidFill>
                <a:latin typeface="Bookman Old Style" pitchFamily="34" charset="0"/>
                <a:ea typeface="Bookman Old Style" pitchFamily="34" charset="-122"/>
                <a:cs typeface="Bookman Old Style" pitchFamily="34" charset="-120"/>
              </a:rPr>
              <a:t>MySQL 8</a:t>
            </a:r>
            <a:endParaRPr lang="en-US" sz="1700" dirty="0"/>
          </a:p>
        </p:txBody>
      </p:sp>
      <p:sp>
        <p:nvSpPr>
          <p:cNvPr id="22" name="Text 17"/>
          <p:cNvSpPr/>
          <p:nvPr/>
        </p:nvSpPr>
        <p:spPr>
          <a:xfrm>
            <a:off x="9180576" y="2231136"/>
            <a:ext cx="2295144" cy="274320"/>
          </a:xfrm>
          <a:prstGeom prst="rect">
            <a:avLst/>
          </a:prstGeom>
          <a:noFill/>
          <a:ln/>
        </p:spPr>
        <p:txBody>
          <a:bodyPr wrap="square" lIns="0" tIns="0" rIns="0" bIns="0" rtlCol="0" anchor="ctr"/>
          <a:lstStyle/>
          <a:p>
            <a:pPr indent="0" marL="0">
              <a:buNone/>
            </a:pPr>
            <a:r>
              <a:rPr lang="en-US" sz="1000" b="1" spc="120" kern="0" dirty="0">
                <a:solidFill>
                  <a:srgbClr val="1E2761"/>
                </a:solidFill>
                <a:latin typeface="Arial" pitchFamily="34" charset="0"/>
                <a:ea typeface="Arial" pitchFamily="34" charset="-122"/>
                <a:cs typeface="Arial" pitchFamily="34" charset="-120"/>
              </a:rPr>
              <a:t>PERSISTENCE</a:t>
            </a:r>
            <a:endParaRPr lang="en-US" sz="1000" dirty="0"/>
          </a:p>
        </p:txBody>
      </p:sp>
      <p:sp>
        <p:nvSpPr>
          <p:cNvPr id="23" name="Text 18"/>
          <p:cNvSpPr/>
          <p:nvPr/>
        </p:nvSpPr>
        <p:spPr>
          <a:xfrm>
            <a:off x="8357616" y="2615184"/>
            <a:ext cx="3026664" cy="594360"/>
          </a:xfrm>
          <a:prstGeom prst="rect">
            <a:avLst/>
          </a:prstGeom>
          <a:noFill/>
          <a:ln/>
        </p:spPr>
        <p:txBody>
          <a:bodyPr wrap="square" lIns="0" tIns="0" rIns="0" bIns="0" rtlCol="0" anchor="ctr"/>
          <a:lstStyle/>
          <a:p>
            <a:pPr indent="0" marL="0">
              <a:buNone/>
            </a:pPr>
            <a:r>
              <a:rPr lang="en-US" sz="1180" dirty="0">
                <a:solidFill>
                  <a:srgbClr val="5A6B8C"/>
                </a:solidFill>
                <a:latin typeface="Arial" pitchFamily="34" charset="0"/>
                <a:ea typeface="Arial" pitchFamily="34" charset="-122"/>
                <a:cs typeface="Arial" pitchFamily="34" charset="-120"/>
              </a:rPr>
              <a:t>ACID ledger with exact DECIMAL money types and FK integrity.</a:t>
            </a:r>
            <a:endParaRPr lang="en-US" sz="1180" dirty="0"/>
          </a:p>
        </p:txBody>
      </p:sp>
      <p:sp>
        <p:nvSpPr>
          <p:cNvPr id="24" name="Shape 19"/>
          <p:cNvSpPr/>
          <p:nvPr/>
        </p:nvSpPr>
        <p:spPr>
          <a:xfrm>
            <a:off x="548640" y="3611880"/>
            <a:ext cx="3529584" cy="1783080"/>
          </a:xfrm>
          <a:prstGeom prst="roundRect">
            <a:avLst>
              <a:gd name="adj" fmla="val 4615"/>
            </a:avLst>
          </a:prstGeom>
          <a:solidFill>
            <a:srgbClr val="F4F7FC"/>
          </a:solidFill>
          <a:ln/>
          <a:effectLst>
            <a:outerShdw sx="100000" sy="100000" kx="0" ky="0" algn="bl" rotWithShape="0" blurRad="114300" dist="38100" dir="5400000">
              <a:srgbClr val="1A2440">
                <a:alpha val="16000"/>
              </a:srgbClr>
            </a:outerShdw>
          </a:effectLst>
        </p:spPr>
      </p:sp>
      <p:sp>
        <p:nvSpPr>
          <p:cNvPr id="25" name="Shape 20"/>
          <p:cNvSpPr/>
          <p:nvPr/>
        </p:nvSpPr>
        <p:spPr>
          <a:xfrm>
            <a:off x="786384" y="3849624"/>
            <a:ext cx="713232" cy="713232"/>
          </a:xfrm>
          <a:prstGeom prst="ellipse">
            <a:avLst/>
          </a:prstGeom>
          <a:solidFill>
            <a:srgbClr val="F2B441"/>
          </a:solidFill>
          <a:ln/>
          <a:effectLst>
            <a:outerShdw sx="100000" sy="100000" kx="0" ky="0" algn="bl" rotWithShape="0" blurRad="114300" dist="38100" dir="5400000">
              <a:srgbClr val="1A2440">
                <a:alpha val="16000"/>
              </a:srgbClr>
            </a:outerShdw>
          </a:effectLst>
        </p:spPr>
      </p:sp>
      <p:pic>
        <p:nvPicPr>
          <p:cNvPr id="26" name="Image 3" descr="/home/claude/build/icons/key_white.png"/>
          <p:cNvPicPr>
            <a:picLocks noChangeAspect="1"/>
          </p:cNvPicPr>
          <p:nvPr/>
        </p:nvPicPr>
        <p:blipFill>
          <a:blip r:embed="rId4"/>
          <a:stretch>
            <a:fillRect/>
          </a:stretch>
        </p:blipFill>
        <p:spPr>
          <a:xfrm>
            <a:off x="971824" y="4035064"/>
            <a:ext cx="342351" cy="342351"/>
          </a:xfrm>
          <a:prstGeom prst="rect">
            <a:avLst/>
          </a:prstGeom>
        </p:spPr>
      </p:pic>
      <p:sp>
        <p:nvSpPr>
          <p:cNvPr id="27" name="Text 21"/>
          <p:cNvSpPr/>
          <p:nvPr/>
        </p:nvSpPr>
        <p:spPr>
          <a:xfrm>
            <a:off x="1627632" y="3867912"/>
            <a:ext cx="2295144" cy="384048"/>
          </a:xfrm>
          <a:prstGeom prst="rect">
            <a:avLst/>
          </a:prstGeom>
          <a:noFill/>
          <a:ln/>
        </p:spPr>
        <p:txBody>
          <a:bodyPr wrap="square" lIns="0" tIns="0" rIns="0" bIns="0" rtlCol="0" anchor="ctr"/>
          <a:lstStyle/>
          <a:p>
            <a:pPr indent="0" marL="0">
              <a:buNone/>
            </a:pPr>
            <a:r>
              <a:rPr lang="en-US" sz="1700" b="1" dirty="0">
                <a:solidFill>
                  <a:srgbClr val="1B2335"/>
                </a:solidFill>
                <a:latin typeface="Bookman Old Style" pitchFamily="34" charset="0"/>
                <a:ea typeface="Bookman Old Style" pitchFamily="34" charset="-122"/>
                <a:cs typeface="Bookman Old Style" pitchFamily="34" charset="-120"/>
              </a:rPr>
              <a:t>JWT · HS256</a:t>
            </a:r>
            <a:endParaRPr lang="en-US" sz="1700" dirty="0"/>
          </a:p>
        </p:txBody>
      </p:sp>
      <p:sp>
        <p:nvSpPr>
          <p:cNvPr id="28" name="Text 22"/>
          <p:cNvSpPr/>
          <p:nvPr/>
        </p:nvSpPr>
        <p:spPr>
          <a:xfrm>
            <a:off x="1627632" y="4270248"/>
            <a:ext cx="2295144" cy="274320"/>
          </a:xfrm>
          <a:prstGeom prst="rect">
            <a:avLst/>
          </a:prstGeom>
          <a:noFill/>
          <a:ln/>
        </p:spPr>
        <p:txBody>
          <a:bodyPr wrap="square" lIns="0" tIns="0" rIns="0" bIns="0" rtlCol="0" anchor="ctr"/>
          <a:lstStyle/>
          <a:p>
            <a:pPr indent="0" marL="0">
              <a:buNone/>
            </a:pPr>
            <a:r>
              <a:rPr lang="en-US" sz="1000" b="1" spc="120" kern="0" dirty="0">
                <a:solidFill>
                  <a:srgbClr val="F2B441"/>
                </a:solidFill>
                <a:latin typeface="Arial" pitchFamily="34" charset="0"/>
                <a:ea typeface="Arial" pitchFamily="34" charset="-122"/>
                <a:cs typeface="Arial" pitchFamily="34" charset="-120"/>
              </a:rPr>
              <a:t>AUTHENTICATION</a:t>
            </a:r>
            <a:endParaRPr lang="en-US" sz="1000" dirty="0"/>
          </a:p>
        </p:txBody>
      </p:sp>
      <p:sp>
        <p:nvSpPr>
          <p:cNvPr id="29" name="Text 23"/>
          <p:cNvSpPr/>
          <p:nvPr/>
        </p:nvSpPr>
        <p:spPr>
          <a:xfrm>
            <a:off x="804672" y="4654296"/>
            <a:ext cx="3026664" cy="594360"/>
          </a:xfrm>
          <a:prstGeom prst="rect">
            <a:avLst/>
          </a:prstGeom>
          <a:noFill/>
          <a:ln/>
        </p:spPr>
        <p:txBody>
          <a:bodyPr wrap="square" lIns="0" tIns="0" rIns="0" bIns="0" rtlCol="0" anchor="ctr"/>
          <a:lstStyle/>
          <a:p>
            <a:pPr indent="0" marL="0">
              <a:buNone/>
            </a:pPr>
            <a:r>
              <a:rPr lang="en-US" sz="1180" dirty="0">
                <a:solidFill>
                  <a:srgbClr val="5A6B8C"/>
                </a:solidFill>
                <a:latin typeface="Arial" pitchFamily="34" charset="0"/>
                <a:ea typeface="Arial" pitchFamily="34" charset="-122"/>
                <a:cs typeface="Arial" pitchFamily="34" charset="-120"/>
              </a:rPr>
              <a:t>Stateless signed tokens with a role claim enable horizontal scaling.</a:t>
            </a:r>
            <a:endParaRPr lang="en-US" sz="1180" dirty="0"/>
          </a:p>
        </p:txBody>
      </p:sp>
      <p:sp>
        <p:nvSpPr>
          <p:cNvPr id="30" name="Shape 24"/>
          <p:cNvSpPr/>
          <p:nvPr/>
        </p:nvSpPr>
        <p:spPr>
          <a:xfrm>
            <a:off x="4325112" y="3611880"/>
            <a:ext cx="3529584" cy="1783080"/>
          </a:xfrm>
          <a:prstGeom prst="roundRect">
            <a:avLst>
              <a:gd name="adj" fmla="val 4615"/>
            </a:avLst>
          </a:prstGeom>
          <a:solidFill>
            <a:srgbClr val="F4F7FC"/>
          </a:solidFill>
          <a:ln/>
          <a:effectLst>
            <a:outerShdw sx="100000" sy="100000" kx="0" ky="0" algn="bl" rotWithShape="0" blurRad="114300" dist="38100" dir="5400000">
              <a:srgbClr val="1A2440">
                <a:alpha val="16000"/>
              </a:srgbClr>
            </a:outerShdw>
          </a:effectLst>
        </p:spPr>
      </p:sp>
      <p:sp>
        <p:nvSpPr>
          <p:cNvPr id="31" name="Shape 25"/>
          <p:cNvSpPr/>
          <p:nvPr/>
        </p:nvSpPr>
        <p:spPr>
          <a:xfrm>
            <a:off x="4562856" y="3849624"/>
            <a:ext cx="713232" cy="713232"/>
          </a:xfrm>
          <a:prstGeom prst="ellipse">
            <a:avLst/>
          </a:prstGeom>
          <a:solidFill>
            <a:srgbClr val="9B6BD8"/>
          </a:solidFill>
          <a:ln/>
          <a:effectLst>
            <a:outerShdw sx="100000" sy="100000" kx="0" ky="0" algn="bl" rotWithShape="0" blurRad="114300" dist="38100" dir="5400000">
              <a:srgbClr val="1A2440">
                <a:alpha val="16000"/>
              </a:srgbClr>
            </a:outerShdw>
          </a:effectLst>
        </p:spPr>
      </p:sp>
      <p:pic>
        <p:nvPicPr>
          <p:cNvPr id="32" name="Image 4" descr="/home/claude/build/icons/pie_white.png"/>
          <p:cNvPicPr>
            <a:picLocks noChangeAspect="1"/>
          </p:cNvPicPr>
          <p:nvPr/>
        </p:nvPicPr>
        <p:blipFill>
          <a:blip r:embed="rId5"/>
          <a:stretch>
            <a:fillRect/>
          </a:stretch>
        </p:blipFill>
        <p:spPr>
          <a:xfrm>
            <a:off x="4748296" y="4035064"/>
            <a:ext cx="342351" cy="342351"/>
          </a:xfrm>
          <a:prstGeom prst="rect">
            <a:avLst/>
          </a:prstGeom>
        </p:spPr>
      </p:pic>
      <p:sp>
        <p:nvSpPr>
          <p:cNvPr id="33" name="Text 26"/>
          <p:cNvSpPr/>
          <p:nvPr/>
        </p:nvSpPr>
        <p:spPr>
          <a:xfrm>
            <a:off x="5404104" y="3867912"/>
            <a:ext cx="2295144" cy="384048"/>
          </a:xfrm>
          <a:prstGeom prst="rect">
            <a:avLst/>
          </a:prstGeom>
          <a:noFill/>
          <a:ln/>
        </p:spPr>
        <p:txBody>
          <a:bodyPr wrap="square" lIns="0" tIns="0" rIns="0" bIns="0" rtlCol="0" anchor="ctr"/>
          <a:lstStyle/>
          <a:p>
            <a:pPr indent="0" marL="0">
              <a:buNone/>
            </a:pPr>
            <a:r>
              <a:rPr lang="en-US" sz="1700" b="1" dirty="0">
                <a:solidFill>
                  <a:srgbClr val="1B2335"/>
                </a:solidFill>
                <a:latin typeface="Bookman Old Style" pitchFamily="34" charset="0"/>
                <a:ea typeface="Bookman Old Style" pitchFamily="34" charset="-122"/>
                <a:cs typeface="Bookman Old Style" pitchFamily="34" charset="-120"/>
              </a:rPr>
              <a:t>Chart.js 4</a:t>
            </a:r>
            <a:endParaRPr lang="en-US" sz="1700" dirty="0"/>
          </a:p>
        </p:txBody>
      </p:sp>
      <p:sp>
        <p:nvSpPr>
          <p:cNvPr id="34" name="Text 27"/>
          <p:cNvSpPr/>
          <p:nvPr/>
        </p:nvSpPr>
        <p:spPr>
          <a:xfrm>
            <a:off x="5404104" y="4270248"/>
            <a:ext cx="2295144" cy="274320"/>
          </a:xfrm>
          <a:prstGeom prst="rect">
            <a:avLst/>
          </a:prstGeom>
          <a:noFill/>
          <a:ln/>
        </p:spPr>
        <p:txBody>
          <a:bodyPr wrap="square" lIns="0" tIns="0" rIns="0" bIns="0" rtlCol="0" anchor="ctr"/>
          <a:lstStyle/>
          <a:p>
            <a:pPr indent="0" marL="0">
              <a:buNone/>
            </a:pPr>
            <a:r>
              <a:rPr lang="en-US" sz="1000" b="1" spc="120" kern="0" dirty="0">
                <a:solidFill>
                  <a:srgbClr val="9B6BD8"/>
                </a:solidFill>
                <a:latin typeface="Arial" pitchFamily="34" charset="0"/>
                <a:ea typeface="Arial" pitchFamily="34" charset="-122"/>
                <a:cs typeface="Arial" pitchFamily="34" charset="-120"/>
              </a:rPr>
              <a:t>VISUALISATION</a:t>
            </a:r>
            <a:endParaRPr lang="en-US" sz="1000" dirty="0"/>
          </a:p>
        </p:txBody>
      </p:sp>
      <p:sp>
        <p:nvSpPr>
          <p:cNvPr id="35" name="Text 28"/>
          <p:cNvSpPr/>
          <p:nvPr/>
        </p:nvSpPr>
        <p:spPr>
          <a:xfrm>
            <a:off x="4581144" y="4654296"/>
            <a:ext cx="3026664" cy="594360"/>
          </a:xfrm>
          <a:prstGeom prst="rect">
            <a:avLst/>
          </a:prstGeom>
          <a:noFill/>
          <a:ln/>
        </p:spPr>
        <p:txBody>
          <a:bodyPr wrap="square" lIns="0" tIns="0" rIns="0" bIns="0" rtlCol="0" anchor="ctr"/>
          <a:lstStyle/>
          <a:p>
            <a:pPr indent="0" marL="0">
              <a:buNone/>
            </a:pPr>
            <a:r>
              <a:rPr lang="en-US" sz="1180" dirty="0">
                <a:solidFill>
                  <a:srgbClr val="5A6B8C"/>
                </a:solidFill>
                <a:latin typeface="Arial" pitchFamily="34" charset="0"/>
                <a:ea typeface="Arial" pitchFamily="34" charset="-122"/>
                <a:cs typeface="Arial" pitchFamily="34" charset="-120"/>
              </a:rPr>
              <a:t>Lightweight doughnut, area and bar charts for both audiences.</a:t>
            </a:r>
            <a:endParaRPr lang="en-US" sz="1180" dirty="0"/>
          </a:p>
        </p:txBody>
      </p:sp>
      <p:sp>
        <p:nvSpPr>
          <p:cNvPr id="36" name="Shape 29"/>
          <p:cNvSpPr/>
          <p:nvPr/>
        </p:nvSpPr>
        <p:spPr>
          <a:xfrm>
            <a:off x="8101584" y="3611880"/>
            <a:ext cx="3529584" cy="1783080"/>
          </a:xfrm>
          <a:prstGeom prst="roundRect">
            <a:avLst>
              <a:gd name="adj" fmla="val 4615"/>
            </a:avLst>
          </a:prstGeom>
          <a:solidFill>
            <a:srgbClr val="F4F7FC"/>
          </a:solidFill>
          <a:ln/>
          <a:effectLst>
            <a:outerShdw sx="100000" sy="100000" kx="0" ky="0" algn="bl" rotWithShape="0" blurRad="114300" dist="38100" dir="5400000">
              <a:srgbClr val="1A2440">
                <a:alpha val="16000"/>
              </a:srgbClr>
            </a:outerShdw>
          </a:effectLst>
        </p:spPr>
      </p:sp>
      <p:sp>
        <p:nvSpPr>
          <p:cNvPr id="37" name="Shape 30"/>
          <p:cNvSpPr/>
          <p:nvPr/>
        </p:nvSpPr>
        <p:spPr>
          <a:xfrm>
            <a:off x="8339328" y="3849624"/>
            <a:ext cx="713232" cy="713232"/>
          </a:xfrm>
          <a:prstGeom prst="ellipse">
            <a:avLst/>
          </a:prstGeom>
          <a:solidFill>
            <a:srgbClr val="2C8DD6"/>
          </a:solidFill>
          <a:ln/>
          <a:effectLst>
            <a:outerShdw sx="100000" sy="100000" kx="0" ky="0" algn="bl" rotWithShape="0" blurRad="114300" dist="38100" dir="5400000">
              <a:srgbClr val="1A2440">
                <a:alpha val="16000"/>
              </a:srgbClr>
            </a:outerShdw>
          </a:effectLst>
        </p:spPr>
      </p:sp>
      <p:pic>
        <p:nvPicPr>
          <p:cNvPr id="38" name="Image 5" descr="/home/claude/build/icons/docker_white.png"/>
          <p:cNvPicPr>
            <a:picLocks noChangeAspect="1"/>
          </p:cNvPicPr>
          <p:nvPr/>
        </p:nvPicPr>
        <p:blipFill>
          <a:blip r:embed="rId6"/>
          <a:stretch>
            <a:fillRect/>
          </a:stretch>
        </p:blipFill>
        <p:spPr>
          <a:xfrm>
            <a:off x="8524768" y="4035064"/>
            <a:ext cx="342351" cy="342351"/>
          </a:xfrm>
          <a:prstGeom prst="rect">
            <a:avLst/>
          </a:prstGeom>
        </p:spPr>
      </p:pic>
      <p:sp>
        <p:nvSpPr>
          <p:cNvPr id="39" name="Text 31"/>
          <p:cNvSpPr/>
          <p:nvPr/>
        </p:nvSpPr>
        <p:spPr>
          <a:xfrm>
            <a:off x="9180576" y="3867912"/>
            <a:ext cx="2295144" cy="384048"/>
          </a:xfrm>
          <a:prstGeom prst="rect">
            <a:avLst/>
          </a:prstGeom>
          <a:noFill/>
          <a:ln/>
        </p:spPr>
        <p:txBody>
          <a:bodyPr wrap="square" lIns="0" tIns="0" rIns="0" bIns="0" rtlCol="0" anchor="ctr"/>
          <a:lstStyle/>
          <a:p>
            <a:pPr indent="0" marL="0">
              <a:buNone/>
            </a:pPr>
            <a:r>
              <a:rPr lang="en-US" sz="1700" b="1" dirty="0">
                <a:solidFill>
                  <a:srgbClr val="1B2335"/>
                </a:solidFill>
                <a:latin typeface="Bookman Old Style" pitchFamily="34" charset="0"/>
                <a:ea typeface="Bookman Old Style" pitchFamily="34" charset="-122"/>
                <a:cs typeface="Bookman Old Style" pitchFamily="34" charset="-120"/>
              </a:rPr>
              <a:t>Docker</a:t>
            </a:r>
            <a:endParaRPr lang="en-US" sz="1700" dirty="0"/>
          </a:p>
        </p:txBody>
      </p:sp>
      <p:sp>
        <p:nvSpPr>
          <p:cNvPr id="40" name="Text 32"/>
          <p:cNvSpPr/>
          <p:nvPr/>
        </p:nvSpPr>
        <p:spPr>
          <a:xfrm>
            <a:off x="9180576" y="4270248"/>
            <a:ext cx="2295144" cy="274320"/>
          </a:xfrm>
          <a:prstGeom prst="rect">
            <a:avLst/>
          </a:prstGeom>
          <a:noFill/>
          <a:ln/>
        </p:spPr>
        <p:txBody>
          <a:bodyPr wrap="square" lIns="0" tIns="0" rIns="0" bIns="0" rtlCol="0" anchor="ctr"/>
          <a:lstStyle/>
          <a:p>
            <a:pPr indent="0" marL="0">
              <a:buNone/>
            </a:pPr>
            <a:r>
              <a:rPr lang="en-US" sz="1000" b="1" spc="120" kern="0" dirty="0">
                <a:solidFill>
                  <a:srgbClr val="2C8DD6"/>
                </a:solidFill>
                <a:latin typeface="Arial" pitchFamily="34" charset="0"/>
                <a:ea typeface="Arial" pitchFamily="34" charset="-122"/>
                <a:cs typeface="Arial" pitchFamily="34" charset="-120"/>
              </a:rPr>
              <a:t>DEPLOYMENT</a:t>
            </a:r>
            <a:endParaRPr lang="en-US" sz="1000" dirty="0"/>
          </a:p>
        </p:txBody>
      </p:sp>
      <p:sp>
        <p:nvSpPr>
          <p:cNvPr id="41" name="Text 33"/>
          <p:cNvSpPr/>
          <p:nvPr/>
        </p:nvSpPr>
        <p:spPr>
          <a:xfrm>
            <a:off x="8357616" y="4654296"/>
            <a:ext cx="3026664" cy="594360"/>
          </a:xfrm>
          <a:prstGeom prst="rect">
            <a:avLst/>
          </a:prstGeom>
          <a:noFill/>
          <a:ln/>
        </p:spPr>
        <p:txBody>
          <a:bodyPr wrap="square" lIns="0" tIns="0" rIns="0" bIns="0" rtlCol="0" anchor="ctr"/>
          <a:lstStyle/>
          <a:p>
            <a:pPr indent="0" marL="0">
              <a:buNone/>
            </a:pPr>
            <a:r>
              <a:rPr lang="en-US" sz="1180" dirty="0">
                <a:solidFill>
                  <a:srgbClr val="5A6B8C"/>
                </a:solidFill>
                <a:latin typeface="Arial" pitchFamily="34" charset="0"/>
                <a:ea typeface="Arial" pitchFamily="34" charset="-122"/>
                <a:cs typeface="Arial" pitchFamily="34" charset="-120"/>
              </a:rPr>
              <a:t>Profile-driven, reproducible containers across dev, staging, prod.</a:t>
            </a:r>
            <a:endParaRPr lang="en-US" sz="11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822960" cy="502920"/>
          </a:xfrm>
          <a:prstGeom prst="rect">
            <a:avLst/>
          </a:prstGeom>
          <a:noFill/>
          <a:ln/>
        </p:spPr>
        <p:txBody>
          <a:bodyPr wrap="square" lIns="0" tIns="0" rIns="0" bIns="0" rtlCol="0" anchor="ctr"/>
          <a:lstStyle/>
          <a:p>
            <a:pPr indent="0" marL="0">
              <a:buNone/>
            </a:pPr>
            <a:r>
              <a:rPr lang="en-US" sz="2600" b="1" dirty="0">
                <a:solidFill>
                  <a:srgbClr val="CADCFC"/>
                </a:solidFill>
                <a:latin typeface="Bookman Old Style" pitchFamily="34" charset="0"/>
                <a:ea typeface="Bookman Old Style" pitchFamily="34" charset="-122"/>
                <a:cs typeface="Bookman Old Style" pitchFamily="34" charset="-120"/>
              </a:rPr>
              <a:t>05</a:t>
            </a:r>
            <a:endParaRPr lang="en-US" sz="2600" dirty="0"/>
          </a:p>
        </p:txBody>
      </p:sp>
      <p:sp>
        <p:nvSpPr>
          <p:cNvPr id="3" name="Shape 1"/>
          <p:cNvSpPr/>
          <p:nvPr/>
        </p:nvSpPr>
        <p:spPr>
          <a:xfrm>
            <a:off x="1078992" y="457200"/>
            <a:ext cx="25603" cy="384048"/>
          </a:xfrm>
          <a:prstGeom prst="rect">
            <a:avLst/>
          </a:prstGeom>
          <a:solidFill>
            <a:srgbClr val="1E2761"/>
          </a:solidFill>
          <a:ln/>
        </p:spPr>
      </p:sp>
      <p:sp>
        <p:nvSpPr>
          <p:cNvPr id="4" name="Text 2"/>
          <p:cNvSpPr/>
          <p:nvPr/>
        </p:nvSpPr>
        <p:spPr>
          <a:xfrm>
            <a:off x="1225296" y="365760"/>
            <a:ext cx="9601200" cy="274320"/>
          </a:xfrm>
          <a:prstGeom prst="rect">
            <a:avLst/>
          </a:prstGeom>
          <a:noFill/>
          <a:ln/>
        </p:spPr>
        <p:txBody>
          <a:bodyPr wrap="square" lIns="0" tIns="0" rIns="0" bIns="0" rtlCol="0" anchor="ctr"/>
          <a:lstStyle/>
          <a:p>
            <a:pPr indent="0" marL="0">
              <a:buNone/>
            </a:pPr>
            <a:r>
              <a:rPr lang="en-US" sz="1150" b="1" spc="300" kern="0" dirty="0">
                <a:solidFill>
                  <a:srgbClr val="1E2761"/>
                </a:solidFill>
                <a:latin typeface="Arial" pitchFamily="34" charset="0"/>
                <a:ea typeface="Arial" pitchFamily="34" charset="-122"/>
                <a:cs typeface="Arial" pitchFamily="34" charset="-120"/>
              </a:rPr>
              <a:t>SYSTEM ARCHITECTURE</a:t>
            </a:r>
            <a:endParaRPr lang="en-US" sz="1150" dirty="0"/>
          </a:p>
        </p:txBody>
      </p:sp>
      <p:sp>
        <p:nvSpPr>
          <p:cNvPr id="5" name="Text 3"/>
          <p:cNvSpPr/>
          <p:nvPr/>
        </p:nvSpPr>
        <p:spPr>
          <a:xfrm>
            <a:off x="1207008" y="603504"/>
            <a:ext cx="10424160" cy="566928"/>
          </a:xfrm>
          <a:prstGeom prst="rect">
            <a:avLst/>
          </a:prstGeom>
          <a:noFill/>
          <a:ln/>
        </p:spPr>
        <p:txBody>
          <a:bodyPr wrap="square" lIns="0" tIns="0" rIns="0" bIns="0" rtlCol="0" anchor="ctr"/>
          <a:lstStyle/>
          <a:p>
            <a:pPr indent="0" marL="0">
              <a:buNone/>
            </a:pPr>
            <a:r>
              <a:rPr lang="en-US" sz="2700" b="1" dirty="0">
                <a:solidFill>
                  <a:srgbClr val="1B2335"/>
                </a:solidFill>
                <a:latin typeface="Bookman Old Style" pitchFamily="34" charset="0"/>
                <a:ea typeface="Bookman Old Style" pitchFamily="34" charset="-122"/>
                <a:cs typeface="Bookman Old Style" pitchFamily="34" charset="-120"/>
              </a:rPr>
              <a:t>Layered N-Tier Request Lifecycle</a:t>
            </a:r>
            <a:endParaRPr lang="en-US" sz="2700" dirty="0"/>
          </a:p>
        </p:txBody>
      </p:sp>
      <p:pic>
        <p:nvPicPr>
          <p:cNvPr id="6" name="Image 0" descr="/home/claude/build/assets/component_diagram.png"/>
          <p:cNvPicPr>
            <a:picLocks noChangeAspect="1"/>
          </p:cNvPicPr>
          <p:nvPr/>
        </p:nvPicPr>
        <p:blipFill>
          <a:blip r:embed="rId1"/>
          <a:stretch>
            <a:fillRect/>
          </a:stretch>
        </p:blipFill>
        <p:spPr>
          <a:xfrm>
            <a:off x="2459736" y="1417320"/>
            <a:ext cx="7242048" cy="4526280"/>
          </a:xfrm>
          <a:prstGeom prst="rect">
            <a:avLst/>
          </a:prstGeom>
        </p:spPr>
      </p:pic>
      <p:sp>
        <p:nvSpPr>
          <p:cNvPr id="7" name="Text 4"/>
          <p:cNvSpPr/>
          <p:nvPr/>
        </p:nvSpPr>
        <p:spPr>
          <a:xfrm>
            <a:off x="548640" y="6199632"/>
            <a:ext cx="11064240" cy="365760"/>
          </a:xfrm>
          <a:prstGeom prst="rect">
            <a:avLst/>
          </a:prstGeom>
          <a:noFill/>
          <a:ln/>
        </p:spPr>
        <p:txBody>
          <a:bodyPr wrap="square" lIns="0" tIns="0" rIns="0" bIns="0" rtlCol="0" anchor="ctr"/>
          <a:lstStyle/>
          <a:p>
            <a:pPr algn="ctr" indent="0" marL="0">
              <a:buNone/>
            </a:pPr>
            <a:r>
              <a:rPr lang="en-US" sz="1250" i="1" dirty="0">
                <a:solidFill>
                  <a:srgbClr val="5A6B8C"/>
                </a:solidFill>
                <a:latin typeface="Arial" pitchFamily="34" charset="0"/>
                <a:ea typeface="Arial" pitchFamily="34" charset="-122"/>
                <a:cs typeface="Arial" pitchFamily="34" charset="-120"/>
              </a:rPr>
              <a:t>Angular SPA  →  JWT-secured Spring Boot API  →  Business services  →  Spring Data JPA  →  MySQL  ·  stateless JSON over REST</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822960" cy="502920"/>
          </a:xfrm>
          <a:prstGeom prst="rect">
            <a:avLst/>
          </a:prstGeom>
          <a:noFill/>
          <a:ln/>
        </p:spPr>
        <p:txBody>
          <a:bodyPr wrap="square" lIns="0" tIns="0" rIns="0" bIns="0" rtlCol="0" anchor="ctr"/>
          <a:lstStyle/>
          <a:p>
            <a:pPr indent="0" marL="0">
              <a:buNone/>
            </a:pPr>
            <a:r>
              <a:rPr lang="en-US" sz="2600" b="1" dirty="0">
                <a:solidFill>
                  <a:srgbClr val="CADCFC"/>
                </a:solidFill>
                <a:latin typeface="Bookman Old Style" pitchFamily="34" charset="0"/>
                <a:ea typeface="Bookman Old Style" pitchFamily="34" charset="-122"/>
                <a:cs typeface="Bookman Old Style" pitchFamily="34" charset="-120"/>
              </a:rPr>
              <a:t>06</a:t>
            </a:r>
            <a:endParaRPr lang="en-US" sz="2600" dirty="0"/>
          </a:p>
        </p:txBody>
      </p:sp>
      <p:sp>
        <p:nvSpPr>
          <p:cNvPr id="3" name="Shape 1"/>
          <p:cNvSpPr/>
          <p:nvPr/>
        </p:nvSpPr>
        <p:spPr>
          <a:xfrm>
            <a:off x="1078992" y="457200"/>
            <a:ext cx="25603" cy="384048"/>
          </a:xfrm>
          <a:prstGeom prst="rect">
            <a:avLst/>
          </a:prstGeom>
          <a:solidFill>
            <a:srgbClr val="3FB984"/>
          </a:solidFill>
          <a:ln/>
        </p:spPr>
      </p:sp>
      <p:sp>
        <p:nvSpPr>
          <p:cNvPr id="4" name="Text 2"/>
          <p:cNvSpPr/>
          <p:nvPr/>
        </p:nvSpPr>
        <p:spPr>
          <a:xfrm>
            <a:off x="1225296" y="365760"/>
            <a:ext cx="9601200" cy="274320"/>
          </a:xfrm>
          <a:prstGeom prst="rect">
            <a:avLst/>
          </a:prstGeom>
          <a:noFill/>
          <a:ln/>
        </p:spPr>
        <p:txBody>
          <a:bodyPr wrap="square" lIns="0" tIns="0" rIns="0" bIns="0" rtlCol="0" anchor="ctr"/>
          <a:lstStyle/>
          <a:p>
            <a:pPr indent="0" marL="0">
              <a:buNone/>
            </a:pPr>
            <a:r>
              <a:rPr lang="en-US" sz="1150" b="1" spc="300" kern="0" dirty="0">
                <a:solidFill>
                  <a:srgbClr val="3FB984"/>
                </a:solidFill>
                <a:latin typeface="Arial" pitchFamily="34" charset="0"/>
                <a:ea typeface="Arial" pitchFamily="34" charset="-122"/>
                <a:cs typeface="Arial" pitchFamily="34" charset="-120"/>
              </a:rPr>
              <a:t>KEY FEATURES · 1 OF 3</a:t>
            </a:r>
            <a:endParaRPr lang="en-US" sz="1150" dirty="0"/>
          </a:p>
        </p:txBody>
      </p:sp>
      <p:sp>
        <p:nvSpPr>
          <p:cNvPr id="5" name="Text 3"/>
          <p:cNvSpPr/>
          <p:nvPr/>
        </p:nvSpPr>
        <p:spPr>
          <a:xfrm>
            <a:off x="1207008" y="603504"/>
            <a:ext cx="10424160" cy="566928"/>
          </a:xfrm>
          <a:prstGeom prst="rect">
            <a:avLst/>
          </a:prstGeom>
          <a:noFill/>
          <a:ln/>
        </p:spPr>
        <p:txBody>
          <a:bodyPr wrap="square" lIns="0" tIns="0" rIns="0" bIns="0" rtlCol="0" anchor="ctr"/>
          <a:lstStyle/>
          <a:p>
            <a:pPr indent="0" marL="0">
              <a:buNone/>
            </a:pPr>
            <a:r>
              <a:rPr lang="en-US" sz="2700" b="1" dirty="0">
                <a:solidFill>
                  <a:srgbClr val="1B2335"/>
                </a:solidFill>
                <a:latin typeface="Bookman Old Style" pitchFamily="34" charset="0"/>
                <a:ea typeface="Bookman Old Style" pitchFamily="34" charset="-122"/>
                <a:cs typeface="Bookman Old Style" pitchFamily="34" charset="-120"/>
              </a:rPr>
              <a:t>Core Banking &amp; Transactions</a:t>
            </a:r>
            <a:endParaRPr lang="en-US" sz="2700" dirty="0"/>
          </a:p>
        </p:txBody>
      </p:sp>
      <p:sp>
        <p:nvSpPr>
          <p:cNvPr id="6" name="Shape 4"/>
          <p:cNvSpPr/>
          <p:nvPr/>
        </p:nvSpPr>
        <p:spPr>
          <a:xfrm>
            <a:off x="640080" y="1627632"/>
            <a:ext cx="603504" cy="603504"/>
          </a:xfrm>
          <a:prstGeom prst="ellipse">
            <a:avLst/>
          </a:prstGeom>
          <a:solidFill>
            <a:srgbClr val="3FB984"/>
          </a:solidFill>
          <a:ln/>
          <a:effectLst>
            <a:outerShdw sx="100000" sy="100000" kx="0" ky="0" algn="bl" rotWithShape="0" blurRad="114300" dist="38100" dir="5400000">
              <a:srgbClr val="1A2440">
                <a:alpha val="16000"/>
              </a:srgbClr>
            </a:outerShdw>
          </a:effectLst>
        </p:spPr>
      </p:sp>
      <p:pic>
        <p:nvPicPr>
          <p:cNvPr id="7" name="Image 0" descr="/home/claude/build/icons/user_navy.png"/>
          <p:cNvPicPr>
            <a:picLocks noChangeAspect="1"/>
          </p:cNvPicPr>
          <p:nvPr/>
        </p:nvPicPr>
        <p:blipFill>
          <a:blip r:embed="rId1"/>
          <a:stretch>
            <a:fillRect/>
          </a:stretch>
        </p:blipFill>
        <p:spPr>
          <a:xfrm>
            <a:off x="796991" y="1784543"/>
            <a:ext cx="289682" cy="289682"/>
          </a:xfrm>
          <a:prstGeom prst="rect">
            <a:avLst/>
          </a:prstGeom>
        </p:spPr>
      </p:pic>
      <p:sp>
        <p:nvSpPr>
          <p:cNvPr id="8" name="Text 5"/>
          <p:cNvSpPr/>
          <p:nvPr/>
        </p:nvSpPr>
        <p:spPr>
          <a:xfrm>
            <a:off x="1417320" y="1591056"/>
            <a:ext cx="5120640" cy="365760"/>
          </a:xfrm>
          <a:prstGeom prst="rect">
            <a:avLst/>
          </a:prstGeom>
          <a:noFill/>
          <a:ln/>
        </p:spPr>
        <p:txBody>
          <a:bodyPr wrap="square" lIns="0" tIns="0" rIns="0" bIns="0" rtlCol="0" anchor="ctr"/>
          <a:lstStyle/>
          <a:p>
            <a:pPr indent="0" marL="0">
              <a:buNone/>
            </a:pPr>
            <a:r>
              <a:rPr lang="en-US" sz="1650" b="1" dirty="0">
                <a:solidFill>
                  <a:srgbClr val="1B2335"/>
                </a:solidFill>
                <a:latin typeface="Bookman Old Style" pitchFamily="34" charset="0"/>
                <a:ea typeface="Bookman Old Style" pitchFamily="34" charset="-122"/>
                <a:cs typeface="Bookman Old Style" pitchFamily="34" charset="-120"/>
              </a:rPr>
              <a:t>Secure Onboarding</a:t>
            </a:r>
            <a:endParaRPr lang="en-US" sz="1650" dirty="0"/>
          </a:p>
        </p:txBody>
      </p:sp>
      <p:sp>
        <p:nvSpPr>
          <p:cNvPr id="9" name="Text 6"/>
          <p:cNvSpPr/>
          <p:nvPr/>
        </p:nvSpPr>
        <p:spPr>
          <a:xfrm>
            <a:off x="1417320" y="1956816"/>
            <a:ext cx="5212080" cy="548640"/>
          </a:xfrm>
          <a:prstGeom prst="rect">
            <a:avLst/>
          </a:prstGeom>
          <a:noFill/>
          <a:ln/>
        </p:spPr>
        <p:txBody>
          <a:bodyPr wrap="square" lIns="0" tIns="0" rIns="0" bIns="0" rtlCol="0" anchor="ctr"/>
          <a:lstStyle/>
          <a:p>
            <a:pPr indent="0" marL="0">
              <a:buNone/>
            </a:pPr>
            <a:r>
              <a:rPr lang="en-US" sz="1250" dirty="0">
                <a:solidFill>
                  <a:srgbClr val="5A6B8C"/>
                </a:solidFill>
                <a:latin typeface="Arial" pitchFamily="34" charset="0"/>
                <a:ea typeface="Arial" pitchFamily="34" charset="-122"/>
                <a:cs typeface="Arial" pitchFamily="34" charset="-120"/>
              </a:rPr>
              <a:t>KYC capture (Aadhaar, PAN) with BCrypt-hashed credentials and password-strength rules.</a:t>
            </a:r>
            <a:endParaRPr lang="en-US" sz="1250" dirty="0"/>
          </a:p>
        </p:txBody>
      </p:sp>
      <p:sp>
        <p:nvSpPr>
          <p:cNvPr id="10" name="Shape 7"/>
          <p:cNvSpPr/>
          <p:nvPr/>
        </p:nvSpPr>
        <p:spPr>
          <a:xfrm>
            <a:off x="640080" y="2761488"/>
            <a:ext cx="603504" cy="603504"/>
          </a:xfrm>
          <a:prstGeom prst="ellipse">
            <a:avLst/>
          </a:prstGeom>
          <a:solidFill>
            <a:srgbClr val="3FB984"/>
          </a:solidFill>
          <a:ln/>
          <a:effectLst>
            <a:outerShdw sx="100000" sy="100000" kx="0" ky="0" algn="bl" rotWithShape="0" blurRad="114300" dist="38100" dir="5400000">
              <a:srgbClr val="1A2440">
                <a:alpha val="16000"/>
              </a:srgbClr>
            </a:outerShdw>
          </a:effectLst>
        </p:spPr>
      </p:sp>
      <p:pic>
        <p:nvPicPr>
          <p:cNvPr id="11" name="Image 1" descr="/home/claude/build/icons/check_navy.png"/>
          <p:cNvPicPr>
            <a:picLocks noChangeAspect="1"/>
          </p:cNvPicPr>
          <p:nvPr/>
        </p:nvPicPr>
        <p:blipFill>
          <a:blip r:embed="rId2"/>
          <a:stretch>
            <a:fillRect/>
          </a:stretch>
        </p:blipFill>
        <p:spPr>
          <a:xfrm>
            <a:off x="796991" y="2918399"/>
            <a:ext cx="289682" cy="289682"/>
          </a:xfrm>
          <a:prstGeom prst="rect">
            <a:avLst/>
          </a:prstGeom>
        </p:spPr>
      </p:pic>
      <p:sp>
        <p:nvSpPr>
          <p:cNvPr id="12" name="Text 8"/>
          <p:cNvSpPr/>
          <p:nvPr/>
        </p:nvSpPr>
        <p:spPr>
          <a:xfrm>
            <a:off x="1417320" y="2724912"/>
            <a:ext cx="5120640" cy="365760"/>
          </a:xfrm>
          <a:prstGeom prst="rect">
            <a:avLst/>
          </a:prstGeom>
          <a:noFill/>
          <a:ln/>
        </p:spPr>
        <p:txBody>
          <a:bodyPr wrap="square" lIns="0" tIns="0" rIns="0" bIns="0" rtlCol="0" anchor="ctr"/>
          <a:lstStyle/>
          <a:p>
            <a:pPr indent="0" marL="0">
              <a:buNone/>
            </a:pPr>
            <a:r>
              <a:rPr lang="en-US" sz="1650" b="1" dirty="0">
                <a:solidFill>
                  <a:srgbClr val="1B2335"/>
                </a:solidFill>
                <a:latin typeface="Bookman Old Style" pitchFamily="34" charset="0"/>
                <a:ea typeface="Bookman Old Style" pitchFamily="34" charset="-122"/>
                <a:cs typeface="Bookman Old Style" pitchFamily="34" charset="-120"/>
              </a:rPr>
              <a:t>Account Approval Lifecycle</a:t>
            </a:r>
            <a:endParaRPr lang="en-US" sz="1650" dirty="0"/>
          </a:p>
        </p:txBody>
      </p:sp>
      <p:sp>
        <p:nvSpPr>
          <p:cNvPr id="13" name="Text 9"/>
          <p:cNvSpPr/>
          <p:nvPr/>
        </p:nvSpPr>
        <p:spPr>
          <a:xfrm>
            <a:off x="1417320" y="3090672"/>
            <a:ext cx="5212080" cy="548640"/>
          </a:xfrm>
          <a:prstGeom prst="rect">
            <a:avLst/>
          </a:prstGeom>
          <a:noFill/>
          <a:ln/>
        </p:spPr>
        <p:txBody>
          <a:bodyPr wrap="square" lIns="0" tIns="0" rIns="0" bIns="0" rtlCol="0" anchor="ctr"/>
          <a:lstStyle/>
          <a:p>
            <a:pPr indent="0" marL="0">
              <a:buNone/>
            </a:pPr>
            <a:r>
              <a:rPr lang="en-US" sz="1250" dirty="0">
                <a:solidFill>
                  <a:srgbClr val="5A6B8C"/>
                </a:solidFill>
                <a:latin typeface="Arial" pitchFamily="34" charset="0"/>
                <a:ea typeface="Arial" pitchFamily="34" charset="-122"/>
                <a:cs typeface="Arial" pitchFamily="34" charset="-120"/>
              </a:rPr>
              <a:t>New accounts start PENDING_APPROVAL; admins activate before any money moves.</a:t>
            </a:r>
            <a:endParaRPr lang="en-US" sz="1250" dirty="0"/>
          </a:p>
        </p:txBody>
      </p:sp>
      <p:sp>
        <p:nvSpPr>
          <p:cNvPr id="14" name="Shape 10"/>
          <p:cNvSpPr/>
          <p:nvPr/>
        </p:nvSpPr>
        <p:spPr>
          <a:xfrm>
            <a:off x="640080" y="3895344"/>
            <a:ext cx="603504" cy="603504"/>
          </a:xfrm>
          <a:prstGeom prst="ellipse">
            <a:avLst/>
          </a:prstGeom>
          <a:solidFill>
            <a:srgbClr val="3FB984"/>
          </a:solidFill>
          <a:ln/>
          <a:effectLst>
            <a:outerShdw sx="100000" sy="100000" kx="0" ky="0" algn="bl" rotWithShape="0" blurRad="114300" dist="38100" dir="5400000">
              <a:srgbClr val="1A2440">
                <a:alpha val="16000"/>
              </a:srgbClr>
            </a:outerShdw>
          </a:effectLst>
        </p:spPr>
      </p:sp>
      <p:pic>
        <p:nvPicPr>
          <p:cNvPr id="15" name="Image 2" descr="/home/claude/build/icons/exchange_navy.png"/>
          <p:cNvPicPr>
            <a:picLocks noChangeAspect="1"/>
          </p:cNvPicPr>
          <p:nvPr/>
        </p:nvPicPr>
        <p:blipFill>
          <a:blip r:embed="rId3"/>
          <a:stretch>
            <a:fillRect/>
          </a:stretch>
        </p:blipFill>
        <p:spPr>
          <a:xfrm>
            <a:off x="796991" y="4052255"/>
            <a:ext cx="289682" cy="289682"/>
          </a:xfrm>
          <a:prstGeom prst="rect">
            <a:avLst/>
          </a:prstGeom>
        </p:spPr>
      </p:pic>
      <p:sp>
        <p:nvSpPr>
          <p:cNvPr id="16" name="Text 11"/>
          <p:cNvSpPr/>
          <p:nvPr/>
        </p:nvSpPr>
        <p:spPr>
          <a:xfrm>
            <a:off x="1417320" y="3858768"/>
            <a:ext cx="5120640" cy="365760"/>
          </a:xfrm>
          <a:prstGeom prst="rect">
            <a:avLst/>
          </a:prstGeom>
          <a:noFill/>
          <a:ln/>
        </p:spPr>
        <p:txBody>
          <a:bodyPr wrap="square" lIns="0" tIns="0" rIns="0" bIns="0" rtlCol="0" anchor="ctr"/>
          <a:lstStyle/>
          <a:p>
            <a:pPr indent="0" marL="0">
              <a:buNone/>
            </a:pPr>
            <a:r>
              <a:rPr lang="en-US" sz="1650" b="1" dirty="0">
                <a:solidFill>
                  <a:srgbClr val="1B2335"/>
                </a:solidFill>
                <a:latin typeface="Bookman Old Style" pitchFamily="34" charset="0"/>
                <a:ea typeface="Bookman Old Style" pitchFamily="34" charset="-122"/>
                <a:cs typeface="Bookman Old Style" pitchFamily="34" charset="-120"/>
              </a:rPr>
              <a:t>Atomic Transfers</a:t>
            </a:r>
            <a:endParaRPr lang="en-US" sz="1650" dirty="0"/>
          </a:p>
        </p:txBody>
      </p:sp>
      <p:sp>
        <p:nvSpPr>
          <p:cNvPr id="17" name="Text 12"/>
          <p:cNvSpPr/>
          <p:nvPr/>
        </p:nvSpPr>
        <p:spPr>
          <a:xfrm>
            <a:off x="1417320" y="4224528"/>
            <a:ext cx="5212080" cy="548640"/>
          </a:xfrm>
          <a:prstGeom prst="rect">
            <a:avLst/>
          </a:prstGeom>
          <a:noFill/>
          <a:ln/>
        </p:spPr>
        <p:txBody>
          <a:bodyPr wrap="square" lIns="0" tIns="0" rIns="0" bIns="0" rtlCol="0" anchor="ctr"/>
          <a:lstStyle/>
          <a:p>
            <a:pPr indent="0" marL="0">
              <a:buNone/>
            </a:pPr>
            <a:r>
              <a:rPr lang="en-US" sz="1250" dirty="0">
                <a:solidFill>
                  <a:srgbClr val="5A6B8C"/>
                </a:solidFill>
                <a:latin typeface="Arial" pitchFamily="34" charset="0"/>
                <a:ea typeface="Arial" pitchFamily="34" charset="-122"/>
                <a:cs typeface="Arial" pitchFamily="34" charset="-120"/>
              </a:rPr>
              <a:t>Debit and credit legs commit or roll back together — never partially.</a:t>
            </a:r>
            <a:endParaRPr lang="en-US" sz="1250" dirty="0"/>
          </a:p>
        </p:txBody>
      </p:sp>
      <p:sp>
        <p:nvSpPr>
          <p:cNvPr id="18" name="Shape 13"/>
          <p:cNvSpPr/>
          <p:nvPr/>
        </p:nvSpPr>
        <p:spPr>
          <a:xfrm>
            <a:off x="640080" y="5029200"/>
            <a:ext cx="603504" cy="603504"/>
          </a:xfrm>
          <a:prstGeom prst="ellipse">
            <a:avLst/>
          </a:prstGeom>
          <a:solidFill>
            <a:srgbClr val="3FB984"/>
          </a:solidFill>
          <a:ln/>
          <a:effectLst>
            <a:outerShdw sx="100000" sy="100000" kx="0" ky="0" algn="bl" rotWithShape="0" blurRad="114300" dist="38100" dir="5400000">
              <a:srgbClr val="1A2440">
                <a:alpha val="16000"/>
              </a:srgbClr>
            </a:outerShdw>
          </a:effectLst>
        </p:spPr>
      </p:sp>
      <p:pic>
        <p:nvPicPr>
          <p:cNvPr id="19" name="Image 3" descr="/home/claude/build/icons/list_navy.png"/>
          <p:cNvPicPr>
            <a:picLocks noChangeAspect="1"/>
          </p:cNvPicPr>
          <p:nvPr/>
        </p:nvPicPr>
        <p:blipFill>
          <a:blip r:embed="rId4"/>
          <a:stretch>
            <a:fillRect/>
          </a:stretch>
        </p:blipFill>
        <p:spPr>
          <a:xfrm>
            <a:off x="796991" y="5186111"/>
            <a:ext cx="289682" cy="289682"/>
          </a:xfrm>
          <a:prstGeom prst="rect">
            <a:avLst/>
          </a:prstGeom>
        </p:spPr>
      </p:pic>
      <p:sp>
        <p:nvSpPr>
          <p:cNvPr id="20" name="Text 14"/>
          <p:cNvSpPr/>
          <p:nvPr/>
        </p:nvSpPr>
        <p:spPr>
          <a:xfrm>
            <a:off x="1417320" y="4992624"/>
            <a:ext cx="5120640" cy="365760"/>
          </a:xfrm>
          <a:prstGeom prst="rect">
            <a:avLst/>
          </a:prstGeom>
          <a:noFill/>
          <a:ln/>
        </p:spPr>
        <p:txBody>
          <a:bodyPr wrap="square" lIns="0" tIns="0" rIns="0" bIns="0" rtlCol="0" anchor="ctr"/>
          <a:lstStyle/>
          <a:p>
            <a:pPr indent="0" marL="0">
              <a:buNone/>
            </a:pPr>
            <a:r>
              <a:rPr lang="en-US" sz="1650" b="1" dirty="0">
                <a:solidFill>
                  <a:srgbClr val="1B2335"/>
                </a:solidFill>
                <a:latin typeface="Bookman Old Style" pitchFamily="34" charset="0"/>
                <a:ea typeface="Bookman Old Style" pitchFamily="34" charset="-122"/>
                <a:cs typeface="Bookman Old Style" pitchFamily="34" charset="-120"/>
              </a:rPr>
              <a:t>Auditable Ledger</a:t>
            </a:r>
            <a:endParaRPr lang="en-US" sz="1650" dirty="0"/>
          </a:p>
        </p:txBody>
      </p:sp>
      <p:sp>
        <p:nvSpPr>
          <p:cNvPr id="21" name="Text 15"/>
          <p:cNvSpPr/>
          <p:nvPr/>
        </p:nvSpPr>
        <p:spPr>
          <a:xfrm>
            <a:off x="1417320" y="5358384"/>
            <a:ext cx="5212080" cy="548640"/>
          </a:xfrm>
          <a:prstGeom prst="rect">
            <a:avLst/>
          </a:prstGeom>
          <a:noFill/>
          <a:ln/>
        </p:spPr>
        <p:txBody>
          <a:bodyPr wrap="square" lIns="0" tIns="0" rIns="0" bIns="0" rtlCol="0" anchor="ctr"/>
          <a:lstStyle/>
          <a:p>
            <a:pPr indent="0" marL="0">
              <a:buNone/>
            </a:pPr>
            <a:r>
              <a:rPr lang="en-US" sz="1250" dirty="0">
                <a:solidFill>
                  <a:srgbClr val="5A6B8C"/>
                </a:solidFill>
                <a:latin typeface="Arial" pitchFamily="34" charset="0"/>
                <a:ea typeface="Arial" pitchFamily="34" charset="-122"/>
                <a:cs typeface="Arial" pitchFamily="34" charset="-120"/>
              </a:rPr>
              <a:t>Every transaction records balance_after for a verifiable running total.</a:t>
            </a:r>
            <a:endParaRPr lang="en-US" sz="1250" dirty="0"/>
          </a:p>
        </p:txBody>
      </p:sp>
      <p:sp>
        <p:nvSpPr>
          <p:cNvPr id="22" name="Shape 16"/>
          <p:cNvSpPr/>
          <p:nvPr/>
        </p:nvSpPr>
        <p:spPr>
          <a:xfrm>
            <a:off x="7040880" y="1627632"/>
            <a:ext cx="4572000" cy="4160520"/>
          </a:xfrm>
          <a:prstGeom prst="roundRect">
            <a:avLst>
              <a:gd name="adj" fmla="val 2198"/>
            </a:avLst>
          </a:prstGeom>
          <a:solidFill>
            <a:srgbClr val="1E2761"/>
          </a:solidFill>
          <a:ln/>
          <a:effectLst>
            <a:outerShdw sx="100000" sy="100000" kx="0" ky="0" algn="bl" rotWithShape="0" blurRad="114300" dist="38100" dir="5400000">
              <a:srgbClr val="1A2440">
                <a:alpha val="16000"/>
              </a:srgbClr>
            </a:outerShdw>
          </a:effectLst>
        </p:spPr>
      </p:sp>
      <p:sp>
        <p:nvSpPr>
          <p:cNvPr id="23" name="Text 17"/>
          <p:cNvSpPr/>
          <p:nvPr/>
        </p:nvSpPr>
        <p:spPr>
          <a:xfrm>
            <a:off x="7315200" y="1874520"/>
            <a:ext cx="4023360" cy="320040"/>
          </a:xfrm>
          <a:prstGeom prst="rect">
            <a:avLst/>
          </a:prstGeom>
          <a:noFill/>
          <a:ln/>
        </p:spPr>
        <p:txBody>
          <a:bodyPr wrap="square" lIns="0" tIns="0" rIns="0" bIns="0" rtlCol="0" anchor="ctr"/>
          <a:lstStyle/>
          <a:p>
            <a:pPr indent="0" marL="0">
              <a:buNone/>
            </a:pPr>
            <a:r>
              <a:rPr lang="en-US" sz="1150" b="1" spc="200" kern="0" dirty="0">
                <a:solidFill>
                  <a:srgbClr val="F2B441"/>
                </a:solidFill>
                <a:latin typeface="Arial" pitchFamily="34" charset="0"/>
                <a:ea typeface="Arial" pitchFamily="34" charset="-122"/>
                <a:cs typeface="Arial" pitchFamily="34" charset="-120"/>
              </a:rPr>
              <a:t>TRANSACTION TYPES</a:t>
            </a:r>
            <a:endParaRPr lang="en-US" sz="1150" dirty="0"/>
          </a:p>
        </p:txBody>
      </p:sp>
      <p:sp>
        <p:nvSpPr>
          <p:cNvPr id="24" name="Shape 18"/>
          <p:cNvSpPr/>
          <p:nvPr/>
        </p:nvSpPr>
        <p:spPr>
          <a:xfrm>
            <a:off x="7315200" y="2340864"/>
            <a:ext cx="201168" cy="201168"/>
          </a:xfrm>
          <a:prstGeom prst="ellipse">
            <a:avLst/>
          </a:prstGeom>
          <a:solidFill>
            <a:srgbClr val="3FB984"/>
          </a:solidFill>
          <a:ln/>
        </p:spPr>
      </p:sp>
      <p:sp>
        <p:nvSpPr>
          <p:cNvPr id="25" name="Text 19"/>
          <p:cNvSpPr/>
          <p:nvPr/>
        </p:nvSpPr>
        <p:spPr>
          <a:xfrm>
            <a:off x="7680960" y="2249424"/>
            <a:ext cx="2011680" cy="365760"/>
          </a:xfrm>
          <a:prstGeom prst="rect">
            <a:avLst/>
          </a:prstGeom>
          <a:noFill/>
          <a:ln/>
        </p:spPr>
        <p:txBody>
          <a:bodyPr wrap="square" lIns="0" tIns="0" rIns="0" bIns="0" rtlCol="0" anchor="ctr"/>
          <a:lstStyle/>
          <a:p>
            <a:pPr indent="0" marL="0">
              <a:buNone/>
            </a:pPr>
            <a:r>
              <a:rPr lang="en-US" sz="1500" b="1" dirty="0">
                <a:solidFill>
                  <a:srgbClr val="FFFFFF"/>
                </a:solidFill>
                <a:latin typeface="Bookman Old Style" pitchFamily="34" charset="0"/>
                <a:ea typeface="Bookman Old Style" pitchFamily="34" charset="-122"/>
                <a:cs typeface="Bookman Old Style" pitchFamily="34" charset="-120"/>
              </a:rPr>
              <a:t>CREDIT</a:t>
            </a:r>
            <a:endParaRPr lang="en-US" sz="1500" dirty="0"/>
          </a:p>
        </p:txBody>
      </p:sp>
      <p:sp>
        <p:nvSpPr>
          <p:cNvPr id="26" name="Text 20"/>
          <p:cNvSpPr/>
          <p:nvPr/>
        </p:nvSpPr>
        <p:spPr>
          <a:xfrm>
            <a:off x="9509760" y="2267712"/>
            <a:ext cx="1920240" cy="365760"/>
          </a:xfrm>
          <a:prstGeom prst="rect">
            <a:avLst/>
          </a:prstGeom>
          <a:noFill/>
          <a:ln/>
        </p:spPr>
        <p:txBody>
          <a:bodyPr wrap="square" lIns="0" tIns="0" rIns="0" bIns="0" rtlCol="0" anchor="ctr"/>
          <a:lstStyle/>
          <a:p>
            <a:pPr algn="r" indent="0" marL="0">
              <a:buNone/>
            </a:pPr>
            <a:r>
              <a:rPr lang="en-US" sz="1200" dirty="0">
                <a:solidFill>
                  <a:srgbClr val="CADCFC"/>
                </a:solidFill>
                <a:latin typeface="Arial" pitchFamily="34" charset="0"/>
                <a:ea typeface="Arial" pitchFamily="34" charset="-122"/>
                <a:cs typeface="Arial" pitchFamily="34" charset="-120"/>
              </a:rPr>
              <a:t>Funds in</a:t>
            </a:r>
            <a:endParaRPr lang="en-US" sz="1200" dirty="0"/>
          </a:p>
        </p:txBody>
      </p:sp>
      <p:sp>
        <p:nvSpPr>
          <p:cNvPr id="27" name="Shape 21"/>
          <p:cNvSpPr/>
          <p:nvPr/>
        </p:nvSpPr>
        <p:spPr>
          <a:xfrm>
            <a:off x="7315200" y="2907792"/>
            <a:ext cx="201168" cy="201168"/>
          </a:xfrm>
          <a:prstGeom prst="ellipse">
            <a:avLst/>
          </a:prstGeom>
          <a:solidFill>
            <a:srgbClr val="E8654F"/>
          </a:solidFill>
          <a:ln/>
        </p:spPr>
      </p:sp>
      <p:sp>
        <p:nvSpPr>
          <p:cNvPr id="28" name="Text 22"/>
          <p:cNvSpPr/>
          <p:nvPr/>
        </p:nvSpPr>
        <p:spPr>
          <a:xfrm>
            <a:off x="7680960" y="2816352"/>
            <a:ext cx="2011680" cy="365760"/>
          </a:xfrm>
          <a:prstGeom prst="rect">
            <a:avLst/>
          </a:prstGeom>
          <a:noFill/>
          <a:ln/>
        </p:spPr>
        <p:txBody>
          <a:bodyPr wrap="square" lIns="0" tIns="0" rIns="0" bIns="0" rtlCol="0" anchor="ctr"/>
          <a:lstStyle/>
          <a:p>
            <a:pPr indent="0" marL="0">
              <a:buNone/>
            </a:pPr>
            <a:r>
              <a:rPr lang="en-US" sz="1500" b="1" dirty="0">
                <a:solidFill>
                  <a:srgbClr val="FFFFFF"/>
                </a:solidFill>
                <a:latin typeface="Bookman Old Style" pitchFamily="34" charset="0"/>
                <a:ea typeface="Bookman Old Style" pitchFamily="34" charset="-122"/>
                <a:cs typeface="Bookman Old Style" pitchFamily="34" charset="-120"/>
              </a:rPr>
              <a:t>DEBIT</a:t>
            </a:r>
            <a:endParaRPr lang="en-US" sz="1500" dirty="0"/>
          </a:p>
        </p:txBody>
      </p:sp>
      <p:sp>
        <p:nvSpPr>
          <p:cNvPr id="29" name="Text 23"/>
          <p:cNvSpPr/>
          <p:nvPr/>
        </p:nvSpPr>
        <p:spPr>
          <a:xfrm>
            <a:off x="9509760" y="2834640"/>
            <a:ext cx="1920240" cy="365760"/>
          </a:xfrm>
          <a:prstGeom prst="rect">
            <a:avLst/>
          </a:prstGeom>
          <a:noFill/>
          <a:ln/>
        </p:spPr>
        <p:txBody>
          <a:bodyPr wrap="square" lIns="0" tIns="0" rIns="0" bIns="0" rtlCol="0" anchor="ctr"/>
          <a:lstStyle/>
          <a:p>
            <a:pPr algn="r" indent="0" marL="0">
              <a:buNone/>
            </a:pPr>
            <a:r>
              <a:rPr lang="en-US" sz="1200" dirty="0">
                <a:solidFill>
                  <a:srgbClr val="CADCFC"/>
                </a:solidFill>
                <a:latin typeface="Arial" pitchFamily="34" charset="0"/>
                <a:ea typeface="Arial" pitchFamily="34" charset="-122"/>
                <a:cs typeface="Arial" pitchFamily="34" charset="-120"/>
              </a:rPr>
              <a:t>Funds out</a:t>
            </a:r>
            <a:endParaRPr lang="en-US" sz="1200" dirty="0"/>
          </a:p>
        </p:txBody>
      </p:sp>
      <p:sp>
        <p:nvSpPr>
          <p:cNvPr id="30" name="Shape 24"/>
          <p:cNvSpPr/>
          <p:nvPr/>
        </p:nvSpPr>
        <p:spPr>
          <a:xfrm>
            <a:off x="7315200" y="3474720"/>
            <a:ext cx="201168" cy="201168"/>
          </a:xfrm>
          <a:prstGeom prst="ellipse">
            <a:avLst/>
          </a:prstGeom>
          <a:solidFill>
            <a:srgbClr val="CADCFC"/>
          </a:solidFill>
          <a:ln/>
        </p:spPr>
      </p:sp>
      <p:sp>
        <p:nvSpPr>
          <p:cNvPr id="31" name="Text 25"/>
          <p:cNvSpPr/>
          <p:nvPr/>
        </p:nvSpPr>
        <p:spPr>
          <a:xfrm>
            <a:off x="7680960" y="3383280"/>
            <a:ext cx="2011680" cy="365760"/>
          </a:xfrm>
          <a:prstGeom prst="rect">
            <a:avLst/>
          </a:prstGeom>
          <a:noFill/>
          <a:ln/>
        </p:spPr>
        <p:txBody>
          <a:bodyPr wrap="square" lIns="0" tIns="0" rIns="0" bIns="0" rtlCol="0" anchor="ctr"/>
          <a:lstStyle/>
          <a:p>
            <a:pPr indent="0" marL="0">
              <a:buNone/>
            </a:pPr>
            <a:r>
              <a:rPr lang="en-US" sz="1500" b="1" dirty="0">
                <a:solidFill>
                  <a:srgbClr val="FFFFFF"/>
                </a:solidFill>
                <a:latin typeface="Bookman Old Style" pitchFamily="34" charset="0"/>
                <a:ea typeface="Bookman Old Style" pitchFamily="34" charset="-122"/>
                <a:cs typeface="Bookman Old Style" pitchFamily="34" charset="-120"/>
              </a:rPr>
              <a:t>TRANSFER</a:t>
            </a:r>
            <a:endParaRPr lang="en-US" sz="1500" dirty="0"/>
          </a:p>
        </p:txBody>
      </p:sp>
      <p:sp>
        <p:nvSpPr>
          <p:cNvPr id="32" name="Text 26"/>
          <p:cNvSpPr/>
          <p:nvPr/>
        </p:nvSpPr>
        <p:spPr>
          <a:xfrm>
            <a:off x="9509760" y="3401568"/>
            <a:ext cx="1920240" cy="365760"/>
          </a:xfrm>
          <a:prstGeom prst="rect">
            <a:avLst/>
          </a:prstGeom>
          <a:noFill/>
          <a:ln/>
        </p:spPr>
        <p:txBody>
          <a:bodyPr wrap="square" lIns="0" tIns="0" rIns="0" bIns="0" rtlCol="0" anchor="ctr"/>
          <a:lstStyle/>
          <a:p>
            <a:pPr algn="r" indent="0" marL="0">
              <a:buNone/>
            </a:pPr>
            <a:r>
              <a:rPr lang="en-US" sz="1200" dirty="0">
                <a:solidFill>
                  <a:srgbClr val="CADCFC"/>
                </a:solidFill>
                <a:latin typeface="Arial" pitchFamily="34" charset="0"/>
                <a:ea typeface="Arial" pitchFamily="34" charset="-122"/>
                <a:cs typeface="Arial" pitchFamily="34" charset="-120"/>
              </a:rPr>
              <a:t>Between accounts</a:t>
            </a:r>
            <a:endParaRPr lang="en-US" sz="1200" dirty="0"/>
          </a:p>
        </p:txBody>
      </p:sp>
      <p:sp>
        <p:nvSpPr>
          <p:cNvPr id="33" name="Shape 27"/>
          <p:cNvSpPr/>
          <p:nvPr/>
        </p:nvSpPr>
        <p:spPr>
          <a:xfrm>
            <a:off x="7315200" y="4114800"/>
            <a:ext cx="4023360" cy="13716"/>
          </a:xfrm>
          <a:prstGeom prst="rect">
            <a:avLst/>
          </a:prstGeom>
          <a:solidFill>
            <a:srgbClr val="33406A"/>
          </a:solidFill>
          <a:ln/>
        </p:spPr>
      </p:sp>
      <p:sp>
        <p:nvSpPr>
          <p:cNvPr id="34" name="Text 28"/>
          <p:cNvSpPr/>
          <p:nvPr/>
        </p:nvSpPr>
        <p:spPr>
          <a:xfrm>
            <a:off x="7315200" y="4315968"/>
            <a:ext cx="4023360" cy="457200"/>
          </a:xfrm>
          <a:prstGeom prst="rect">
            <a:avLst/>
          </a:prstGeom>
          <a:noFill/>
          <a:ln/>
        </p:spPr>
        <p:txBody>
          <a:bodyPr wrap="square" lIns="0" tIns="0" rIns="0" bIns="0" rtlCol="0" anchor="ctr"/>
          <a:lstStyle/>
          <a:p>
            <a:pPr indent="0" marL="0">
              <a:buNone/>
            </a:pPr>
            <a:r>
              <a:rPr lang="en-US" sz="2600" b="1" dirty="0">
                <a:solidFill>
                  <a:srgbClr val="FFFFFF"/>
                </a:solidFill>
                <a:latin typeface="Bookman Old Style" pitchFamily="34" charset="0"/>
                <a:ea typeface="Bookman Old Style" pitchFamily="34" charset="-122"/>
                <a:cs typeface="Bookman Old Style" pitchFamily="34" charset="-120"/>
              </a:rPr>
              <a:t>DECIMAL(15,2)</a:t>
            </a:r>
            <a:endParaRPr lang="en-US" sz="2600" dirty="0"/>
          </a:p>
        </p:txBody>
      </p:sp>
      <p:sp>
        <p:nvSpPr>
          <p:cNvPr id="35" name="Text 29"/>
          <p:cNvSpPr/>
          <p:nvPr/>
        </p:nvSpPr>
        <p:spPr>
          <a:xfrm>
            <a:off x="7315200" y="4864608"/>
            <a:ext cx="4069080" cy="640080"/>
          </a:xfrm>
          <a:prstGeom prst="rect">
            <a:avLst/>
          </a:prstGeom>
          <a:noFill/>
          <a:ln/>
        </p:spPr>
        <p:txBody>
          <a:bodyPr wrap="square" lIns="0" tIns="0" rIns="0" bIns="0" rtlCol="0" anchor="ctr"/>
          <a:lstStyle/>
          <a:p>
            <a:pPr indent="0" marL="0">
              <a:buNone/>
            </a:pPr>
            <a:r>
              <a:rPr lang="en-US" sz="1200" dirty="0">
                <a:solidFill>
                  <a:srgbClr val="CADCFC"/>
                </a:solidFill>
                <a:latin typeface="Arial" pitchFamily="34" charset="0"/>
                <a:ea typeface="Arial" pitchFamily="34" charset="-122"/>
                <a:cs typeface="Arial" pitchFamily="34" charset="-120"/>
              </a:rPr>
              <a:t>Exact money type — no floating-point error in any balance or amount.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822960" cy="502920"/>
          </a:xfrm>
          <a:prstGeom prst="rect">
            <a:avLst/>
          </a:prstGeom>
          <a:noFill/>
          <a:ln/>
        </p:spPr>
        <p:txBody>
          <a:bodyPr wrap="square" lIns="0" tIns="0" rIns="0" bIns="0" rtlCol="0" anchor="ctr"/>
          <a:lstStyle/>
          <a:p>
            <a:pPr indent="0" marL="0">
              <a:buNone/>
            </a:pPr>
            <a:r>
              <a:rPr lang="en-US" sz="2600" b="1" dirty="0">
                <a:solidFill>
                  <a:srgbClr val="CADCFC"/>
                </a:solidFill>
                <a:latin typeface="Bookman Old Style" pitchFamily="34" charset="0"/>
                <a:ea typeface="Bookman Old Style" pitchFamily="34" charset="-122"/>
                <a:cs typeface="Bookman Old Style" pitchFamily="34" charset="-120"/>
              </a:rPr>
              <a:t>07</a:t>
            </a:r>
            <a:endParaRPr lang="en-US" sz="2600" dirty="0"/>
          </a:p>
        </p:txBody>
      </p:sp>
      <p:sp>
        <p:nvSpPr>
          <p:cNvPr id="3" name="Shape 1"/>
          <p:cNvSpPr/>
          <p:nvPr/>
        </p:nvSpPr>
        <p:spPr>
          <a:xfrm>
            <a:off x="1078992" y="457200"/>
            <a:ext cx="25603" cy="384048"/>
          </a:xfrm>
          <a:prstGeom prst="rect">
            <a:avLst/>
          </a:prstGeom>
          <a:solidFill>
            <a:srgbClr val="9B6BD8"/>
          </a:solidFill>
          <a:ln/>
        </p:spPr>
      </p:sp>
      <p:sp>
        <p:nvSpPr>
          <p:cNvPr id="4" name="Text 2"/>
          <p:cNvSpPr/>
          <p:nvPr/>
        </p:nvSpPr>
        <p:spPr>
          <a:xfrm>
            <a:off x="1225296" y="365760"/>
            <a:ext cx="9601200" cy="274320"/>
          </a:xfrm>
          <a:prstGeom prst="rect">
            <a:avLst/>
          </a:prstGeom>
          <a:noFill/>
          <a:ln/>
        </p:spPr>
        <p:txBody>
          <a:bodyPr wrap="square" lIns="0" tIns="0" rIns="0" bIns="0" rtlCol="0" anchor="ctr"/>
          <a:lstStyle/>
          <a:p>
            <a:pPr indent="0" marL="0">
              <a:buNone/>
            </a:pPr>
            <a:r>
              <a:rPr lang="en-US" sz="1150" b="1" spc="300" kern="0" dirty="0">
                <a:solidFill>
                  <a:srgbClr val="9B6BD8"/>
                </a:solidFill>
                <a:latin typeface="Arial" pitchFamily="34" charset="0"/>
                <a:ea typeface="Arial" pitchFamily="34" charset="-122"/>
                <a:cs typeface="Arial" pitchFamily="34" charset="-120"/>
              </a:rPr>
              <a:t>KEY FEATURES · 2 OF 3</a:t>
            </a:r>
            <a:endParaRPr lang="en-US" sz="1150" dirty="0"/>
          </a:p>
        </p:txBody>
      </p:sp>
      <p:sp>
        <p:nvSpPr>
          <p:cNvPr id="5" name="Text 3"/>
          <p:cNvSpPr/>
          <p:nvPr/>
        </p:nvSpPr>
        <p:spPr>
          <a:xfrm>
            <a:off x="1207008" y="603504"/>
            <a:ext cx="10424160" cy="566928"/>
          </a:xfrm>
          <a:prstGeom prst="rect">
            <a:avLst/>
          </a:prstGeom>
          <a:noFill/>
          <a:ln/>
        </p:spPr>
        <p:txBody>
          <a:bodyPr wrap="square" lIns="0" tIns="0" rIns="0" bIns="0" rtlCol="0" anchor="ctr"/>
          <a:lstStyle/>
          <a:p>
            <a:pPr indent="0" marL="0">
              <a:buNone/>
            </a:pPr>
            <a:r>
              <a:rPr lang="en-US" sz="2700" b="1" dirty="0">
                <a:solidFill>
                  <a:srgbClr val="1B2335"/>
                </a:solidFill>
                <a:latin typeface="Bookman Old Style" pitchFamily="34" charset="0"/>
                <a:ea typeface="Bookman Old Style" pitchFamily="34" charset="-122"/>
                <a:cs typeface="Bookman Old Style" pitchFamily="34" charset="-120"/>
              </a:rPr>
              <a:t>Budgeting &amp; Bill Management</a:t>
            </a:r>
            <a:endParaRPr lang="en-US" sz="2700" dirty="0"/>
          </a:p>
        </p:txBody>
      </p:sp>
      <p:sp>
        <p:nvSpPr>
          <p:cNvPr id="6" name="Text 4"/>
          <p:cNvSpPr/>
          <p:nvPr/>
        </p:nvSpPr>
        <p:spPr>
          <a:xfrm>
            <a:off x="640080" y="1554480"/>
            <a:ext cx="5120640" cy="320040"/>
          </a:xfrm>
          <a:prstGeom prst="rect">
            <a:avLst/>
          </a:prstGeom>
          <a:noFill/>
          <a:ln/>
        </p:spPr>
        <p:txBody>
          <a:bodyPr wrap="square" lIns="0" tIns="0" rIns="0" bIns="0" rtlCol="0" anchor="ctr"/>
          <a:lstStyle/>
          <a:p>
            <a:pPr indent="0" marL="0">
              <a:buNone/>
            </a:pPr>
            <a:r>
              <a:rPr lang="en-US" sz="1150" b="1" spc="150" kern="0" dirty="0">
                <a:solidFill>
                  <a:srgbClr val="5A6B8C"/>
                </a:solidFill>
                <a:latin typeface="Arial" pitchFamily="34" charset="0"/>
                <a:ea typeface="Arial" pitchFamily="34" charset="-122"/>
                <a:cs typeface="Arial" pitchFamily="34" charset="-120"/>
              </a:rPr>
              <a:t>MONTHLY SPEND BY CATEGORY</a:t>
            </a:r>
            <a:endParaRPr lang="en-US" sz="1150" dirty="0"/>
          </a:p>
        </p:txBody>
      </p:sp>
      <p:graphicFrame>
        <p:nvGraphicFramePr>
          <p:cNvPr id="7" name="Chart 0" descr=""/>
          <p:cNvGraphicFramePr/>
          <p:nvPr/>
        </p:nvGraphicFramePr>
        <p:xfrm>
          <a:off x="457200" y="1828800"/>
          <a:ext cx="5394960" cy="393192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6263640" y="1627632"/>
            <a:ext cx="5349240" cy="987552"/>
          </a:xfrm>
          <a:prstGeom prst="roundRect">
            <a:avLst>
              <a:gd name="adj" fmla="val 7407"/>
            </a:avLst>
          </a:prstGeom>
          <a:solidFill>
            <a:srgbClr val="F4F7FC"/>
          </a:solidFill>
          <a:ln/>
          <a:effectLst>
            <a:outerShdw sx="100000" sy="100000" kx="0" ky="0" algn="bl" rotWithShape="0" blurRad="114300" dist="38100" dir="5400000">
              <a:srgbClr val="1A2440">
                <a:alpha val="16000"/>
              </a:srgbClr>
            </a:outerShdw>
          </a:effectLst>
        </p:spPr>
      </p:sp>
      <p:sp>
        <p:nvSpPr>
          <p:cNvPr id="9" name="Shape 6"/>
          <p:cNvSpPr/>
          <p:nvPr/>
        </p:nvSpPr>
        <p:spPr>
          <a:xfrm>
            <a:off x="6455664" y="1810512"/>
            <a:ext cx="603504" cy="603504"/>
          </a:xfrm>
          <a:prstGeom prst="ellipse">
            <a:avLst/>
          </a:prstGeom>
          <a:solidFill>
            <a:srgbClr val="3FB984"/>
          </a:solidFill>
          <a:ln/>
          <a:effectLst>
            <a:outerShdw sx="100000" sy="100000" kx="0" ky="0" algn="bl" rotWithShape="0" blurRad="114300" dist="38100" dir="5400000">
              <a:srgbClr val="1A2440">
                <a:alpha val="16000"/>
              </a:srgbClr>
            </a:outerShdw>
          </a:effectLst>
        </p:spPr>
      </p:sp>
      <p:pic>
        <p:nvPicPr>
          <p:cNvPr id="10" name="Image 0" descr="/home/claude/build/icons/calc_white.png"/>
          <p:cNvPicPr>
            <a:picLocks noChangeAspect="1"/>
          </p:cNvPicPr>
          <p:nvPr/>
        </p:nvPicPr>
        <p:blipFill>
          <a:blip r:embed="rId2"/>
          <a:stretch>
            <a:fillRect/>
          </a:stretch>
        </p:blipFill>
        <p:spPr>
          <a:xfrm>
            <a:off x="6612575" y="1967423"/>
            <a:ext cx="289682" cy="289682"/>
          </a:xfrm>
          <a:prstGeom prst="rect">
            <a:avLst/>
          </a:prstGeom>
        </p:spPr>
      </p:pic>
      <p:sp>
        <p:nvSpPr>
          <p:cNvPr id="11" name="Text 7"/>
          <p:cNvSpPr/>
          <p:nvPr/>
        </p:nvSpPr>
        <p:spPr>
          <a:xfrm>
            <a:off x="7269480" y="1755648"/>
            <a:ext cx="4206240" cy="365760"/>
          </a:xfrm>
          <a:prstGeom prst="rect">
            <a:avLst/>
          </a:prstGeom>
          <a:noFill/>
          <a:ln/>
        </p:spPr>
        <p:txBody>
          <a:bodyPr wrap="square" lIns="0" tIns="0" rIns="0" bIns="0" rtlCol="0" anchor="ctr"/>
          <a:lstStyle/>
          <a:p>
            <a:pPr indent="0" marL="0">
              <a:buNone/>
            </a:pPr>
            <a:r>
              <a:rPr lang="en-US" sz="1600" b="1" dirty="0">
                <a:solidFill>
                  <a:srgbClr val="1B2335"/>
                </a:solidFill>
                <a:latin typeface="Bookman Old Style" pitchFamily="34" charset="0"/>
                <a:ea typeface="Bookman Old Style" pitchFamily="34" charset="-122"/>
                <a:cs typeface="Bookman Old Style" pitchFamily="34" charset="-120"/>
              </a:rPr>
              <a:t>Category Budgets</a:t>
            </a:r>
            <a:endParaRPr lang="en-US" sz="1600" dirty="0"/>
          </a:p>
        </p:txBody>
      </p:sp>
      <p:sp>
        <p:nvSpPr>
          <p:cNvPr id="12" name="Text 8"/>
          <p:cNvSpPr/>
          <p:nvPr/>
        </p:nvSpPr>
        <p:spPr>
          <a:xfrm>
            <a:off x="7269480" y="2103120"/>
            <a:ext cx="4251960" cy="457200"/>
          </a:xfrm>
          <a:prstGeom prst="rect">
            <a:avLst/>
          </a:prstGeom>
          <a:noFill/>
          <a:ln/>
        </p:spPr>
        <p:txBody>
          <a:bodyPr wrap="square" lIns="0" tIns="0" rIns="0" bIns="0" rtlCol="0" anchor="ctr"/>
          <a:lstStyle/>
          <a:p>
            <a:pPr indent="0" marL="0">
              <a:buNone/>
            </a:pPr>
            <a:r>
              <a:rPr lang="en-US" sz="1200" dirty="0">
                <a:solidFill>
                  <a:srgbClr val="5A6B8C"/>
                </a:solidFill>
                <a:latin typeface="Arial" pitchFamily="34" charset="0"/>
                <a:ea typeface="Arial" pitchFamily="34" charset="-122"/>
                <a:cs typeface="Arial" pitchFamily="34" charset="-120"/>
              </a:rPr>
              <a:t>Per-user, per-category, per-month limits with a DB-level uniqueness guard.</a:t>
            </a:r>
            <a:endParaRPr lang="en-US" sz="1200" dirty="0"/>
          </a:p>
        </p:txBody>
      </p:sp>
      <p:sp>
        <p:nvSpPr>
          <p:cNvPr id="13" name="Shape 9"/>
          <p:cNvSpPr/>
          <p:nvPr/>
        </p:nvSpPr>
        <p:spPr>
          <a:xfrm>
            <a:off x="6263640" y="2724912"/>
            <a:ext cx="5349240" cy="987552"/>
          </a:xfrm>
          <a:prstGeom prst="roundRect">
            <a:avLst>
              <a:gd name="adj" fmla="val 7407"/>
            </a:avLst>
          </a:prstGeom>
          <a:solidFill>
            <a:srgbClr val="F4F7FC"/>
          </a:solidFill>
          <a:ln/>
          <a:effectLst>
            <a:outerShdw sx="100000" sy="100000" kx="0" ky="0" algn="bl" rotWithShape="0" blurRad="114300" dist="38100" dir="5400000">
              <a:srgbClr val="1A2440">
                <a:alpha val="16000"/>
              </a:srgbClr>
            </a:outerShdw>
          </a:effectLst>
        </p:spPr>
      </p:sp>
      <p:sp>
        <p:nvSpPr>
          <p:cNvPr id="14" name="Shape 10"/>
          <p:cNvSpPr/>
          <p:nvPr/>
        </p:nvSpPr>
        <p:spPr>
          <a:xfrm>
            <a:off x="6455664" y="2907792"/>
            <a:ext cx="603504" cy="603504"/>
          </a:xfrm>
          <a:prstGeom prst="ellipse">
            <a:avLst/>
          </a:prstGeom>
          <a:solidFill>
            <a:srgbClr val="9B6BD8"/>
          </a:solidFill>
          <a:ln/>
          <a:effectLst>
            <a:outerShdw sx="100000" sy="100000" kx="0" ky="0" algn="bl" rotWithShape="0" blurRad="114300" dist="38100" dir="5400000">
              <a:srgbClr val="1A2440">
                <a:alpha val="16000"/>
              </a:srgbClr>
            </a:outerShdw>
          </a:effectLst>
        </p:spPr>
      </p:sp>
      <p:pic>
        <p:nvPicPr>
          <p:cNvPr id="15" name="Image 1" descr="/home/claude/build/icons/gauge_white.png"/>
          <p:cNvPicPr>
            <a:picLocks noChangeAspect="1"/>
          </p:cNvPicPr>
          <p:nvPr/>
        </p:nvPicPr>
        <p:blipFill>
          <a:blip r:embed="rId3"/>
          <a:stretch>
            <a:fillRect/>
          </a:stretch>
        </p:blipFill>
        <p:spPr>
          <a:xfrm>
            <a:off x="6612575" y="3064703"/>
            <a:ext cx="289682" cy="289682"/>
          </a:xfrm>
          <a:prstGeom prst="rect">
            <a:avLst/>
          </a:prstGeom>
        </p:spPr>
      </p:pic>
      <p:sp>
        <p:nvSpPr>
          <p:cNvPr id="16" name="Text 11"/>
          <p:cNvSpPr/>
          <p:nvPr/>
        </p:nvSpPr>
        <p:spPr>
          <a:xfrm>
            <a:off x="7269480" y="2852928"/>
            <a:ext cx="4206240" cy="365760"/>
          </a:xfrm>
          <a:prstGeom prst="rect">
            <a:avLst/>
          </a:prstGeom>
          <a:noFill/>
          <a:ln/>
        </p:spPr>
        <p:txBody>
          <a:bodyPr wrap="square" lIns="0" tIns="0" rIns="0" bIns="0" rtlCol="0" anchor="ctr"/>
          <a:lstStyle/>
          <a:p>
            <a:pPr indent="0" marL="0">
              <a:buNone/>
            </a:pPr>
            <a:r>
              <a:rPr lang="en-US" sz="1600" b="1" dirty="0">
                <a:solidFill>
                  <a:srgbClr val="1B2335"/>
                </a:solidFill>
                <a:latin typeface="Bookman Old Style" pitchFamily="34" charset="0"/>
                <a:ea typeface="Bookman Old Style" pitchFamily="34" charset="-122"/>
                <a:cs typeface="Bookman Old Style" pitchFamily="34" charset="-120"/>
              </a:rPr>
              <a:t>Adherence Tracking</a:t>
            </a:r>
            <a:endParaRPr lang="en-US" sz="1600" dirty="0"/>
          </a:p>
        </p:txBody>
      </p:sp>
      <p:sp>
        <p:nvSpPr>
          <p:cNvPr id="17" name="Text 12"/>
          <p:cNvSpPr/>
          <p:nvPr/>
        </p:nvSpPr>
        <p:spPr>
          <a:xfrm>
            <a:off x="7269480" y="3200400"/>
            <a:ext cx="4251960" cy="457200"/>
          </a:xfrm>
          <a:prstGeom prst="rect">
            <a:avLst/>
          </a:prstGeom>
          <a:noFill/>
          <a:ln/>
        </p:spPr>
        <p:txBody>
          <a:bodyPr wrap="square" lIns="0" tIns="0" rIns="0" bIns="0" rtlCol="0" anchor="ctr"/>
          <a:lstStyle/>
          <a:p>
            <a:pPr indent="0" marL="0">
              <a:buNone/>
            </a:pPr>
            <a:r>
              <a:rPr lang="en-US" sz="1200" dirty="0">
                <a:solidFill>
                  <a:srgbClr val="5A6B8C"/>
                </a:solidFill>
                <a:latin typeface="Arial" pitchFamily="34" charset="0"/>
                <a:ea typeface="Arial" pitchFamily="34" charset="-122"/>
                <a:cs typeface="Arial" pitchFamily="34" charset="-120"/>
              </a:rPr>
              <a:t>Live comparison of budgeted limit against categorised actual spend.</a:t>
            </a:r>
            <a:endParaRPr lang="en-US" sz="1200" dirty="0"/>
          </a:p>
        </p:txBody>
      </p:sp>
      <p:sp>
        <p:nvSpPr>
          <p:cNvPr id="18" name="Shape 13"/>
          <p:cNvSpPr/>
          <p:nvPr/>
        </p:nvSpPr>
        <p:spPr>
          <a:xfrm>
            <a:off x="6263640" y="3822192"/>
            <a:ext cx="5349240" cy="987552"/>
          </a:xfrm>
          <a:prstGeom prst="roundRect">
            <a:avLst>
              <a:gd name="adj" fmla="val 7407"/>
            </a:avLst>
          </a:prstGeom>
          <a:solidFill>
            <a:srgbClr val="F4F7FC"/>
          </a:solidFill>
          <a:ln/>
          <a:effectLst>
            <a:outerShdw sx="100000" sy="100000" kx="0" ky="0" algn="bl" rotWithShape="0" blurRad="114300" dist="38100" dir="5400000">
              <a:srgbClr val="1A2440">
                <a:alpha val="16000"/>
              </a:srgbClr>
            </a:outerShdw>
          </a:effectLst>
        </p:spPr>
      </p:sp>
      <p:sp>
        <p:nvSpPr>
          <p:cNvPr id="19" name="Shape 14"/>
          <p:cNvSpPr/>
          <p:nvPr/>
        </p:nvSpPr>
        <p:spPr>
          <a:xfrm>
            <a:off x="6455664" y="4005072"/>
            <a:ext cx="603504" cy="603504"/>
          </a:xfrm>
          <a:prstGeom prst="ellipse">
            <a:avLst/>
          </a:prstGeom>
          <a:solidFill>
            <a:srgbClr val="F2B441"/>
          </a:solidFill>
          <a:ln/>
          <a:effectLst>
            <a:outerShdw sx="100000" sy="100000" kx="0" ky="0" algn="bl" rotWithShape="0" blurRad="114300" dist="38100" dir="5400000">
              <a:srgbClr val="1A2440">
                <a:alpha val="16000"/>
              </a:srgbClr>
            </a:outerShdw>
          </a:effectLst>
        </p:spPr>
      </p:sp>
      <p:pic>
        <p:nvPicPr>
          <p:cNvPr id="20" name="Image 2" descr="/home/claude/build/icons/receipt_white.png"/>
          <p:cNvPicPr>
            <a:picLocks noChangeAspect="1"/>
          </p:cNvPicPr>
          <p:nvPr/>
        </p:nvPicPr>
        <p:blipFill>
          <a:blip r:embed="rId4"/>
          <a:stretch>
            <a:fillRect/>
          </a:stretch>
        </p:blipFill>
        <p:spPr>
          <a:xfrm>
            <a:off x="6612575" y="4161983"/>
            <a:ext cx="289682" cy="289682"/>
          </a:xfrm>
          <a:prstGeom prst="rect">
            <a:avLst/>
          </a:prstGeom>
        </p:spPr>
      </p:pic>
      <p:sp>
        <p:nvSpPr>
          <p:cNvPr id="21" name="Text 15"/>
          <p:cNvSpPr/>
          <p:nvPr/>
        </p:nvSpPr>
        <p:spPr>
          <a:xfrm>
            <a:off x="7269480" y="3950208"/>
            <a:ext cx="4206240" cy="365760"/>
          </a:xfrm>
          <a:prstGeom prst="rect">
            <a:avLst/>
          </a:prstGeom>
          <a:noFill/>
          <a:ln/>
        </p:spPr>
        <p:txBody>
          <a:bodyPr wrap="square" lIns="0" tIns="0" rIns="0" bIns="0" rtlCol="0" anchor="ctr"/>
          <a:lstStyle/>
          <a:p>
            <a:pPr indent="0" marL="0">
              <a:buNone/>
            </a:pPr>
            <a:r>
              <a:rPr lang="en-US" sz="1600" b="1" dirty="0">
                <a:solidFill>
                  <a:srgbClr val="1B2335"/>
                </a:solidFill>
                <a:latin typeface="Bookman Old Style" pitchFamily="34" charset="0"/>
                <a:ea typeface="Bookman Old Style" pitchFamily="34" charset="-122"/>
                <a:cs typeface="Bookman Old Style" pitchFamily="34" charset="-120"/>
              </a:rPr>
              <a:t>Bill Scheduling</a:t>
            </a:r>
            <a:endParaRPr lang="en-US" sz="1600" dirty="0"/>
          </a:p>
        </p:txBody>
      </p:sp>
      <p:sp>
        <p:nvSpPr>
          <p:cNvPr id="22" name="Text 16"/>
          <p:cNvSpPr/>
          <p:nvPr/>
        </p:nvSpPr>
        <p:spPr>
          <a:xfrm>
            <a:off x="7269480" y="4297680"/>
            <a:ext cx="4251960" cy="457200"/>
          </a:xfrm>
          <a:prstGeom prst="rect">
            <a:avLst/>
          </a:prstGeom>
          <a:noFill/>
          <a:ln/>
        </p:spPr>
        <p:txBody>
          <a:bodyPr wrap="square" lIns="0" tIns="0" rIns="0" bIns="0" rtlCol="0" anchor="ctr"/>
          <a:lstStyle/>
          <a:p>
            <a:pPr indent="0" marL="0">
              <a:buNone/>
            </a:pPr>
            <a:r>
              <a:rPr lang="en-US" sz="1200" dirty="0">
                <a:solidFill>
                  <a:srgbClr val="5A6B8C"/>
                </a:solidFill>
                <a:latin typeface="Arial" pitchFamily="34" charset="0"/>
                <a:ea typeface="Arial" pitchFamily="34" charset="-122"/>
                <a:cs typeface="Arial" pitchFamily="34" charset="-120"/>
              </a:rPr>
              <a:t>Bills move through PENDING → PAID → OVERDUE, flagged by due date.</a:t>
            </a:r>
            <a:endParaRPr lang="en-US" sz="1200" dirty="0"/>
          </a:p>
        </p:txBody>
      </p:sp>
      <p:sp>
        <p:nvSpPr>
          <p:cNvPr id="23" name="Shape 17"/>
          <p:cNvSpPr/>
          <p:nvPr/>
        </p:nvSpPr>
        <p:spPr>
          <a:xfrm>
            <a:off x="6263640" y="4919472"/>
            <a:ext cx="5349240" cy="987552"/>
          </a:xfrm>
          <a:prstGeom prst="roundRect">
            <a:avLst>
              <a:gd name="adj" fmla="val 7407"/>
            </a:avLst>
          </a:prstGeom>
          <a:solidFill>
            <a:srgbClr val="F4F7FC"/>
          </a:solidFill>
          <a:ln/>
          <a:effectLst>
            <a:outerShdw sx="100000" sy="100000" kx="0" ky="0" algn="bl" rotWithShape="0" blurRad="114300" dist="38100" dir="5400000">
              <a:srgbClr val="1A2440">
                <a:alpha val="16000"/>
              </a:srgbClr>
            </a:outerShdw>
          </a:effectLst>
        </p:spPr>
      </p:sp>
      <p:sp>
        <p:nvSpPr>
          <p:cNvPr id="24" name="Shape 18"/>
          <p:cNvSpPr/>
          <p:nvPr/>
        </p:nvSpPr>
        <p:spPr>
          <a:xfrm>
            <a:off x="6455664" y="5102352"/>
            <a:ext cx="603504" cy="603504"/>
          </a:xfrm>
          <a:prstGeom prst="ellipse">
            <a:avLst/>
          </a:prstGeom>
          <a:solidFill>
            <a:srgbClr val="E8654F"/>
          </a:solidFill>
          <a:ln/>
          <a:effectLst>
            <a:outerShdw sx="100000" sy="100000" kx="0" ky="0" algn="bl" rotWithShape="0" blurRad="114300" dist="38100" dir="5400000">
              <a:srgbClr val="1A2440">
                <a:alpha val="16000"/>
              </a:srgbClr>
            </a:outerShdw>
          </a:effectLst>
        </p:spPr>
      </p:sp>
      <p:pic>
        <p:nvPicPr>
          <p:cNvPr id="25" name="Image 3" descr="/home/claude/build/icons/coins_white.png"/>
          <p:cNvPicPr>
            <a:picLocks noChangeAspect="1"/>
          </p:cNvPicPr>
          <p:nvPr/>
        </p:nvPicPr>
        <p:blipFill>
          <a:blip r:embed="rId5"/>
          <a:stretch>
            <a:fillRect/>
          </a:stretch>
        </p:blipFill>
        <p:spPr>
          <a:xfrm>
            <a:off x="6612575" y="5259263"/>
            <a:ext cx="289682" cy="289682"/>
          </a:xfrm>
          <a:prstGeom prst="rect">
            <a:avLst/>
          </a:prstGeom>
        </p:spPr>
      </p:pic>
      <p:sp>
        <p:nvSpPr>
          <p:cNvPr id="26" name="Text 19"/>
          <p:cNvSpPr/>
          <p:nvPr/>
        </p:nvSpPr>
        <p:spPr>
          <a:xfrm>
            <a:off x="7269480" y="5047488"/>
            <a:ext cx="4206240" cy="365760"/>
          </a:xfrm>
          <a:prstGeom prst="rect">
            <a:avLst/>
          </a:prstGeom>
          <a:noFill/>
          <a:ln/>
        </p:spPr>
        <p:txBody>
          <a:bodyPr wrap="square" lIns="0" tIns="0" rIns="0" bIns="0" rtlCol="0" anchor="ctr"/>
          <a:lstStyle/>
          <a:p>
            <a:pPr indent="0" marL="0">
              <a:buNone/>
            </a:pPr>
            <a:r>
              <a:rPr lang="en-US" sz="1600" b="1" dirty="0">
                <a:solidFill>
                  <a:srgbClr val="1B2335"/>
                </a:solidFill>
                <a:latin typeface="Bookman Old Style" pitchFamily="34" charset="0"/>
                <a:ea typeface="Bookman Old Style" pitchFamily="34" charset="-122"/>
                <a:cs typeface="Bookman Old Style" pitchFamily="34" charset="-120"/>
              </a:rPr>
              <a:t>Rewards Accrual</a:t>
            </a:r>
            <a:endParaRPr lang="en-US" sz="1600" dirty="0"/>
          </a:p>
        </p:txBody>
      </p:sp>
      <p:sp>
        <p:nvSpPr>
          <p:cNvPr id="27" name="Text 20"/>
          <p:cNvSpPr/>
          <p:nvPr/>
        </p:nvSpPr>
        <p:spPr>
          <a:xfrm>
            <a:off x="7269480" y="5394960"/>
            <a:ext cx="4251960" cy="457200"/>
          </a:xfrm>
          <a:prstGeom prst="rect">
            <a:avLst/>
          </a:prstGeom>
          <a:noFill/>
          <a:ln/>
        </p:spPr>
        <p:txBody>
          <a:bodyPr wrap="square" lIns="0" tIns="0" rIns="0" bIns="0" rtlCol="0" anchor="ctr"/>
          <a:lstStyle/>
          <a:p>
            <a:pPr indent="0" marL="0">
              <a:buNone/>
            </a:pPr>
            <a:r>
              <a:rPr lang="en-US" sz="1200" dirty="0">
                <a:solidFill>
                  <a:srgbClr val="5A6B8C"/>
                </a:solidFill>
                <a:latin typeface="Arial" pitchFamily="34" charset="0"/>
                <a:ea typeface="Arial" pitchFamily="34" charset="-122"/>
                <a:cs typeface="Arial" pitchFamily="34" charset="-120"/>
              </a:rPr>
              <a:t>A 1:1 loyalty-points balance accrues on qualifying activity.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822960" cy="502920"/>
          </a:xfrm>
          <a:prstGeom prst="rect">
            <a:avLst/>
          </a:prstGeom>
          <a:noFill/>
          <a:ln/>
        </p:spPr>
        <p:txBody>
          <a:bodyPr wrap="square" lIns="0" tIns="0" rIns="0" bIns="0" rtlCol="0" anchor="ctr"/>
          <a:lstStyle/>
          <a:p>
            <a:pPr indent="0" marL="0">
              <a:buNone/>
            </a:pPr>
            <a:r>
              <a:rPr lang="en-US" sz="2600" b="1" dirty="0">
                <a:solidFill>
                  <a:srgbClr val="CADCFC"/>
                </a:solidFill>
                <a:latin typeface="Bookman Old Style" pitchFamily="34" charset="0"/>
                <a:ea typeface="Bookman Old Style" pitchFamily="34" charset="-122"/>
                <a:cs typeface="Bookman Old Style" pitchFamily="34" charset="-120"/>
              </a:rPr>
              <a:t>08</a:t>
            </a:r>
            <a:endParaRPr lang="en-US" sz="2600" dirty="0"/>
          </a:p>
        </p:txBody>
      </p:sp>
      <p:sp>
        <p:nvSpPr>
          <p:cNvPr id="3" name="Shape 1"/>
          <p:cNvSpPr/>
          <p:nvPr/>
        </p:nvSpPr>
        <p:spPr>
          <a:xfrm>
            <a:off x="1078992" y="457200"/>
            <a:ext cx="25603" cy="384048"/>
          </a:xfrm>
          <a:prstGeom prst="rect">
            <a:avLst/>
          </a:prstGeom>
          <a:solidFill>
            <a:srgbClr val="F2B441"/>
          </a:solidFill>
          <a:ln/>
        </p:spPr>
      </p:sp>
      <p:sp>
        <p:nvSpPr>
          <p:cNvPr id="4" name="Text 2"/>
          <p:cNvSpPr/>
          <p:nvPr/>
        </p:nvSpPr>
        <p:spPr>
          <a:xfrm>
            <a:off x="1225296" y="365760"/>
            <a:ext cx="9601200" cy="274320"/>
          </a:xfrm>
          <a:prstGeom prst="rect">
            <a:avLst/>
          </a:prstGeom>
          <a:noFill/>
          <a:ln/>
        </p:spPr>
        <p:txBody>
          <a:bodyPr wrap="square" lIns="0" tIns="0" rIns="0" bIns="0" rtlCol="0" anchor="ctr"/>
          <a:lstStyle/>
          <a:p>
            <a:pPr indent="0" marL="0">
              <a:buNone/>
            </a:pPr>
            <a:r>
              <a:rPr lang="en-US" sz="1150" b="1" spc="300" kern="0" dirty="0">
                <a:solidFill>
                  <a:srgbClr val="F2B441"/>
                </a:solidFill>
                <a:latin typeface="Arial" pitchFamily="34" charset="0"/>
                <a:ea typeface="Arial" pitchFamily="34" charset="-122"/>
                <a:cs typeface="Arial" pitchFamily="34" charset="-120"/>
              </a:rPr>
              <a:t>KEY FEATURES · 3 OF 3</a:t>
            </a:r>
            <a:endParaRPr lang="en-US" sz="1150" dirty="0"/>
          </a:p>
        </p:txBody>
      </p:sp>
      <p:sp>
        <p:nvSpPr>
          <p:cNvPr id="5" name="Text 3"/>
          <p:cNvSpPr/>
          <p:nvPr/>
        </p:nvSpPr>
        <p:spPr>
          <a:xfrm>
            <a:off x="1207008" y="603504"/>
            <a:ext cx="10424160" cy="566928"/>
          </a:xfrm>
          <a:prstGeom prst="rect">
            <a:avLst/>
          </a:prstGeom>
          <a:noFill/>
          <a:ln/>
        </p:spPr>
        <p:txBody>
          <a:bodyPr wrap="square" lIns="0" tIns="0" rIns="0" bIns="0" rtlCol="0" anchor="ctr"/>
          <a:lstStyle/>
          <a:p>
            <a:pPr indent="0" marL="0">
              <a:buNone/>
            </a:pPr>
            <a:r>
              <a:rPr lang="en-US" sz="2700" b="1" dirty="0">
                <a:solidFill>
                  <a:srgbClr val="1B2335"/>
                </a:solidFill>
                <a:latin typeface="Bookman Old Style" pitchFamily="34" charset="0"/>
                <a:ea typeface="Bookman Old Style" pitchFamily="34" charset="-122"/>
                <a:cs typeface="Bookman Old Style" pitchFamily="34" charset="-120"/>
              </a:rPr>
              <a:t>Loan Application &amp; EMI Engine</a:t>
            </a:r>
            <a:endParaRPr lang="en-US" sz="2700" dirty="0"/>
          </a:p>
        </p:txBody>
      </p:sp>
      <p:sp>
        <p:nvSpPr>
          <p:cNvPr id="6" name="Shape 4"/>
          <p:cNvSpPr/>
          <p:nvPr/>
        </p:nvSpPr>
        <p:spPr>
          <a:xfrm>
            <a:off x="640080" y="1572768"/>
            <a:ext cx="1993392" cy="914400"/>
          </a:xfrm>
          <a:prstGeom prst="roundRect">
            <a:avLst>
              <a:gd name="adj" fmla="val 8000"/>
            </a:avLst>
          </a:prstGeom>
          <a:solidFill>
            <a:srgbClr val="1E2761"/>
          </a:solidFill>
          <a:ln/>
          <a:effectLst>
            <a:outerShdw sx="100000" sy="100000" kx="0" ky="0" algn="bl" rotWithShape="0" blurRad="114300" dist="38100" dir="5400000">
              <a:srgbClr val="1A2440">
                <a:alpha val="16000"/>
              </a:srgbClr>
            </a:outerShdw>
          </a:effectLst>
        </p:spPr>
      </p:sp>
      <p:sp>
        <p:nvSpPr>
          <p:cNvPr id="7" name="Shape 5"/>
          <p:cNvSpPr/>
          <p:nvPr/>
        </p:nvSpPr>
        <p:spPr>
          <a:xfrm>
            <a:off x="822960" y="1773936"/>
            <a:ext cx="512064" cy="512064"/>
          </a:xfrm>
          <a:prstGeom prst="ellipse">
            <a:avLst/>
          </a:prstGeom>
          <a:solidFill>
            <a:srgbClr val="F2B441"/>
          </a:solidFill>
          <a:ln/>
          <a:effectLst>
            <a:outerShdw sx="100000" sy="100000" kx="0" ky="0" algn="bl" rotWithShape="0" blurRad="114300" dist="38100" dir="5400000">
              <a:srgbClr val="1A2440">
                <a:alpha val="16000"/>
              </a:srgbClr>
            </a:outerShdw>
          </a:effectLst>
        </p:spPr>
      </p:sp>
      <p:pic>
        <p:nvPicPr>
          <p:cNvPr id="8" name="Image 0" descr="/home/claude/build/icons/list_white.png"/>
          <p:cNvPicPr>
            <a:picLocks noChangeAspect="1"/>
          </p:cNvPicPr>
          <p:nvPr/>
        </p:nvPicPr>
        <p:blipFill>
          <a:blip r:embed="rId1"/>
          <a:stretch>
            <a:fillRect/>
          </a:stretch>
        </p:blipFill>
        <p:spPr>
          <a:xfrm>
            <a:off x="956097" y="1907073"/>
            <a:ext cx="245791" cy="245791"/>
          </a:xfrm>
          <a:prstGeom prst="rect">
            <a:avLst/>
          </a:prstGeom>
        </p:spPr>
      </p:pic>
      <p:sp>
        <p:nvSpPr>
          <p:cNvPr id="9" name="Text 6"/>
          <p:cNvSpPr/>
          <p:nvPr/>
        </p:nvSpPr>
        <p:spPr>
          <a:xfrm>
            <a:off x="1408176" y="1572768"/>
            <a:ext cx="1170432" cy="914400"/>
          </a:xfrm>
          <a:prstGeom prst="rect">
            <a:avLst/>
          </a:prstGeom>
          <a:noFill/>
          <a:ln/>
        </p:spPr>
        <p:txBody>
          <a:bodyPr wrap="square" lIns="0" tIns="0" rIns="0" bIns="0" rtlCol="0" anchor="ctr"/>
          <a:lstStyle/>
          <a:p>
            <a:pPr indent="0" marL="0">
              <a:buNone/>
            </a:pPr>
            <a:r>
              <a:rPr lang="en-US" sz="1350" b="1" dirty="0">
                <a:solidFill>
                  <a:srgbClr val="FFFFFF"/>
                </a:solidFill>
                <a:latin typeface="Bookman Old Style" pitchFamily="34" charset="0"/>
                <a:ea typeface="Bookman Old Style" pitchFamily="34" charset="-122"/>
                <a:cs typeface="Bookman Old Style" pitchFamily="34" charset="-120"/>
              </a:rPr>
              <a:t>1. Apply</a:t>
            </a:r>
            <a:endParaRPr lang="en-US" sz="1350" dirty="0"/>
          </a:p>
        </p:txBody>
      </p:sp>
      <p:sp>
        <p:nvSpPr>
          <p:cNvPr id="10" name="Text 7"/>
          <p:cNvSpPr/>
          <p:nvPr/>
        </p:nvSpPr>
        <p:spPr>
          <a:xfrm>
            <a:off x="2615184" y="1682496"/>
            <a:ext cx="274320" cy="694944"/>
          </a:xfrm>
          <a:prstGeom prst="rect">
            <a:avLst/>
          </a:prstGeom>
          <a:noFill/>
          <a:ln/>
        </p:spPr>
        <p:txBody>
          <a:bodyPr wrap="square" lIns="0" tIns="0" rIns="0" bIns="0" rtlCol="0" anchor="ctr"/>
          <a:lstStyle/>
          <a:p>
            <a:pPr algn="ctr" indent="0" marL="0">
              <a:buNone/>
            </a:pPr>
            <a:r>
              <a:rPr lang="en-US" sz="3000" b="1" dirty="0">
                <a:solidFill>
                  <a:srgbClr val="F2B441"/>
                </a:solidFill>
                <a:latin typeface="Arial" pitchFamily="34" charset="0"/>
                <a:ea typeface="Arial" pitchFamily="34" charset="-122"/>
                <a:cs typeface="Arial" pitchFamily="34" charset="-120"/>
              </a:rPr>
              <a:t>›</a:t>
            </a:r>
            <a:endParaRPr lang="en-US" sz="3000" dirty="0"/>
          </a:p>
        </p:txBody>
      </p:sp>
      <p:sp>
        <p:nvSpPr>
          <p:cNvPr id="11" name="Shape 8"/>
          <p:cNvSpPr/>
          <p:nvPr/>
        </p:nvSpPr>
        <p:spPr>
          <a:xfrm>
            <a:off x="2916936" y="1572768"/>
            <a:ext cx="1993392" cy="914400"/>
          </a:xfrm>
          <a:prstGeom prst="roundRect">
            <a:avLst>
              <a:gd name="adj" fmla="val 8000"/>
            </a:avLst>
          </a:prstGeom>
          <a:solidFill>
            <a:srgbClr val="1E2761"/>
          </a:solidFill>
          <a:ln/>
          <a:effectLst>
            <a:outerShdw sx="100000" sy="100000" kx="0" ky="0" algn="bl" rotWithShape="0" blurRad="114300" dist="38100" dir="5400000">
              <a:srgbClr val="1A2440">
                <a:alpha val="16000"/>
              </a:srgbClr>
            </a:outerShdw>
          </a:effectLst>
        </p:spPr>
      </p:sp>
      <p:sp>
        <p:nvSpPr>
          <p:cNvPr id="12" name="Shape 9"/>
          <p:cNvSpPr/>
          <p:nvPr/>
        </p:nvSpPr>
        <p:spPr>
          <a:xfrm>
            <a:off x="3099816" y="1773936"/>
            <a:ext cx="512064" cy="512064"/>
          </a:xfrm>
          <a:prstGeom prst="ellipse">
            <a:avLst/>
          </a:prstGeom>
          <a:solidFill>
            <a:srgbClr val="F2B441"/>
          </a:solidFill>
          <a:ln/>
          <a:effectLst>
            <a:outerShdw sx="100000" sy="100000" kx="0" ky="0" algn="bl" rotWithShape="0" blurRad="114300" dist="38100" dir="5400000">
              <a:srgbClr val="1A2440">
                <a:alpha val="16000"/>
              </a:srgbClr>
            </a:outerShdw>
          </a:effectLst>
        </p:spPr>
      </p:sp>
      <p:pic>
        <p:nvPicPr>
          <p:cNvPr id="13" name="Image 1" descr="/home/claude/build/icons/user_white.png"/>
          <p:cNvPicPr>
            <a:picLocks noChangeAspect="1"/>
          </p:cNvPicPr>
          <p:nvPr/>
        </p:nvPicPr>
        <p:blipFill>
          <a:blip r:embed="rId2"/>
          <a:stretch>
            <a:fillRect/>
          </a:stretch>
        </p:blipFill>
        <p:spPr>
          <a:xfrm>
            <a:off x="3232953" y="1907073"/>
            <a:ext cx="245791" cy="245791"/>
          </a:xfrm>
          <a:prstGeom prst="rect">
            <a:avLst/>
          </a:prstGeom>
        </p:spPr>
      </p:pic>
      <p:sp>
        <p:nvSpPr>
          <p:cNvPr id="14" name="Text 10"/>
          <p:cNvSpPr/>
          <p:nvPr/>
        </p:nvSpPr>
        <p:spPr>
          <a:xfrm>
            <a:off x="3685032" y="1572768"/>
            <a:ext cx="1170432" cy="914400"/>
          </a:xfrm>
          <a:prstGeom prst="rect">
            <a:avLst/>
          </a:prstGeom>
          <a:noFill/>
          <a:ln/>
        </p:spPr>
        <p:txBody>
          <a:bodyPr wrap="square" lIns="0" tIns="0" rIns="0" bIns="0" rtlCol="0" anchor="ctr"/>
          <a:lstStyle/>
          <a:p>
            <a:pPr indent="0" marL="0">
              <a:buNone/>
            </a:pPr>
            <a:r>
              <a:rPr lang="en-US" sz="1350" b="1" dirty="0">
                <a:solidFill>
                  <a:srgbClr val="FFFFFF"/>
                </a:solidFill>
                <a:latin typeface="Bookman Old Style" pitchFamily="34" charset="0"/>
                <a:ea typeface="Bookman Old Style" pitchFamily="34" charset="-122"/>
                <a:cs typeface="Bookman Old Style" pitchFamily="34" charset="-120"/>
              </a:rPr>
              <a:t>2. Admin Review</a:t>
            </a:r>
            <a:endParaRPr lang="en-US" sz="1350" dirty="0"/>
          </a:p>
        </p:txBody>
      </p:sp>
      <p:sp>
        <p:nvSpPr>
          <p:cNvPr id="15" name="Text 11"/>
          <p:cNvSpPr/>
          <p:nvPr/>
        </p:nvSpPr>
        <p:spPr>
          <a:xfrm>
            <a:off x="4892040" y="1682496"/>
            <a:ext cx="274320" cy="694944"/>
          </a:xfrm>
          <a:prstGeom prst="rect">
            <a:avLst/>
          </a:prstGeom>
          <a:noFill/>
          <a:ln/>
        </p:spPr>
        <p:txBody>
          <a:bodyPr wrap="square" lIns="0" tIns="0" rIns="0" bIns="0" rtlCol="0" anchor="ctr"/>
          <a:lstStyle/>
          <a:p>
            <a:pPr algn="ctr" indent="0" marL="0">
              <a:buNone/>
            </a:pPr>
            <a:r>
              <a:rPr lang="en-US" sz="3000" b="1" dirty="0">
                <a:solidFill>
                  <a:srgbClr val="F2B441"/>
                </a:solidFill>
                <a:latin typeface="Arial" pitchFamily="34" charset="0"/>
                <a:ea typeface="Arial" pitchFamily="34" charset="-122"/>
                <a:cs typeface="Arial" pitchFamily="34" charset="-120"/>
              </a:rPr>
              <a:t>›</a:t>
            </a:r>
            <a:endParaRPr lang="en-US" sz="3000" dirty="0"/>
          </a:p>
        </p:txBody>
      </p:sp>
      <p:sp>
        <p:nvSpPr>
          <p:cNvPr id="16" name="Shape 12"/>
          <p:cNvSpPr/>
          <p:nvPr/>
        </p:nvSpPr>
        <p:spPr>
          <a:xfrm>
            <a:off x="5193792" y="1572768"/>
            <a:ext cx="1993392" cy="914400"/>
          </a:xfrm>
          <a:prstGeom prst="roundRect">
            <a:avLst>
              <a:gd name="adj" fmla="val 8000"/>
            </a:avLst>
          </a:prstGeom>
          <a:solidFill>
            <a:srgbClr val="1E2761"/>
          </a:solidFill>
          <a:ln/>
          <a:effectLst>
            <a:outerShdw sx="100000" sy="100000" kx="0" ky="0" algn="bl" rotWithShape="0" blurRad="114300" dist="38100" dir="5400000">
              <a:srgbClr val="1A2440">
                <a:alpha val="16000"/>
              </a:srgbClr>
            </a:outerShdw>
          </a:effectLst>
        </p:spPr>
      </p:sp>
      <p:sp>
        <p:nvSpPr>
          <p:cNvPr id="17" name="Shape 13"/>
          <p:cNvSpPr/>
          <p:nvPr/>
        </p:nvSpPr>
        <p:spPr>
          <a:xfrm>
            <a:off x="5376672" y="1773936"/>
            <a:ext cx="512064" cy="512064"/>
          </a:xfrm>
          <a:prstGeom prst="ellipse">
            <a:avLst/>
          </a:prstGeom>
          <a:solidFill>
            <a:srgbClr val="F2B441"/>
          </a:solidFill>
          <a:ln/>
          <a:effectLst>
            <a:outerShdw sx="100000" sy="100000" kx="0" ky="0" algn="bl" rotWithShape="0" blurRad="114300" dist="38100" dir="5400000">
              <a:srgbClr val="1A2440">
                <a:alpha val="16000"/>
              </a:srgbClr>
            </a:outerShdw>
          </a:effectLst>
        </p:spPr>
      </p:sp>
      <p:pic>
        <p:nvPicPr>
          <p:cNvPr id="18" name="Image 2" descr="/home/claude/build/icons/check_white.png"/>
          <p:cNvPicPr>
            <a:picLocks noChangeAspect="1"/>
          </p:cNvPicPr>
          <p:nvPr/>
        </p:nvPicPr>
        <p:blipFill>
          <a:blip r:embed="rId3"/>
          <a:stretch>
            <a:fillRect/>
          </a:stretch>
        </p:blipFill>
        <p:spPr>
          <a:xfrm>
            <a:off x="5509809" y="1907073"/>
            <a:ext cx="245791" cy="245791"/>
          </a:xfrm>
          <a:prstGeom prst="rect">
            <a:avLst/>
          </a:prstGeom>
        </p:spPr>
      </p:pic>
      <p:sp>
        <p:nvSpPr>
          <p:cNvPr id="19" name="Text 14"/>
          <p:cNvSpPr/>
          <p:nvPr/>
        </p:nvSpPr>
        <p:spPr>
          <a:xfrm>
            <a:off x="5961888" y="1572768"/>
            <a:ext cx="1170432" cy="914400"/>
          </a:xfrm>
          <a:prstGeom prst="rect">
            <a:avLst/>
          </a:prstGeom>
          <a:noFill/>
          <a:ln/>
        </p:spPr>
        <p:txBody>
          <a:bodyPr wrap="square" lIns="0" tIns="0" rIns="0" bIns="0" rtlCol="0" anchor="ctr"/>
          <a:lstStyle/>
          <a:p>
            <a:pPr indent="0" marL="0">
              <a:buNone/>
            </a:pPr>
            <a:r>
              <a:rPr lang="en-US" sz="1350" b="1" dirty="0">
                <a:solidFill>
                  <a:srgbClr val="FFFFFF"/>
                </a:solidFill>
                <a:latin typeface="Bookman Old Style" pitchFamily="34" charset="0"/>
                <a:ea typeface="Bookman Old Style" pitchFamily="34" charset="-122"/>
                <a:cs typeface="Bookman Old Style" pitchFamily="34" charset="-120"/>
              </a:rPr>
              <a:t>3. Approve</a:t>
            </a:r>
            <a:endParaRPr lang="en-US" sz="1350" dirty="0"/>
          </a:p>
        </p:txBody>
      </p:sp>
      <p:sp>
        <p:nvSpPr>
          <p:cNvPr id="20" name="Text 15"/>
          <p:cNvSpPr/>
          <p:nvPr/>
        </p:nvSpPr>
        <p:spPr>
          <a:xfrm>
            <a:off x="7168896" y="1682496"/>
            <a:ext cx="274320" cy="694944"/>
          </a:xfrm>
          <a:prstGeom prst="rect">
            <a:avLst/>
          </a:prstGeom>
          <a:noFill/>
          <a:ln/>
        </p:spPr>
        <p:txBody>
          <a:bodyPr wrap="square" lIns="0" tIns="0" rIns="0" bIns="0" rtlCol="0" anchor="ctr"/>
          <a:lstStyle/>
          <a:p>
            <a:pPr algn="ctr" indent="0" marL="0">
              <a:buNone/>
            </a:pPr>
            <a:r>
              <a:rPr lang="en-US" sz="3000" b="1" dirty="0">
                <a:solidFill>
                  <a:srgbClr val="F2B441"/>
                </a:solidFill>
                <a:latin typeface="Arial" pitchFamily="34" charset="0"/>
                <a:ea typeface="Arial" pitchFamily="34" charset="-122"/>
                <a:cs typeface="Arial" pitchFamily="34" charset="-120"/>
              </a:rPr>
              <a:t>›</a:t>
            </a:r>
            <a:endParaRPr lang="en-US" sz="3000" dirty="0"/>
          </a:p>
        </p:txBody>
      </p:sp>
      <p:sp>
        <p:nvSpPr>
          <p:cNvPr id="21" name="Shape 16"/>
          <p:cNvSpPr/>
          <p:nvPr/>
        </p:nvSpPr>
        <p:spPr>
          <a:xfrm>
            <a:off x="7470648" y="1572768"/>
            <a:ext cx="1993392" cy="914400"/>
          </a:xfrm>
          <a:prstGeom prst="roundRect">
            <a:avLst>
              <a:gd name="adj" fmla="val 8000"/>
            </a:avLst>
          </a:prstGeom>
          <a:solidFill>
            <a:srgbClr val="1E2761"/>
          </a:solidFill>
          <a:ln/>
          <a:effectLst>
            <a:outerShdw sx="100000" sy="100000" kx="0" ky="0" algn="bl" rotWithShape="0" blurRad="114300" dist="38100" dir="5400000">
              <a:srgbClr val="1A2440">
                <a:alpha val="16000"/>
              </a:srgbClr>
            </a:outerShdw>
          </a:effectLst>
        </p:spPr>
      </p:sp>
      <p:sp>
        <p:nvSpPr>
          <p:cNvPr id="22" name="Shape 17"/>
          <p:cNvSpPr/>
          <p:nvPr/>
        </p:nvSpPr>
        <p:spPr>
          <a:xfrm>
            <a:off x="7653528" y="1773936"/>
            <a:ext cx="512064" cy="512064"/>
          </a:xfrm>
          <a:prstGeom prst="ellipse">
            <a:avLst/>
          </a:prstGeom>
          <a:solidFill>
            <a:srgbClr val="F2B441"/>
          </a:solidFill>
          <a:ln/>
          <a:effectLst>
            <a:outerShdw sx="100000" sy="100000" kx="0" ky="0" algn="bl" rotWithShape="0" blurRad="114300" dist="38100" dir="5400000">
              <a:srgbClr val="1A2440">
                <a:alpha val="16000"/>
              </a:srgbClr>
            </a:outerShdw>
          </a:effectLst>
        </p:spPr>
      </p:sp>
      <p:pic>
        <p:nvPicPr>
          <p:cNvPr id="23" name="Image 3" descr="/home/claude/build/icons/money_white.png"/>
          <p:cNvPicPr>
            <a:picLocks noChangeAspect="1"/>
          </p:cNvPicPr>
          <p:nvPr/>
        </p:nvPicPr>
        <p:blipFill>
          <a:blip r:embed="rId4"/>
          <a:stretch>
            <a:fillRect/>
          </a:stretch>
        </p:blipFill>
        <p:spPr>
          <a:xfrm>
            <a:off x="7786665" y="1907073"/>
            <a:ext cx="245791" cy="245791"/>
          </a:xfrm>
          <a:prstGeom prst="rect">
            <a:avLst/>
          </a:prstGeom>
        </p:spPr>
      </p:pic>
      <p:sp>
        <p:nvSpPr>
          <p:cNvPr id="24" name="Text 18"/>
          <p:cNvSpPr/>
          <p:nvPr/>
        </p:nvSpPr>
        <p:spPr>
          <a:xfrm>
            <a:off x="8238744" y="1572768"/>
            <a:ext cx="1170432" cy="914400"/>
          </a:xfrm>
          <a:prstGeom prst="rect">
            <a:avLst/>
          </a:prstGeom>
          <a:noFill/>
          <a:ln/>
        </p:spPr>
        <p:txBody>
          <a:bodyPr wrap="square" lIns="0" tIns="0" rIns="0" bIns="0" rtlCol="0" anchor="ctr"/>
          <a:lstStyle/>
          <a:p>
            <a:pPr indent="0" marL="0">
              <a:buNone/>
            </a:pPr>
            <a:r>
              <a:rPr lang="en-US" sz="1350" b="1" dirty="0">
                <a:solidFill>
                  <a:srgbClr val="FFFFFF"/>
                </a:solidFill>
                <a:latin typeface="Bookman Old Style" pitchFamily="34" charset="0"/>
                <a:ea typeface="Bookman Old Style" pitchFamily="34" charset="-122"/>
                <a:cs typeface="Bookman Old Style" pitchFamily="34" charset="-120"/>
              </a:rPr>
              <a:t>4. Disburse</a:t>
            </a:r>
            <a:endParaRPr lang="en-US" sz="1350" dirty="0"/>
          </a:p>
        </p:txBody>
      </p:sp>
      <p:sp>
        <p:nvSpPr>
          <p:cNvPr id="25" name="Text 19"/>
          <p:cNvSpPr/>
          <p:nvPr/>
        </p:nvSpPr>
        <p:spPr>
          <a:xfrm>
            <a:off x="9445752" y="1682496"/>
            <a:ext cx="274320" cy="694944"/>
          </a:xfrm>
          <a:prstGeom prst="rect">
            <a:avLst/>
          </a:prstGeom>
          <a:noFill/>
          <a:ln/>
        </p:spPr>
        <p:txBody>
          <a:bodyPr wrap="square" lIns="0" tIns="0" rIns="0" bIns="0" rtlCol="0" anchor="ctr"/>
          <a:lstStyle/>
          <a:p>
            <a:pPr algn="ctr" indent="0" marL="0">
              <a:buNone/>
            </a:pPr>
            <a:r>
              <a:rPr lang="en-US" sz="3000" b="1" dirty="0">
                <a:solidFill>
                  <a:srgbClr val="F2B441"/>
                </a:solidFill>
                <a:latin typeface="Arial" pitchFamily="34" charset="0"/>
                <a:ea typeface="Arial" pitchFamily="34" charset="-122"/>
                <a:cs typeface="Arial" pitchFamily="34" charset="-120"/>
              </a:rPr>
              <a:t>›</a:t>
            </a:r>
            <a:endParaRPr lang="en-US" sz="3000" dirty="0"/>
          </a:p>
        </p:txBody>
      </p:sp>
      <p:sp>
        <p:nvSpPr>
          <p:cNvPr id="26" name="Shape 20"/>
          <p:cNvSpPr/>
          <p:nvPr/>
        </p:nvSpPr>
        <p:spPr>
          <a:xfrm>
            <a:off x="9747504" y="1572768"/>
            <a:ext cx="1993392" cy="914400"/>
          </a:xfrm>
          <a:prstGeom prst="roundRect">
            <a:avLst>
              <a:gd name="adj" fmla="val 8000"/>
            </a:avLst>
          </a:prstGeom>
          <a:solidFill>
            <a:srgbClr val="1E2761"/>
          </a:solidFill>
          <a:ln/>
          <a:effectLst>
            <a:outerShdw sx="100000" sy="100000" kx="0" ky="0" algn="bl" rotWithShape="0" blurRad="114300" dist="38100" dir="5400000">
              <a:srgbClr val="1A2440">
                <a:alpha val="16000"/>
              </a:srgbClr>
            </a:outerShdw>
          </a:effectLst>
        </p:spPr>
      </p:sp>
      <p:sp>
        <p:nvSpPr>
          <p:cNvPr id="27" name="Shape 21"/>
          <p:cNvSpPr/>
          <p:nvPr/>
        </p:nvSpPr>
        <p:spPr>
          <a:xfrm>
            <a:off x="9930384" y="1773936"/>
            <a:ext cx="512064" cy="512064"/>
          </a:xfrm>
          <a:prstGeom prst="ellipse">
            <a:avLst/>
          </a:prstGeom>
          <a:solidFill>
            <a:srgbClr val="F2B441"/>
          </a:solidFill>
          <a:ln/>
          <a:effectLst>
            <a:outerShdw sx="100000" sy="100000" kx="0" ky="0" algn="bl" rotWithShape="0" blurRad="114300" dist="38100" dir="5400000">
              <a:srgbClr val="1A2440">
                <a:alpha val="16000"/>
              </a:srgbClr>
            </a:outerShdw>
          </a:effectLst>
        </p:spPr>
      </p:sp>
      <p:pic>
        <p:nvPicPr>
          <p:cNvPr id="28" name="Image 4" descr="/home/claude/build/icons/calendar_white.png"/>
          <p:cNvPicPr>
            <a:picLocks noChangeAspect="1"/>
          </p:cNvPicPr>
          <p:nvPr/>
        </p:nvPicPr>
        <p:blipFill>
          <a:blip r:embed="rId5"/>
          <a:stretch>
            <a:fillRect/>
          </a:stretch>
        </p:blipFill>
        <p:spPr>
          <a:xfrm>
            <a:off x="10063521" y="1907073"/>
            <a:ext cx="245791" cy="245791"/>
          </a:xfrm>
          <a:prstGeom prst="rect">
            <a:avLst/>
          </a:prstGeom>
        </p:spPr>
      </p:pic>
      <p:sp>
        <p:nvSpPr>
          <p:cNvPr id="29" name="Text 22"/>
          <p:cNvSpPr/>
          <p:nvPr/>
        </p:nvSpPr>
        <p:spPr>
          <a:xfrm>
            <a:off x="10515600" y="1572768"/>
            <a:ext cx="1170432" cy="914400"/>
          </a:xfrm>
          <a:prstGeom prst="rect">
            <a:avLst/>
          </a:prstGeom>
          <a:noFill/>
          <a:ln/>
        </p:spPr>
        <p:txBody>
          <a:bodyPr wrap="square" lIns="0" tIns="0" rIns="0" bIns="0" rtlCol="0" anchor="ctr"/>
          <a:lstStyle/>
          <a:p>
            <a:pPr indent="0" marL="0">
              <a:buNone/>
            </a:pPr>
            <a:r>
              <a:rPr lang="en-US" sz="1350" b="1" dirty="0">
                <a:solidFill>
                  <a:srgbClr val="FFFFFF"/>
                </a:solidFill>
                <a:latin typeface="Bookman Old Style" pitchFamily="34" charset="0"/>
                <a:ea typeface="Bookman Old Style" pitchFamily="34" charset="-122"/>
                <a:cs typeface="Bookman Old Style" pitchFamily="34" charset="-120"/>
              </a:rPr>
              <a:t>5. Schedule</a:t>
            </a:r>
            <a:endParaRPr lang="en-US" sz="1350" dirty="0"/>
          </a:p>
        </p:txBody>
      </p:sp>
      <p:sp>
        <p:nvSpPr>
          <p:cNvPr id="30" name="Shape 23"/>
          <p:cNvSpPr/>
          <p:nvPr/>
        </p:nvSpPr>
        <p:spPr>
          <a:xfrm>
            <a:off x="640080" y="2743200"/>
            <a:ext cx="5486400" cy="3017520"/>
          </a:xfrm>
          <a:prstGeom prst="roundRect">
            <a:avLst>
              <a:gd name="adj" fmla="val 3030"/>
            </a:avLst>
          </a:prstGeom>
          <a:solidFill>
            <a:srgbClr val="F4F7FC"/>
          </a:solidFill>
          <a:ln/>
          <a:effectLst>
            <a:outerShdw sx="100000" sy="100000" kx="0" ky="0" algn="bl" rotWithShape="0" blurRad="114300" dist="38100" dir="5400000">
              <a:srgbClr val="1A2440">
                <a:alpha val="16000"/>
              </a:srgbClr>
            </a:outerShdw>
          </a:effectLst>
        </p:spPr>
      </p:sp>
      <p:sp>
        <p:nvSpPr>
          <p:cNvPr id="31" name="Text 24"/>
          <p:cNvSpPr/>
          <p:nvPr/>
        </p:nvSpPr>
        <p:spPr>
          <a:xfrm>
            <a:off x="914400" y="2944368"/>
            <a:ext cx="4937760" cy="320040"/>
          </a:xfrm>
          <a:prstGeom prst="rect">
            <a:avLst/>
          </a:prstGeom>
          <a:noFill/>
          <a:ln/>
        </p:spPr>
        <p:txBody>
          <a:bodyPr wrap="square" lIns="0" tIns="0" rIns="0" bIns="0" rtlCol="0" anchor="ctr"/>
          <a:lstStyle/>
          <a:p>
            <a:pPr indent="0" marL="0">
              <a:buNone/>
            </a:pPr>
            <a:r>
              <a:rPr lang="en-US" sz="1150" b="1" spc="200" kern="0" dirty="0">
                <a:solidFill>
                  <a:srgbClr val="F2B441"/>
                </a:solidFill>
                <a:latin typeface="Arial" pitchFamily="34" charset="0"/>
                <a:ea typeface="Arial" pitchFamily="34" charset="-122"/>
                <a:cs typeface="Arial" pitchFamily="34" charset="-120"/>
              </a:rPr>
              <a:t>REDUCING-BALANCE EMI</a:t>
            </a:r>
            <a:endParaRPr lang="en-US" sz="1150" dirty="0"/>
          </a:p>
        </p:txBody>
      </p:sp>
      <p:sp>
        <p:nvSpPr>
          <p:cNvPr id="32" name="Text 25"/>
          <p:cNvSpPr/>
          <p:nvPr/>
        </p:nvSpPr>
        <p:spPr>
          <a:xfrm>
            <a:off x="914400" y="3291840"/>
            <a:ext cx="5029200" cy="640080"/>
          </a:xfrm>
          <a:prstGeom prst="rect">
            <a:avLst/>
          </a:prstGeom>
          <a:noFill/>
          <a:ln/>
        </p:spPr>
        <p:txBody>
          <a:bodyPr wrap="square" lIns="0" tIns="0" rIns="0" bIns="0" rtlCol="0" anchor="ctr"/>
          <a:lstStyle/>
          <a:p>
            <a:pPr indent="0" marL="0">
              <a:buNone/>
            </a:pPr>
            <a:r>
              <a:rPr lang="en-US" sz="2100" b="1" dirty="0">
                <a:solidFill>
                  <a:srgbClr val="1B2335"/>
                </a:solidFill>
                <a:latin typeface="Bookman Old Style" pitchFamily="34" charset="0"/>
                <a:ea typeface="Bookman Old Style" pitchFamily="34" charset="-122"/>
                <a:cs typeface="Bookman Old Style" pitchFamily="34" charset="-120"/>
              </a:rPr>
              <a:t xml:space="preserve">EMI = </a:t>
            </a:r>
            <a:pPr indent="0" marL="0">
              <a:buNone/>
            </a:pPr>
            <a:r>
              <a:rPr lang="en-US" sz="2100" b="1" dirty="0">
                <a:solidFill>
                  <a:srgbClr val="1E2761"/>
                </a:solidFill>
                <a:latin typeface="Bookman Old Style" pitchFamily="34" charset="0"/>
                <a:ea typeface="Bookman Old Style" pitchFamily="34" charset="-122"/>
                <a:cs typeface="Bookman Old Style" pitchFamily="34" charset="-120"/>
              </a:rPr>
              <a:t>P · r · (1+r)</a:t>
            </a:r>
            <a:pPr indent="0" marL="0">
              <a:buNone/>
            </a:pPr>
            <a:r>
              <a:rPr lang="en-US" sz="2100" b="1" baseline="30000" dirty="0">
                <a:solidFill>
                  <a:srgbClr val="1E2761"/>
                </a:solidFill>
                <a:latin typeface="Bookman Old Style" pitchFamily="34" charset="0"/>
                <a:ea typeface="Bookman Old Style" pitchFamily="34" charset="-122"/>
                <a:cs typeface="Bookman Old Style" pitchFamily="34" charset="-120"/>
              </a:rPr>
              <a:t>ⁿ</a:t>
            </a:r>
            <a:pPr indent="0" marL="0">
              <a:buNone/>
            </a:pPr>
            <a:r>
              <a:rPr lang="en-US" sz="2100" b="1" dirty="0">
                <a:solidFill>
                  <a:srgbClr val="1E2761"/>
                </a:solidFill>
                <a:latin typeface="Bookman Old Style" pitchFamily="34" charset="0"/>
                <a:ea typeface="Bookman Old Style" pitchFamily="34" charset="-122"/>
                <a:cs typeface="Bookman Old Style" pitchFamily="34" charset="-120"/>
              </a:rPr>
              <a:t xml:space="preserve"> / [ (1+r)</a:t>
            </a:r>
            <a:pPr indent="0" marL="0">
              <a:buNone/>
            </a:pPr>
            <a:r>
              <a:rPr lang="en-US" sz="2100" b="1" baseline="30000" dirty="0">
                <a:solidFill>
                  <a:srgbClr val="1E2761"/>
                </a:solidFill>
                <a:latin typeface="Bookman Old Style" pitchFamily="34" charset="0"/>
                <a:ea typeface="Bookman Old Style" pitchFamily="34" charset="-122"/>
                <a:cs typeface="Bookman Old Style" pitchFamily="34" charset="-120"/>
              </a:rPr>
              <a:t>ⁿ</a:t>
            </a:r>
            <a:pPr indent="0" marL="0">
              <a:buNone/>
            </a:pPr>
            <a:r>
              <a:rPr lang="en-US" sz="2100" b="1" dirty="0">
                <a:solidFill>
                  <a:srgbClr val="1E2761"/>
                </a:solidFill>
                <a:latin typeface="Bookman Old Style" pitchFamily="34" charset="0"/>
                <a:ea typeface="Bookman Old Style" pitchFamily="34" charset="-122"/>
                <a:cs typeface="Bookman Old Style" pitchFamily="34" charset="-120"/>
              </a:rPr>
              <a:t xml:space="preserve"> − 1 ]</a:t>
            </a:r>
            <a:endParaRPr lang="en-US" sz="2100" dirty="0"/>
          </a:p>
        </p:txBody>
      </p:sp>
      <p:sp>
        <p:nvSpPr>
          <p:cNvPr id="33" name="Text 26"/>
          <p:cNvSpPr/>
          <p:nvPr/>
        </p:nvSpPr>
        <p:spPr>
          <a:xfrm>
            <a:off x="914400" y="3950208"/>
            <a:ext cx="5029200" cy="365760"/>
          </a:xfrm>
          <a:prstGeom prst="rect">
            <a:avLst/>
          </a:prstGeom>
          <a:noFill/>
          <a:ln/>
        </p:spPr>
        <p:txBody>
          <a:bodyPr wrap="square" lIns="0" tIns="0" rIns="0" bIns="0" rtlCol="0" anchor="ctr"/>
          <a:lstStyle/>
          <a:p>
            <a:pPr indent="0" marL="0">
              <a:buNone/>
            </a:pPr>
            <a:r>
              <a:rPr lang="en-US" sz="1250" b="1" dirty="0">
                <a:solidFill>
                  <a:srgbClr val="5A6B8C"/>
                </a:solidFill>
                <a:latin typeface="Arial" pitchFamily="34" charset="0"/>
                <a:ea typeface="Arial" pitchFamily="34" charset="-122"/>
                <a:cs typeface="Arial" pitchFamily="34" charset="-120"/>
              </a:rPr>
              <a:t>P</a:t>
            </a:r>
            <a:pPr indent="0" marL="0">
              <a:buNone/>
            </a:pPr>
            <a:r>
              <a:rPr lang="en-US" sz="1250" dirty="0">
                <a:solidFill>
                  <a:srgbClr val="5A6B8C"/>
                </a:solidFill>
                <a:latin typeface="Arial" pitchFamily="34" charset="0"/>
                <a:ea typeface="Arial" pitchFamily="34" charset="-122"/>
                <a:cs typeface="Arial" pitchFamily="34" charset="-120"/>
              </a:rPr>
              <a:t xml:space="preserve"> principal     </a:t>
            </a:r>
            <a:pPr indent="0" marL="0">
              <a:buNone/>
            </a:pPr>
            <a:r>
              <a:rPr lang="en-US" sz="1250" b="1" dirty="0">
                <a:solidFill>
                  <a:srgbClr val="5A6B8C"/>
                </a:solidFill>
                <a:latin typeface="Arial" pitchFamily="34" charset="0"/>
                <a:ea typeface="Arial" pitchFamily="34" charset="-122"/>
                <a:cs typeface="Arial" pitchFamily="34" charset="-120"/>
              </a:rPr>
              <a:t>r</a:t>
            </a:r>
            <a:pPr indent="0" marL="0">
              <a:buNone/>
            </a:pPr>
            <a:r>
              <a:rPr lang="en-US" sz="1250" dirty="0">
                <a:solidFill>
                  <a:srgbClr val="5A6B8C"/>
                </a:solidFill>
                <a:latin typeface="Arial" pitchFamily="34" charset="0"/>
                <a:ea typeface="Arial" pitchFamily="34" charset="-122"/>
                <a:cs typeface="Arial" pitchFamily="34" charset="-120"/>
              </a:rPr>
              <a:t xml:space="preserve"> monthly rate     </a:t>
            </a:r>
            <a:pPr indent="0" marL="0">
              <a:buNone/>
            </a:pPr>
            <a:r>
              <a:rPr lang="en-US" sz="1250" b="1" dirty="0">
                <a:solidFill>
                  <a:srgbClr val="5A6B8C"/>
                </a:solidFill>
                <a:latin typeface="Arial" pitchFamily="34" charset="0"/>
                <a:ea typeface="Arial" pitchFamily="34" charset="-122"/>
                <a:cs typeface="Arial" pitchFamily="34" charset="-120"/>
              </a:rPr>
              <a:t>n</a:t>
            </a:r>
            <a:pPr indent="0" marL="0">
              <a:buNone/>
            </a:pPr>
            <a:r>
              <a:rPr lang="en-US" sz="1250" dirty="0">
                <a:solidFill>
                  <a:srgbClr val="5A6B8C"/>
                </a:solidFill>
                <a:latin typeface="Arial" pitchFamily="34" charset="0"/>
                <a:ea typeface="Arial" pitchFamily="34" charset="-122"/>
                <a:cs typeface="Arial" pitchFamily="34" charset="-120"/>
              </a:rPr>
              <a:t xml:space="preserve"> tenure (months)</a:t>
            </a:r>
            <a:endParaRPr lang="en-US" sz="1250" dirty="0"/>
          </a:p>
        </p:txBody>
      </p:sp>
      <p:sp>
        <p:nvSpPr>
          <p:cNvPr id="34" name="Text 27"/>
          <p:cNvSpPr/>
          <p:nvPr/>
        </p:nvSpPr>
        <p:spPr>
          <a:xfrm>
            <a:off x="914400" y="4434840"/>
            <a:ext cx="5074920" cy="1188720"/>
          </a:xfrm>
          <a:prstGeom prst="rect">
            <a:avLst/>
          </a:prstGeom>
          <a:noFill/>
          <a:ln/>
        </p:spPr>
        <p:txBody>
          <a:bodyPr wrap="square" lIns="0" tIns="0" rIns="0" bIns="0" rtlCol="0" anchor="ctr"/>
          <a:lstStyle/>
          <a:p>
            <a:pPr indent="0" marL="0">
              <a:buNone/>
            </a:pPr>
            <a:r>
              <a:rPr lang="en-US" sz="1300" b="1" dirty="0">
                <a:solidFill>
                  <a:srgbClr val="1B2335"/>
                </a:solidFill>
                <a:latin typeface="Arial" pitchFamily="34" charset="0"/>
                <a:ea typeface="Arial" pitchFamily="34" charset="-122"/>
                <a:cs typeface="Arial" pitchFamily="34" charset="-120"/>
              </a:rPr>
              <a:t xml:space="preserve">Final-instalment residual: </a:t>
            </a:r>
            <a:pPr indent="0" marL="0">
              <a:buNone/>
            </a:pPr>
            <a:r>
              <a:rPr lang="en-US" sz="1300" dirty="0">
                <a:solidFill>
                  <a:srgbClr val="5A6B8C"/>
                </a:solidFill>
                <a:latin typeface="Arial" pitchFamily="34" charset="0"/>
                <a:ea typeface="Arial" pitchFamily="34" charset="-122"/>
                <a:cs typeface="Arial" pitchFamily="34" charset="-120"/>
              </a:rPr>
              <a:t>interest is computed on the live reducing balance, and the last payment absorbs the rounding residual so the loan amortises to exactly zero — to the paise.</a:t>
            </a:r>
            <a:endParaRPr lang="en-US" sz="1300" dirty="0"/>
          </a:p>
        </p:txBody>
      </p:sp>
      <p:sp>
        <p:nvSpPr>
          <p:cNvPr id="35" name="Text 28"/>
          <p:cNvSpPr/>
          <p:nvPr/>
        </p:nvSpPr>
        <p:spPr>
          <a:xfrm>
            <a:off x="6492240" y="2743200"/>
            <a:ext cx="5120640" cy="320040"/>
          </a:xfrm>
          <a:prstGeom prst="rect">
            <a:avLst/>
          </a:prstGeom>
          <a:noFill/>
          <a:ln/>
        </p:spPr>
        <p:txBody>
          <a:bodyPr wrap="square" lIns="0" tIns="0" rIns="0" bIns="0" rtlCol="0" anchor="ctr"/>
          <a:lstStyle/>
          <a:p>
            <a:pPr indent="0" marL="0">
              <a:buNone/>
            </a:pPr>
            <a:r>
              <a:rPr lang="en-US" sz="1150" b="1" spc="120" kern="0" dirty="0">
                <a:solidFill>
                  <a:srgbClr val="5A6B8C"/>
                </a:solidFill>
                <a:latin typeface="Arial" pitchFamily="34" charset="0"/>
                <a:ea typeface="Arial" pitchFamily="34" charset="-122"/>
                <a:cs typeface="Arial" pitchFamily="34" charset="-120"/>
              </a:rPr>
              <a:t>PRINCIPAL vs INTEREST OVER TENURE</a:t>
            </a:r>
            <a:endParaRPr lang="en-US" sz="1150" dirty="0"/>
          </a:p>
        </p:txBody>
      </p:sp>
      <p:graphicFrame>
        <p:nvGraphicFramePr>
          <p:cNvPr id="36" name="Chart 0" descr=""/>
          <p:cNvGraphicFramePr/>
          <p:nvPr/>
        </p:nvGraphicFramePr>
        <p:xfrm>
          <a:off x="6355080" y="3063240"/>
          <a:ext cx="5303520" cy="2697480"/>
        </p:xfrm>
        <a:graphic xmlns:a="http://schemas.openxmlformats.org/drawingml/2006/main">
          <a:graphicData uri="http://schemas.openxmlformats.org/drawingml/2006/chart">
            <c:chart xmlns:c="http://schemas.openxmlformats.org/drawingml/2006/chart" r:id="rId6"/>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778240" y="-2194560"/>
            <a:ext cx="5852160" cy="5852160"/>
          </a:xfrm>
          <a:prstGeom prst="ellipse">
            <a:avLst/>
          </a:prstGeom>
          <a:solidFill>
            <a:srgbClr val="16203F"/>
          </a:solidFill>
          <a:ln/>
        </p:spPr>
      </p:sp>
      <p:sp>
        <p:nvSpPr>
          <p:cNvPr id="3" name="Shape 1"/>
          <p:cNvSpPr/>
          <p:nvPr/>
        </p:nvSpPr>
        <p:spPr>
          <a:xfrm>
            <a:off x="10058400" y="-1097280"/>
            <a:ext cx="3108960" cy="3108960"/>
          </a:xfrm>
          <a:prstGeom prst="ellipse">
            <a:avLst/>
          </a:prstGeom>
          <a:solidFill>
            <a:srgbClr val="1F2E55"/>
          </a:solidFill>
          <a:ln/>
        </p:spPr>
      </p:sp>
      <p:sp>
        <p:nvSpPr>
          <p:cNvPr id="4" name="Text 2"/>
          <p:cNvSpPr/>
          <p:nvPr/>
        </p:nvSpPr>
        <p:spPr>
          <a:xfrm>
            <a:off x="502920" y="384048"/>
            <a:ext cx="822960" cy="502920"/>
          </a:xfrm>
          <a:prstGeom prst="rect">
            <a:avLst/>
          </a:prstGeom>
          <a:noFill/>
          <a:ln/>
        </p:spPr>
        <p:txBody>
          <a:bodyPr wrap="square" lIns="0" tIns="0" rIns="0" bIns="0" rtlCol="0" anchor="ctr"/>
          <a:lstStyle/>
          <a:p>
            <a:pPr indent="0" marL="0">
              <a:buNone/>
            </a:pPr>
            <a:r>
              <a:rPr lang="en-US" sz="2600" b="1" dirty="0">
                <a:solidFill>
                  <a:srgbClr val="CADCFC"/>
                </a:solidFill>
                <a:latin typeface="Bookman Old Style" pitchFamily="34" charset="0"/>
                <a:ea typeface="Bookman Old Style" pitchFamily="34" charset="-122"/>
                <a:cs typeface="Bookman Old Style" pitchFamily="34" charset="-120"/>
              </a:rPr>
              <a:t>09</a:t>
            </a:r>
            <a:endParaRPr lang="en-US" sz="2600" dirty="0"/>
          </a:p>
        </p:txBody>
      </p:sp>
      <p:sp>
        <p:nvSpPr>
          <p:cNvPr id="5" name="Shape 3"/>
          <p:cNvSpPr/>
          <p:nvPr/>
        </p:nvSpPr>
        <p:spPr>
          <a:xfrm>
            <a:off x="1078992" y="457200"/>
            <a:ext cx="25603" cy="384048"/>
          </a:xfrm>
          <a:prstGeom prst="rect">
            <a:avLst/>
          </a:prstGeom>
          <a:solidFill>
            <a:srgbClr val="F2B441"/>
          </a:solidFill>
          <a:ln/>
        </p:spPr>
      </p:sp>
      <p:sp>
        <p:nvSpPr>
          <p:cNvPr id="6" name="Text 4"/>
          <p:cNvSpPr/>
          <p:nvPr/>
        </p:nvSpPr>
        <p:spPr>
          <a:xfrm>
            <a:off x="1225296" y="365760"/>
            <a:ext cx="9601200" cy="274320"/>
          </a:xfrm>
          <a:prstGeom prst="rect">
            <a:avLst/>
          </a:prstGeom>
          <a:noFill/>
          <a:ln/>
        </p:spPr>
        <p:txBody>
          <a:bodyPr wrap="square" lIns="0" tIns="0" rIns="0" bIns="0" rtlCol="0" anchor="ctr"/>
          <a:lstStyle/>
          <a:p>
            <a:pPr indent="0" marL="0">
              <a:buNone/>
            </a:pPr>
            <a:r>
              <a:rPr lang="en-US" sz="1150" b="1" spc="300" kern="0" dirty="0">
                <a:solidFill>
                  <a:srgbClr val="F2B441"/>
                </a:solidFill>
                <a:latin typeface="Arial" pitchFamily="34" charset="0"/>
                <a:ea typeface="Arial" pitchFamily="34" charset="-122"/>
                <a:cs typeface="Arial" pitchFamily="34" charset="-120"/>
              </a:rPr>
              <a:t>SECURITY POSTURE</a:t>
            </a:r>
            <a:endParaRPr lang="en-US" sz="1150" dirty="0"/>
          </a:p>
        </p:txBody>
      </p:sp>
      <p:sp>
        <p:nvSpPr>
          <p:cNvPr id="7" name="Text 5"/>
          <p:cNvSpPr/>
          <p:nvPr/>
        </p:nvSpPr>
        <p:spPr>
          <a:xfrm>
            <a:off x="1207008" y="603504"/>
            <a:ext cx="10424160" cy="566928"/>
          </a:xfrm>
          <a:prstGeom prst="rect">
            <a:avLst/>
          </a:prstGeom>
          <a:noFill/>
          <a:ln/>
        </p:spPr>
        <p:txBody>
          <a:bodyPr wrap="square" lIns="0" tIns="0" rIns="0" bIns="0" rtlCol="0" anchor="ctr"/>
          <a:lstStyle/>
          <a:p>
            <a:pPr indent="0" marL="0">
              <a:buNone/>
            </a:pPr>
            <a:r>
              <a:rPr lang="en-US" sz="2700" b="1" dirty="0">
                <a:solidFill>
                  <a:srgbClr val="FFFFFF"/>
                </a:solidFill>
                <a:latin typeface="Bookman Old Style" pitchFamily="34" charset="0"/>
                <a:ea typeface="Bookman Old Style" pitchFamily="34" charset="-122"/>
                <a:cs typeface="Bookman Old Style" pitchFamily="34" charset="-120"/>
              </a:rPr>
              <a:t>Stateless JWT, BCrypt &amp; RBAC</a:t>
            </a:r>
            <a:endParaRPr lang="en-US" sz="2700" dirty="0"/>
          </a:p>
        </p:txBody>
      </p:sp>
      <p:pic>
        <p:nvPicPr>
          <p:cNvPr id="8" name="Image 0" descr="/home/claude/build/assets/jwt_flow.png"/>
          <p:cNvPicPr>
            <a:picLocks noChangeAspect="1"/>
          </p:cNvPicPr>
          <p:nvPr/>
        </p:nvPicPr>
        <p:blipFill>
          <a:blip r:embed="rId1"/>
          <a:stretch>
            <a:fillRect/>
          </a:stretch>
        </p:blipFill>
        <p:spPr>
          <a:xfrm>
            <a:off x="502920" y="1554480"/>
            <a:ext cx="6035040" cy="3299155"/>
          </a:xfrm>
          <a:prstGeom prst="rect">
            <a:avLst/>
          </a:prstGeom>
        </p:spPr>
      </p:pic>
      <p:sp>
        <p:nvSpPr>
          <p:cNvPr id="9" name="Text 6"/>
          <p:cNvSpPr/>
          <p:nvPr/>
        </p:nvSpPr>
        <p:spPr>
          <a:xfrm>
            <a:off x="502920" y="4899355"/>
            <a:ext cx="6035040" cy="320040"/>
          </a:xfrm>
          <a:prstGeom prst="rect">
            <a:avLst/>
          </a:prstGeom>
          <a:noFill/>
          <a:ln/>
        </p:spPr>
        <p:txBody>
          <a:bodyPr wrap="square" lIns="0" tIns="0" rIns="0" bIns="0" rtlCol="0" anchor="ctr"/>
          <a:lstStyle/>
          <a:p>
            <a:pPr algn="ctr" indent="0" marL="0">
              <a:buNone/>
            </a:pPr>
            <a:r>
              <a:rPr lang="en-US" sz="1050" i="1" dirty="0">
                <a:solidFill>
                  <a:srgbClr val="CADCFC"/>
                </a:solidFill>
                <a:latin typeface="Arial" pitchFamily="34" charset="0"/>
                <a:ea typeface="Arial" pitchFamily="34" charset="-122"/>
                <a:cs typeface="Arial" pitchFamily="34" charset="-120"/>
              </a:rPr>
              <a:t>JWT authentication flow — login &amp; token issuance, then per-request validation</a:t>
            </a:r>
            <a:endParaRPr lang="en-US" sz="1050" dirty="0"/>
          </a:p>
        </p:txBody>
      </p:sp>
      <p:sp>
        <p:nvSpPr>
          <p:cNvPr id="10" name="Shape 7"/>
          <p:cNvSpPr/>
          <p:nvPr/>
        </p:nvSpPr>
        <p:spPr>
          <a:xfrm>
            <a:off x="6812280" y="1627632"/>
            <a:ext cx="4846320" cy="978408"/>
          </a:xfrm>
          <a:prstGeom prst="roundRect">
            <a:avLst>
              <a:gd name="adj" fmla="val 7477"/>
            </a:avLst>
          </a:prstGeom>
          <a:solidFill>
            <a:srgbClr val="16203F"/>
          </a:solidFill>
          <a:ln w="12700">
            <a:solidFill>
              <a:srgbClr val="2C3A63"/>
            </a:solidFill>
            <a:prstDash val="solid"/>
          </a:ln>
        </p:spPr>
      </p:sp>
      <p:sp>
        <p:nvSpPr>
          <p:cNvPr id="11" name="Shape 8"/>
          <p:cNvSpPr/>
          <p:nvPr/>
        </p:nvSpPr>
        <p:spPr>
          <a:xfrm>
            <a:off x="7022592" y="1810512"/>
            <a:ext cx="603504" cy="603504"/>
          </a:xfrm>
          <a:prstGeom prst="ellipse">
            <a:avLst/>
          </a:prstGeom>
          <a:solidFill>
            <a:srgbClr val="F2B441"/>
          </a:solidFill>
          <a:ln/>
          <a:effectLst>
            <a:outerShdw sx="100000" sy="100000" kx="0" ky="0" algn="bl" rotWithShape="0" blurRad="114300" dist="38100" dir="5400000">
              <a:srgbClr val="1A2440">
                <a:alpha val="16000"/>
              </a:srgbClr>
            </a:outerShdw>
          </a:effectLst>
        </p:spPr>
      </p:sp>
      <p:pic>
        <p:nvPicPr>
          <p:cNvPr id="12" name="Image 1" descr="/home/claude/build/icons/key_navy.png"/>
          <p:cNvPicPr>
            <a:picLocks noChangeAspect="1"/>
          </p:cNvPicPr>
          <p:nvPr/>
        </p:nvPicPr>
        <p:blipFill>
          <a:blip r:embed="rId2"/>
          <a:stretch>
            <a:fillRect/>
          </a:stretch>
        </p:blipFill>
        <p:spPr>
          <a:xfrm>
            <a:off x="7179503" y="1967423"/>
            <a:ext cx="289682" cy="289682"/>
          </a:xfrm>
          <a:prstGeom prst="rect">
            <a:avLst/>
          </a:prstGeom>
        </p:spPr>
      </p:pic>
      <p:sp>
        <p:nvSpPr>
          <p:cNvPr id="13" name="Text 9"/>
          <p:cNvSpPr/>
          <p:nvPr/>
        </p:nvSpPr>
        <p:spPr>
          <a:xfrm>
            <a:off x="7827264" y="1755648"/>
            <a:ext cx="3703320" cy="365760"/>
          </a:xfrm>
          <a:prstGeom prst="rect">
            <a:avLst/>
          </a:prstGeom>
          <a:noFill/>
          <a:ln/>
        </p:spPr>
        <p:txBody>
          <a:bodyPr wrap="square" lIns="0" tIns="0" rIns="0" bIns="0" rtlCol="0" anchor="ctr"/>
          <a:lstStyle/>
          <a:p>
            <a:pPr indent="0" marL="0">
              <a:buNone/>
            </a:pPr>
            <a:r>
              <a:rPr lang="en-US" sz="1550" b="1" dirty="0">
                <a:solidFill>
                  <a:srgbClr val="FFFFFF"/>
                </a:solidFill>
                <a:latin typeface="Bookman Old Style" pitchFamily="34" charset="0"/>
                <a:ea typeface="Bookman Old Style" pitchFamily="34" charset="-122"/>
                <a:cs typeface="Bookman Old Style" pitchFamily="34" charset="-120"/>
              </a:rPr>
              <a:t>HS256 Signed Tokens</a:t>
            </a:r>
            <a:endParaRPr lang="en-US" sz="1550" dirty="0"/>
          </a:p>
        </p:txBody>
      </p:sp>
      <p:sp>
        <p:nvSpPr>
          <p:cNvPr id="14" name="Text 10"/>
          <p:cNvSpPr/>
          <p:nvPr/>
        </p:nvSpPr>
        <p:spPr>
          <a:xfrm>
            <a:off x="7827264" y="2121408"/>
            <a:ext cx="3749040" cy="411480"/>
          </a:xfrm>
          <a:prstGeom prst="rect">
            <a:avLst/>
          </a:prstGeom>
          <a:noFill/>
          <a:ln/>
        </p:spPr>
        <p:txBody>
          <a:bodyPr wrap="square" lIns="0" tIns="0" rIns="0" bIns="0" rtlCol="0" anchor="ctr"/>
          <a:lstStyle/>
          <a:p>
            <a:pPr indent="0" marL="0">
              <a:buNone/>
            </a:pPr>
            <a:r>
              <a:rPr lang="en-US" sz="1150" dirty="0">
                <a:solidFill>
                  <a:srgbClr val="CADCFC"/>
                </a:solidFill>
                <a:latin typeface="Arial" pitchFamily="34" charset="0"/>
                <a:ea typeface="Arial" pitchFamily="34" charset="-122"/>
                <a:cs typeface="Arial" pitchFamily="34" charset="-120"/>
              </a:rPr>
              <a:t>7-day expiry; subject + userId + role claims.</a:t>
            </a:r>
            <a:endParaRPr lang="en-US" sz="1150" dirty="0"/>
          </a:p>
        </p:txBody>
      </p:sp>
      <p:sp>
        <p:nvSpPr>
          <p:cNvPr id="15" name="Shape 11"/>
          <p:cNvSpPr/>
          <p:nvPr/>
        </p:nvSpPr>
        <p:spPr>
          <a:xfrm>
            <a:off x="6812280" y="2715768"/>
            <a:ext cx="4846320" cy="978408"/>
          </a:xfrm>
          <a:prstGeom prst="roundRect">
            <a:avLst>
              <a:gd name="adj" fmla="val 7477"/>
            </a:avLst>
          </a:prstGeom>
          <a:solidFill>
            <a:srgbClr val="16203F"/>
          </a:solidFill>
          <a:ln w="12700">
            <a:solidFill>
              <a:srgbClr val="2C3A63"/>
            </a:solidFill>
            <a:prstDash val="solid"/>
          </a:ln>
        </p:spPr>
      </p:sp>
      <p:sp>
        <p:nvSpPr>
          <p:cNvPr id="16" name="Shape 12"/>
          <p:cNvSpPr/>
          <p:nvPr/>
        </p:nvSpPr>
        <p:spPr>
          <a:xfrm>
            <a:off x="7022592" y="2898648"/>
            <a:ext cx="603504" cy="603504"/>
          </a:xfrm>
          <a:prstGeom prst="ellipse">
            <a:avLst/>
          </a:prstGeom>
          <a:solidFill>
            <a:srgbClr val="3FB984"/>
          </a:solidFill>
          <a:ln/>
          <a:effectLst>
            <a:outerShdw sx="100000" sy="100000" kx="0" ky="0" algn="bl" rotWithShape="0" blurRad="114300" dist="38100" dir="5400000">
              <a:srgbClr val="1A2440">
                <a:alpha val="16000"/>
              </a:srgbClr>
            </a:outerShdw>
          </a:effectLst>
        </p:spPr>
      </p:sp>
      <p:pic>
        <p:nvPicPr>
          <p:cNvPr id="17" name="Image 2" descr="/home/claude/build/icons/lock_navy.png"/>
          <p:cNvPicPr>
            <a:picLocks noChangeAspect="1"/>
          </p:cNvPicPr>
          <p:nvPr/>
        </p:nvPicPr>
        <p:blipFill>
          <a:blip r:embed="rId3"/>
          <a:stretch>
            <a:fillRect/>
          </a:stretch>
        </p:blipFill>
        <p:spPr>
          <a:xfrm>
            <a:off x="7179503" y="3055559"/>
            <a:ext cx="289682" cy="289682"/>
          </a:xfrm>
          <a:prstGeom prst="rect">
            <a:avLst/>
          </a:prstGeom>
        </p:spPr>
      </p:pic>
      <p:sp>
        <p:nvSpPr>
          <p:cNvPr id="18" name="Text 13"/>
          <p:cNvSpPr/>
          <p:nvPr/>
        </p:nvSpPr>
        <p:spPr>
          <a:xfrm>
            <a:off x="7827264" y="2843784"/>
            <a:ext cx="3703320" cy="365760"/>
          </a:xfrm>
          <a:prstGeom prst="rect">
            <a:avLst/>
          </a:prstGeom>
          <a:noFill/>
          <a:ln/>
        </p:spPr>
        <p:txBody>
          <a:bodyPr wrap="square" lIns="0" tIns="0" rIns="0" bIns="0" rtlCol="0" anchor="ctr"/>
          <a:lstStyle/>
          <a:p>
            <a:pPr indent="0" marL="0">
              <a:buNone/>
            </a:pPr>
            <a:r>
              <a:rPr lang="en-US" sz="1550" b="1" dirty="0">
                <a:solidFill>
                  <a:srgbClr val="FFFFFF"/>
                </a:solidFill>
                <a:latin typeface="Bookman Old Style" pitchFamily="34" charset="0"/>
                <a:ea typeface="Bookman Old Style" pitchFamily="34" charset="-122"/>
                <a:cs typeface="Bookman Old Style" pitchFamily="34" charset="-120"/>
              </a:rPr>
              <a:t>BCrypt · strength 12</a:t>
            </a:r>
            <a:endParaRPr lang="en-US" sz="1550" dirty="0"/>
          </a:p>
        </p:txBody>
      </p:sp>
      <p:sp>
        <p:nvSpPr>
          <p:cNvPr id="19" name="Text 14"/>
          <p:cNvSpPr/>
          <p:nvPr/>
        </p:nvSpPr>
        <p:spPr>
          <a:xfrm>
            <a:off x="7827264" y="3209544"/>
            <a:ext cx="3749040" cy="411480"/>
          </a:xfrm>
          <a:prstGeom prst="rect">
            <a:avLst/>
          </a:prstGeom>
          <a:noFill/>
          <a:ln/>
        </p:spPr>
        <p:txBody>
          <a:bodyPr wrap="square" lIns="0" tIns="0" rIns="0" bIns="0" rtlCol="0" anchor="ctr"/>
          <a:lstStyle/>
          <a:p>
            <a:pPr indent="0" marL="0">
              <a:buNone/>
            </a:pPr>
            <a:r>
              <a:rPr lang="en-US" sz="1150" dirty="0">
                <a:solidFill>
                  <a:srgbClr val="CADCFC"/>
                </a:solidFill>
                <a:latin typeface="Arial" pitchFamily="34" charset="0"/>
                <a:ea typeface="Arial" pitchFamily="34" charset="-122"/>
                <a:cs typeface="Arial" pitchFamily="34" charset="-120"/>
              </a:rPr>
              <a:t>Adaptive, salted password hashing.</a:t>
            </a:r>
            <a:endParaRPr lang="en-US" sz="1150" dirty="0"/>
          </a:p>
        </p:txBody>
      </p:sp>
      <p:sp>
        <p:nvSpPr>
          <p:cNvPr id="20" name="Shape 15"/>
          <p:cNvSpPr/>
          <p:nvPr/>
        </p:nvSpPr>
        <p:spPr>
          <a:xfrm>
            <a:off x="6812280" y="3803904"/>
            <a:ext cx="4846320" cy="978408"/>
          </a:xfrm>
          <a:prstGeom prst="roundRect">
            <a:avLst>
              <a:gd name="adj" fmla="val 7477"/>
            </a:avLst>
          </a:prstGeom>
          <a:solidFill>
            <a:srgbClr val="16203F"/>
          </a:solidFill>
          <a:ln w="12700">
            <a:solidFill>
              <a:srgbClr val="2C3A63"/>
            </a:solidFill>
            <a:prstDash val="solid"/>
          </a:ln>
        </p:spPr>
      </p:sp>
      <p:sp>
        <p:nvSpPr>
          <p:cNvPr id="21" name="Shape 16"/>
          <p:cNvSpPr/>
          <p:nvPr/>
        </p:nvSpPr>
        <p:spPr>
          <a:xfrm>
            <a:off x="7022592" y="3986784"/>
            <a:ext cx="603504" cy="603504"/>
          </a:xfrm>
          <a:prstGeom prst="ellipse">
            <a:avLst/>
          </a:prstGeom>
          <a:solidFill>
            <a:srgbClr val="2C8DD6"/>
          </a:solidFill>
          <a:ln/>
          <a:effectLst>
            <a:outerShdw sx="100000" sy="100000" kx="0" ky="0" algn="bl" rotWithShape="0" blurRad="114300" dist="38100" dir="5400000">
              <a:srgbClr val="1A2440">
                <a:alpha val="16000"/>
              </a:srgbClr>
            </a:outerShdw>
          </a:effectLst>
        </p:spPr>
      </p:sp>
      <p:pic>
        <p:nvPicPr>
          <p:cNvPr id="22" name="Image 3" descr="/home/claude/build/icons/shield_navy.png"/>
          <p:cNvPicPr>
            <a:picLocks noChangeAspect="1"/>
          </p:cNvPicPr>
          <p:nvPr/>
        </p:nvPicPr>
        <p:blipFill>
          <a:blip r:embed="rId4"/>
          <a:stretch>
            <a:fillRect/>
          </a:stretch>
        </p:blipFill>
        <p:spPr>
          <a:xfrm>
            <a:off x="7179503" y="4143695"/>
            <a:ext cx="289682" cy="289682"/>
          </a:xfrm>
          <a:prstGeom prst="rect">
            <a:avLst/>
          </a:prstGeom>
        </p:spPr>
      </p:pic>
      <p:sp>
        <p:nvSpPr>
          <p:cNvPr id="23" name="Text 17"/>
          <p:cNvSpPr/>
          <p:nvPr/>
        </p:nvSpPr>
        <p:spPr>
          <a:xfrm>
            <a:off x="7827264" y="3931920"/>
            <a:ext cx="3703320" cy="365760"/>
          </a:xfrm>
          <a:prstGeom prst="rect">
            <a:avLst/>
          </a:prstGeom>
          <a:noFill/>
          <a:ln/>
        </p:spPr>
        <p:txBody>
          <a:bodyPr wrap="square" lIns="0" tIns="0" rIns="0" bIns="0" rtlCol="0" anchor="ctr"/>
          <a:lstStyle/>
          <a:p>
            <a:pPr indent="0" marL="0">
              <a:buNone/>
            </a:pPr>
            <a:r>
              <a:rPr lang="en-US" sz="1550" b="1" dirty="0">
                <a:solidFill>
                  <a:srgbClr val="FFFFFF"/>
                </a:solidFill>
                <a:latin typeface="Bookman Old Style" pitchFamily="34" charset="0"/>
                <a:ea typeface="Bookman Old Style" pitchFamily="34" charset="-122"/>
                <a:cs typeface="Bookman Old Style" pitchFamily="34" charset="-120"/>
              </a:rPr>
              <a:t>Spring Security RBAC</a:t>
            </a:r>
            <a:endParaRPr lang="en-US" sz="1550" dirty="0"/>
          </a:p>
        </p:txBody>
      </p:sp>
      <p:sp>
        <p:nvSpPr>
          <p:cNvPr id="24" name="Text 18"/>
          <p:cNvSpPr/>
          <p:nvPr/>
        </p:nvSpPr>
        <p:spPr>
          <a:xfrm>
            <a:off x="7827264" y="4297680"/>
            <a:ext cx="3749040" cy="411480"/>
          </a:xfrm>
          <a:prstGeom prst="rect">
            <a:avLst/>
          </a:prstGeom>
          <a:noFill/>
          <a:ln/>
        </p:spPr>
        <p:txBody>
          <a:bodyPr wrap="square" lIns="0" tIns="0" rIns="0" bIns="0" rtlCol="0" anchor="ctr"/>
          <a:lstStyle/>
          <a:p>
            <a:pPr indent="0" marL="0">
              <a:buNone/>
            </a:pPr>
            <a:r>
              <a:rPr lang="en-US" sz="1150" dirty="0">
                <a:solidFill>
                  <a:srgbClr val="CADCFC"/>
                </a:solidFill>
                <a:latin typeface="Arial" pitchFamily="34" charset="0"/>
                <a:ea typeface="Arial" pitchFamily="34" charset="-122"/>
                <a:cs typeface="Arial" pitchFamily="34" charset="-120"/>
              </a:rPr>
              <a:t>ADMIN-only /admin/**; ownership checks → 403.</a:t>
            </a:r>
            <a:endParaRPr lang="en-US" sz="1150" dirty="0"/>
          </a:p>
        </p:txBody>
      </p:sp>
      <p:sp>
        <p:nvSpPr>
          <p:cNvPr id="25" name="Shape 19"/>
          <p:cNvSpPr/>
          <p:nvPr/>
        </p:nvSpPr>
        <p:spPr>
          <a:xfrm>
            <a:off x="6812280" y="4892040"/>
            <a:ext cx="4846320" cy="978408"/>
          </a:xfrm>
          <a:prstGeom prst="roundRect">
            <a:avLst>
              <a:gd name="adj" fmla="val 7477"/>
            </a:avLst>
          </a:prstGeom>
          <a:solidFill>
            <a:srgbClr val="16203F"/>
          </a:solidFill>
          <a:ln w="12700">
            <a:solidFill>
              <a:srgbClr val="2C3A63"/>
            </a:solidFill>
            <a:prstDash val="solid"/>
          </a:ln>
        </p:spPr>
      </p:sp>
      <p:sp>
        <p:nvSpPr>
          <p:cNvPr id="26" name="Shape 20"/>
          <p:cNvSpPr/>
          <p:nvPr/>
        </p:nvSpPr>
        <p:spPr>
          <a:xfrm>
            <a:off x="7022592" y="5074920"/>
            <a:ext cx="603504" cy="603504"/>
          </a:xfrm>
          <a:prstGeom prst="ellipse">
            <a:avLst/>
          </a:prstGeom>
          <a:solidFill>
            <a:srgbClr val="9B6BD8"/>
          </a:solidFill>
          <a:ln/>
          <a:effectLst>
            <a:outerShdw sx="100000" sy="100000" kx="0" ky="0" algn="bl" rotWithShape="0" blurRad="114300" dist="38100" dir="5400000">
              <a:srgbClr val="1A2440">
                <a:alpha val="16000"/>
              </a:srgbClr>
            </a:outerShdw>
          </a:effectLst>
        </p:spPr>
      </p:sp>
      <p:pic>
        <p:nvPicPr>
          <p:cNvPr id="27" name="Image 4" descr="/home/claude/build/icons/eye_navy.png"/>
          <p:cNvPicPr>
            <a:picLocks noChangeAspect="1"/>
          </p:cNvPicPr>
          <p:nvPr/>
        </p:nvPicPr>
        <p:blipFill>
          <a:blip r:embed="rId5"/>
          <a:stretch>
            <a:fillRect/>
          </a:stretch>
        </p:blipFill>
        <p:spPr>
          <a:xfrm>
            <a:off x="7179503" y="5231831"/>
            <a:ext cx="289682" cy="289682"/>
          </a:xfrm>
          <a:prstGeom prst="rect">
            <a:avLst/>
          </a:prstGeom>
        </p:spPr>
      </p:pic>
      <p:sp>
        <p:nvSpPr>
          <p:cNvPr id="28" name="Text 21"/>
          <p:cNvSpPr/>
          <p:nvPr/>
        </p:nvSpPr>
        <p:spPr>
          <a:xfrm>
            <a:off x="7827264" y="5020056"/>
            <a:ext cx="3703320" cy="365760"/>
          </a:xfrm>
          <a:prstGeom prst="rect">
            <a:avLst/>
          </a:prstGeom>
          <a:noFill/>
          <a:ln/>
        </p:spPr>
        <p:txBody>
          <a:bodyPr wrap="square" lIns="0" tIns="0" rIns="0" bIns="0" rtlCol="0" anchor="ctr"/>
          <a:lstStyle/>
          <a:p>
            <a:pPr indent="0" marL="0">
              <a:buNone/>
            </a:pPr>
            <a:r>
              <a:rPr lang="en-US" sz="1550" b="1" dirty="0">
                <a:solidFill>
                  <a:srgbClr val="FFFFFF"/>
                </a:solidFill>
                <a:latin typeface="Bookman Old Style" pitchFamily="34" charset="0"/>
                <a:ea typeface="Bookman Old Style" pitchFamily="34" charset="-122"/>
                <a:cs typeface="Bookman Old Style" pitchFamily="34" charset="-120"/>
              </a:rPr>
              <a:t>Stateless Sessions</a:t>
            </a:r>
            <a:endParaRPr lang="en-US" sz="1550" dirty="0"/>
          </a:p>
        </p:txBody>
      </p:sp>
      <p:sp>
        <p:nvSpPr>
          <p:cNvPr id="29" name="Text 22"/>
          <p:cNvSpPr/>
          <p:nvPr/>
        </p:nvSpPr>
        <p:spPr>
          <a:xfrm>
            <a:off x="7827264" y="5385816"/>
            <a:ext cx="3749040" cy="411480"/>
          </a:xfrm>
          <a:prstGeom prst="rect">
            <a:avLst/>
          </a:prstGeom>
          <a:noFill/>
          <a:ln/>
        </p:spPr>
        <p:txBody>
          <a:bodyPr wrap="square" lIns="0" tIns="0" rIns="0" bIns="0" rtlCol="0" anchor="ctr"/>
          <a:lstStyle/>
          <a:p>
            <a:pPr indent="0" marL="0">
              <a:buNone/>
            </a:pPr>
            <a:r>
              <a:rPr lang="en-US" sz="1150" dirty="0">
                <a:solidFill>
                  <a:srgbClr val="CADCFC"/>
                </a:solidFill>
                <a:latin typeface="Arial" pitchFamily="34" charset="0"/>
                <a:ea typeface="Arial" pitchFamily="34" charset="-122"/>
                <a:cs typeface="Arial" pitchFamily="34" charset="-120"/>
              </a:rPr>
              <a:t>No server session; CSRF safely disabled.</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822960" cy="502920"/>
          </a:xfrm>
          <a:prstGeom prst="rect">
            <a:avLst/>
          </a:prstGeom>
          <a:noFill/>
          <a:ln/>
        </p:spPr>
        <p:txBody>
          <a:bodyPr wrap="square" lIns="0" tIns="0" rIns="0" bIns="0" rtlCol="0" anchor="ctr"/>
          <a:lstStyle/>
          <a:p>
            <a:pPr indent="0" marL="0">
              <a:buNone/>
            </a:pPr>
            <a:r>
              <a:rPr lang="en-US" sz="2600" b="1" dirty="0">
                <a:solidFill>
                  <a:srgbClr val="CADCFC"/>
                </a:solidFill>
                <a:latin typeface="Bookman Old Style" pitchFamily="34" charset="0"/>
                <a:ea typeface="Bookman Old Style" pitchFamily="34" charset="-122"/>
                <a:cs typeface="Bookman Old Style" pitchFamily="34" charset="-120"/>
              </a:rPr>
              <a:t>10</a:t>
            </a:r>
            <a:endParaRPr lang="en-US" sz="2600" dirty="0"/>
          </a:p>
        </p:txBody>
      </p:sp>
      <p:sp>
        <p:nvSpPr>
          <p:cNvPr id="3" name="Shape 1"/>
          <p:cNvSpPr/>
          <p:nvPr/>
        </p:nvSpPr>
        <p:spPr>
          <a:xfrm>
            <a:off x="1078992" y="457200"/>
            <a:ext cx="25603" cy="384048"/>
          </a:xfrm>
          <a:prstGeom prst="rect">
            <a:avLst/>
          </a:prstGeom>
          <a:solidFill>
            <a:srgbClr val="1E2761"/>
          </a:solidFill>
          <a:ln/>
        </p:spPr>
      </p:sp>
      <p:sp>
        <p:nvSpPr>
          <p:cNvPr id="4" name="Text 2"/>
          <p:cNvSpPr/>
          <p:nvPr/>
        </p:nvSpPr>
        <p:spPr>
          <a:xfrm>
            <a:off x="1225296" y="365760"/>
            <a:ext cx="9601200" cy="274320"/>
          </a:xfrm>
          <a:prstGeom prst="rect">
            <a:avLst/>
          </a:prstGeom>
          <a:noFill/>
          <a:ln/>
        </p:spPr>
        <p:txBody>
          <a:bodyPr wrap="square" lIns="0" tIns="0" rIns="0" bIns="0" rtlCol="0" anchor="ctr"/>
          <a:lstStyle/>
          <a:p>
            <a:pPr indent="0" marL="0">
              <a:buNone/>
            </a:pPr>
            <a:r>
              <a:rPr lang="en-US" sz="1150" b="1" spc="300" kern="0" dirty="0">
                <a:solidFill>
                  <a:srgbClr val="1E2761"/>
                </a:solidFill>
                <a:latin typeface="Arial" pitchFamily="34" charset="0"/>
                <a:ea typeface="Arial" pitchFamily="34" charset="-122"/>
                <a:cs typeface="Arial" pitchFamily="34" charset="-120"/>
              </a:rPr>
              <a:t>DATA MODEL</a:t>
            </a:r>
            <a:endParaRPr lang="en-US" sz="1150" dirty="0"/>
          </a:p>
        </p:txBody>
      </p:sp>
      <p:sp>
        <p:nvSpPr>
          <p:cNvPr id="5" name="Text 3"/>
          <p:cNvSpPr/>
          <p:nvPr/>
        </p:nvSpPr>
        <p:spPr>
          <a:xfrm>
            <a:off x="1207008" y="603504"/>
            <a:ext cx="10424160" cy="566928"/>
          </a:xfrm>
          <a:prstGeom prst="rect">
            <a:avLst/>
          </a:prstGeom>
          <a:noFill/>
          <a:ln/>
        </p:spPr>
        <p:txBody>
          <a:bodyPr wrap="square" lIns="0" tIns="0" rIns="0" bIns="0" rtlCol="0" anchor="ctr"/>
          <a:lstStyle/>
          <a:p>
            <a:pPr indent="0" marL="0">
              <a:buNone/>
            </a:pPr>
            <a:r>
              <a:rPr lang="en-US" sz="2700" b="1" dirty="0">
                <a:solidFill>
                  <a:srgbClr val="1B2335"/>
                </a:solidFill>
                <a:latin typeface="Bookman Old Style" pitchFamily="34" charset="0"/>
                <a:ea typeface="Bookman Old Style" pitchFamily="34" charset="-122"/>
                <a:cs typeface="Bookman Old Style" pitchFamily="34" charset="-120"/>
              </a:rPr>
              <a:t>Normalised Schema — 11 Tables</a:t>
            </a:r>
            <a:endParaRPr lang="en-US" sz="2700" dirty="0"/>
          </a:p>
        </p:txBody>
      </p:sp>
      <p:pic>
        <p:nvPicPr>
          <p:cNvPr id="6" name="Image 0" descr="/home/claude/build/assets/er_diagram-1.png"/>
          <p:cNvPicPr>
            <a:picLocks noChangeAspect="1"/>
          </p:cNvPicPr>
          <p:nvPr/>
        </p:nvPicPr>
        <p:blipFill>
          <a:blip r:embed="rId1"/>
          <a:stretch>
            <a:fillRect/>
          </a:stretch>
        </p:blipFill>
        <p:spPr>
          <a:xfrm>
            <a:off x="457200" y="1481328"/>
            <a:ext cx="5577840" cy="4343400"/>
          </a:xfrm>
          <a:prstGeom prst="rect">
            <a:avLst/>
          </a:prstGeom>
        </p:spPr>
      </p:pic>
      <p:sp>
        <p:nvSpPr>
          <p:cNvPr id="7" name="Text 4"/>
          <p:cNvSpPr/>
          <p:nvPr/>
        </p:nvSpPr>
        <p:spPr>
          <a:xfrm>
            <a:off x="457200" y="5852160"/>
            <a:ext cx="5577840" cy="274320"/>
          </a:xfrm>
          <a:prstGeom prst="rect">
            <a:avLst/>
          </a:prstGeom>
          <a:noFill/>
          <a:ln/>
        </p:spPr>
        <p:txBody>
          <a:bodyPr wrap="square" lIns="0" tIns="0" rIns="0" bIns="0" rtlCol="0" anchor="ctr"/>
          <a:lstStyle/>
          <a:p>
            <a:pPr algn="ctr" indent="0" marL="0">
              <a:buNone/>
            </a:pPr>
            <a:r>
              <a:rPr lang="en-US" sz="1000" i="1" dirty="0">
                <a:solidFill>
                  <a:srgbClr val="5A6B8C"/>
                </a:solidFill>
                <a:latin typeface="Arial" pitchFamily="34" charset="0"/>
                <a:ea typeface="Arial" pitchFamily="34" charset="-122"/>
                <a:cs typeface="Arial" pitchFamily="34" charset="-120"/>
              </a:rPr>
              <a:t>Entity-Relationship diagram — all tables, keys &amp; the system_audit_log</a:t>
            </a:r>
            <a:endParaRPr lang="en-US" sz="1000" dirty="0"/>
          </a:p>
        </p:txBody>
      </p:sp>
      <p:sp>
        <p:nvSpPr>
          <p:cNvPr id="8" name="Shape 5"/>
          <p:cNvSpPr/>
          <p:nvPr/>
        </p:nvSpPr>
        <p:spPr>
          <a:xfrm>
            <a:off x="6355080" y="1572768"/>
            <a:ext cx="5303520" cy="1005840"/>
          </a:xfrm>
          <a:prstGeom prst="roundRect">
            <a:avLst>
              <a:gd name="adj" fmla="val 7273"/>
            </a:avLst>
          </a:prstGeom>
          <a:solidFill>
            <a:srgbClr val="F4F7FC"/>
          </a:solidFill>
          <a:ln/>
          <a:effectLst>
            <a:outerShdw sx="100000" sy="100000" kx="0" ky="0" algn="bl" rotWithShape="0" blurRad="114300" dist="38100" dir="5400000">
              <a:srgbClr val="1A2440">
                <a:alpha val="16000"/>
              </a:srgbClr>
            </a:outerShdw>
          </a:effectLst>
        </p:spPr>
      </p:sp>
      <p:sp>
        <p:nvSpPr>
          <p:cNvPr id="9" name="Shape 6"/>
          <p:cNvSpPr/>
          <p:nvPr/>
        </p:nvSpPr>
        <p:spPr>
          <a:xfrm>
            <a:off x="6565392" y="1773936"/>
            <a:ext cx="603504" cy="603504"/>
          </a:xfrm>
          <a:prstGeom prst="ellipse">
            <a:avLst/>
          </a:prstGeom>
          <a:solidFill>
            <a:srgbClr val="3FB984"/>
          </a:solidFill>
          <a:ln/>
          <a:effectLst>
            <a:outerShdw sx="100000" sy="100000" kx="0" ky="0" algn="bl" rotWithShape="0" blurRad="114300" dist="38100" dir="5400000">
              <a:srgbClr val="1A2440">
                <a:alpha val="16000"/>
              </a:srgbClr>
            </a:outerShdw>
          </a:effectLst>
        </p:spPr>
      </p:sp>
      <p:pic>
        <p:nvPicPr>
          <p:cNvPr id="10" name="Image 1" descr="/home/claude/build/icons/bank_white.png"/>
          <p:cNvPicPr>
            <a:picLocks noChangeAspect="1"/>
          </p:cNvPicPr>
          <p:nvPr/>
        </p:nvPicPr>
        <p:blipFill>
          <a:blip r:embed="rId2"/>
          <a:stretch>
            <a:fillRect/>
          </a:stretch>
        </p:blipFill>
        <p:spPr>
          <a:xfrm>
            <a:off x="6722303" y="1930847"/>
            <a:ext cx="289682" cy="289682"/>
          </a:xfrm>
          <a:prstGeom prst="rect">
            <a:avLst/>
          </a:prstGeom>
        </p:spPr>
      </p:pic>
      <p:sp>
        <p:nvSpPr>
          <p:cNvPr id="11" name="Text 7"/>
          <p:cNvSpPr/>
          <p:nvPr/>
        </p:nvSpPr>
        <p:spPr>
          <a:xfrm>
            <a:off x="7360920" y="1700784"/>
            <a:ext cx="4160520" cy="347472"/>
          </a:xfrm>
          <a:prstGeom prst="rect">
            <a:avLst/>
          </a:prstGeom>
          <a:noFill/>
          <a:ln/>
        </p:spPr>
        <p:txBody>
          <a:bodyPr wrap="square" lIns="0" tIns="0" rIns="0" bIns="0" rtlCol="0" anchor="ctr"/>
          <a:lstStyle/>
          <a:p>
            <a:pPr indent="0" marL="0">
              <a:buNone/>
            </a:pPr>
            <a:r>
              <a:rPr lang="en-US" sz="1550" b="1" dirty="0">
                <a:solidFill>
                  <a:srgbClr val="1B2335"/>
                </a:solidFill>
                <a:latin typeface="Bookman Old Style" pitchFamily="34" charset="0"/>
                <a:ea typeface="Bookman Old Style" pitchFamily="34" charset="-122"/>
                <a:cs typeface="Bookman Old Style" pitchFamily="34" charset="-120"/>
              </a:rPr>
              <a:t>Identity &amp; Core</a:t>
            </a:r>
            <a:endParaRPr lang="en-US" sz="1550" dirty="0"/>
          </a:p>
        </p:txBody>
      </p:sp>
      <p:sp>
        <p:nvSpPr>
          <p:cNvPr id="12" name="Text 8"/>
          <p:cNvSpPr/>
          <p:nvPr/>
        </p:nvSpPr>
        <p:spPr>
          <a:xfrm>
            <a:off x="7360920" y="2048256"/>
            <a:ext cx="4206240" cy="457200"/>
          </a:xfrm>
          <a:prstGeom prst="rect">
            <a:avLst/>
          </a:prstGeom>
          <a:noFill/>
          <a:ln/>
        </p:spPr>
        <p:txBody>
          <a:bodyPr wrap="square" lIns="0" tIns="0" rIns="0" bIns="0" rtlCol="0" anchor="ctr"/>
          <a:lstStyle/>
          <a:p>
            <a:pPr indent="0" marL="0">
              <a:buNone/>
            </a:pPr>
            <a:r>
              <a:rPr lang="en-US" sz="1100" dirty="0">
                <a:solidFill>
                  <a:srgbClr val="5A6B8C"/>
                </a:solidFill>
                <a:latin typeface="Arial" pitchFamily="34" charset="0"/>
                <a:ea typeface="Arial" pitchFamily="34" charset="-122"/>
                <a:cs typeface="Arial" pitchFamily="34" charset="-120"/>
              </a:rPr>
              <a:t>users · accounts · transactions</a:t>
            </a:r>
            <a:endParaRPr lang="en-US" sz="1100" dirty="0"/>
          </a:p>
        </p:txBody>
      </p:sp>
      <p:sp>
        <p:nvSpPr>
          <p:cNvPr id="13" name="Shape 9"/>
          <p:cNvSpPr/>
          <p:nvPr/>
        </p:nvSpPr>
        <p:spPr>
          <a:xfrm>
            <a:off x="6355080" y="2688336"/>
            <a:ext cx="5303520" cy="1005840"/>
          </a:xfrm>
          <a:prstGeom prst="roundRect">
            <a:avLst>
              <a:gd name="adj" fmla="val 7273"/>
            </a:avLst>
          </a:prstGeom>
          <a:solidFill>
            <a:srgbClr val="F4F7FC"/>
          </a:solidFill>
          <a:ln/>
          <a:effectLst>
            <a:outerShdw sx="100000" sy="100000" kx="0" ky="0" algn="bl" rotWithShape="0" blurRad="114300" dist="38100" dir="5400000">
              <a:srgbClr val="1A2440">
                <a:alpha val="16000"/>
              </a:srgbClr>
            </a:outerShdw>
          </a:effectLst>
        </p:spPr>
      </p:sp>
      <p:sp>
        <p:nvSpPr>
          <p:cNvPr id="14" name="Shape 10"/>
          <p:cNvSpPr/>
          <p:nvPr/>
        </p:nvSpPr>
        <p:spPr>
          <a:xfrm>
            <a:off x="6565392" y="2889504"/>
            <a:ext cx="603504" cy="603504"/>
          </a:xfrm>
          <a:prstGeom prst="ellipse">
            <a:avLst/>
          </a:prstGeom>
          <a:solidFill>
            <a:srgbClr val="9B6BD8"/>
          </a:solidFill>
          <a:ln/>
          <a:effectLst>
            <a:outerShdw sx="100000" sy="100000" kx="0" ky="0" algn="bl" rotWithShape="0" blurRad="114300" dist="38100" dir="5400000">
              <a:srgbClr val="1A2440">
                <a:alpha val="16000"/>
              </a:srgbClr>
            </a:outerShdw>
          </a:effectLst>
        </p:spPr>
      </p:sp>
      <p:pic>
        <p:nvPicPr>
          <p:cNvPr id="15" name="Image 2" descr="/home/claude/build/icons/wallet_white.png"/>
          <p:cNvPicPr>
            <a:picLocks noChangeAspect="1"/>
          </p:cNvPicPr>
          <p:nvPr/>
        </p:nvPicPr>
        <p:blipFill>
          <a:blip r:embed="rId3"/>
          <a:stretch>
            <a:fillRect/>
          </a:stretch>
        </p:blipFill>
        <p:spPr>
          <a:xfrm>
            <a:off x="6722303" y="3046415"/>
            <a:ext cx="289682" cy="289682"/>
          </a:xfrm>
          <a:prstGeom prst="rect">
            <a:avLst/>
          </a:prstGeom>
        </p:spPr>
      </p:pic>
      <p:sp>
        <p:nvSpPr>
          <p:cNvPr id="16" name="Text 11"/>
          <p:cNvSpPr/>
          <p:nvPr/>
        </p:nvSpPr>
        <p:spPr>
          <a:xfrm>
            <a:off x="7360920" y="2816352"/>
            <a:ext cx="4160520" cy="347472"/>
          </a:xfrm>
          <a:prstGeom prst="rect">
            <a:avLst/>
          </a:prstGeom>
          <a:noFill/>
          <a:ln/>
        </p:spPr>
        <p:txBody>
          <a:bodyPr wrap="square" lIns="0" tIns="0" rIns="0" bIns="0" rtlCol="0" anchor="ctr"/>
          <a:lstStyle/>
          <a:p>
            <a:pPr indent="0" marL="0">
              <a:buNone/>
            </a:pPr>
            <a:r>
              <a:rPr lang="en-US" sz="1550" b="1" dirty="0">
                <a:solidFill>
                  <a:srgbClr val="1B2335"/>
                </a:solidFill>
                <a:latin typeface="Bookman Old Style" pitchFamily="34" charset="0"/>
                <a:ea typeface="Bookman Old Style" pitchFamily="34" charset="-122"/>
                <a:cs typeface="Bookman Old Style" pitchFamily="34" charset="-120"/>
              </a:rPr>
              <a:t>Money Management</a:t>
            </a:r>
            <a:endParaRPr lang="en-US" sz="1550" dirty="0"/>
          </a:p>
        </p:txBody>
      </p:sp>
      <p:sp>
        <p:nvSpPr>
          <p:cNvPr id="17" name="Text 12"/>
          <p:cNvSpPr/>
          <p:nvPr/>
        </p:nvSpPr>
        <p:spPr>
          <a:xfrm>
            <a:off x="7360920" y="3163824"/>
            <a:ext cx="4206240" cy="457200"/>
          </a:xfrm>
          <a:prstGeom prst="rect">
            <a:avLst/>
          </a:prstGeom>
          <a:noFill/>
          <a:ln/>
        </p:spPr>
        <p:txBody>
          <a:bodyPr wrap="square" lIns="0" tIns="0" rIns="0" bIns="0" rtlCol="0" anchor="ctr"/>
          <a:lstStyle/>
          <a:p>
            <a:pPr indent="0" marL="0">
              <a:buNone/>
            </a:pPr>
            <a:r>
              <a:rPr lang="en-US" sz="1100" dirty="0">
                <a:solidFill>
                  <a:srgbClr val="5A6B8C"/>
                </a:solidFill>
                <a:latin typeface="Arial" pitchFamily="34" charset="0"/>
                <a:ea typeface="Arial" pitchFamily="34" charset="-122"/>
                <a:cs typeface="Arial" pitchFamily="34" charset="-120"/>
              </a:rPr>
              <a:t>budgets · bills · rewards</a:t>
            </a:r>
            <a:endParaRPr lang="en-US" sz="1100" dirty="0"/>
          </a:p>
        </p:txBody>
      </p:sp>
      <p:sp>
        <p:nvSpPr>
          <p:cNvPr id="18" name="Shape 13"/>
          <p:cNvSpPr/>
          <p:nvPr/>
        </p:nvSpPr>
        <p:spPr>
          <a:xfrm>
            <a:off x="6355080" y="3803904"/>
            <a:ext cx="5303520" cy="1005840"/>
          </a:xfrm>
          <a:prstGeom prst="roundRect">
            <a:avLst>
              <a:gd name="adj" fmla="val 7273"/>
            </a:avLst>
          </a:prstGeom>
          <a:solidFill>
            <a:srgbClr val="F4F7FC"/>
          </a:solidFill>
          <a:ln/>
          <a:effectLst>
            <a:outerShdw sx="100000" sy="100000" kx="0" ky="0" algn="bl" rotWithShape="0" blurRad="114300" dist="38100" dir="5400000">
              <a:srgbClr val="1A2440">
                <a:alpha val="16000"/>
              </a:srgbClr>
            </a:outerShdw>
          </a:effectLst>
        </p:spPr>
      </p:sp>
      <p:sp>
        <p:nvSpPr>
          <p:cNvPr id="19" name="Shape 14"/>
          <p:cNvSpPr/>
          <p:nvPr/>
        </p:nvSpPr>
        <p:spPr>
          <a:xfrm>
            <a:off x="6565392" y="4005072"/>
            <a:ext cx="603504" cy="603504"/>
          </a:xfrm>
          <a:prstGeom prst="ellipse">
            <a:avLst/>
          </a:prstGeom>
          <a:solidFill>
            <a:srgbClr val="F2B441"/>
          </a:solidFill>
          <a:ln/>
          <a:effectLst>
            <a:outerShdw sx="100000" sy="100000" kx="0" ky="0" algn="bl" rotWithShape="0" blurRad="114300" dist="38100" dir="5400000">
              <a:srgbClr val="1A2440">
                <a:alpha val="16000"/>
              </a:srgbClr>
            </a:outerShdw>
          </a:effectLst>
        </p:spPr>
      </p:sp>
      <p:pic>
        <p:nvPicPr>
          <p:cNvPr id="20" name="Image 3" descr="/home/claude/build/icons/money_white.png"/>
          <p:cNvPicPr>
            <a:picLocks noChangeAspect="1"/>
          </p:cNvPicPr>
          <p:nvPr/>
        </p:nvPicPr>
        <p:blipFill>
          <a:blip r:embed="rId4"/>
          <a:stretch>
            <a:fillRect/>
          </a:stretch>
        </p:blipFill>
        <p:spPr>
          <a:xfrm>
            <a:off x="6722303" y="4161983"/>
            <a:ext cx="289682" cy="289682"/>
          </a:xfrm>
          <a:prstGeom prst="rect">
            <a:avLst/>
          </a:prstGeom>
        </p:spPr>
      </p:pic>
      <p:sp>
        <p:nvSpPr>
          <p:cNvPr id="21" name="Text 15"/>
          <p:cNvSpPr/>
          <p:nvPr/>
        </p:nvSpPr>
        <p:spPr>
          <a:xfrm>
            <a:off x="7360920" y="3931920"/>
            <a:ext cx="4160520" cy="347472"/>
          </a:xfrm>
          <a:prstGeom prst="rect">
            <a:avLst/>
          </a:prstGeom>
          <a:noFill/>
          <a:ln/>
        </p:spPr>
        <p:txBody>
          <a:bodyPr wrap="square" lIns="0" tIns="0" rIns="0" bIns="0" rtlCol="0" anchor="ctr"/>
          <a:lstStyle/>
          <a:p>
            <a:pPr indent="0" marL="0">
              <a:buNone/>
            </a:pPr>
            <a:r>
              <a:rPr lang="en-US" sz="1550" b="1" dirty="0">
                <a:solidFill>
                  <a:srgbClr val="1B2335"/>
                </a:solidFill>
                <a:latin typeface="Bookman Old Style" pitchFamily="34" charset="0"/>
                <a:ea typeface="Bookman Old Style" pitchFamily="34" charset="-122"/>
                <a:cs typeface="Bookman Old Style" pitchFamily="34" charset="-120"/>
              </a:rPr>
              <a:t>Lending Chain</a:t>
            </a:r>
            <a:endParaRPr lang="en-US" sz="1550" dirty="0"/>
          </a:p>
        </p:txBody>
      </p:sp>
      <p:sp>
        <p:nvSpPr>
          <p:cNvPr id="22" name="Text 16"/>
          <p:cNvSpPr/>
          <p:nvPr/>
        </p:nvSpPr>
        <p:spPr>
          <a:xfrm>
            <a:off x="7360920" y="4279392"/>
            <a:ext cx="4206240" cy="457200"/>
          </a:xfrm>
          <a:prstGeom prst="rect">
            <a:avLst/>
          </a:prstGeom>
          <a:noFill/>
          <a:ln/>
        </p:spPr>
        <p:txBody>
          <a:bodyPr wrap="square" lIns="0" tIns="0" rIns="0" bIns="0" rtlCol="0" anchor="ctr"/>
          <a:lstStyle/>
          <a:p>
            <a:pPr indent="0" marL="0">
              <a:buNone/>
            </a:pPr>
            <a:r>
              <a:rPr lang="en-US" sz="1100" dirty="0">
                <a:solidFill>
                  <a:srgbClr val="5A6B8C"/>
                </a:solidFill>
                <a:latin typeface="Arial" pitchFamily="34" charset="0"/>
                <a:ea typeface="Arial" pitchFamily="34" charset="-122"/>
                <a:cs typeface="Arial" pitchFamily="34" charset="-120"/>
              </a:rPr>
              <a:t>loan_products · loan_applications · loan_accounts · loan_repayments</a:t>
            </a:r>
            <a:endParaRPr lang="en-US" sz="1100" dirty="0"/>
          </a:p>
        </p:txBody>
      </p:sp>
      <p:sp>
        <p:nvSpPr>
          <p:cNvPr id="23" name="Shape 17"/>
          <p:cNvSpPr/>
          <p:nvPr/>
        </p:nvSpPr>
        <p:spPr>
          <a:xfrm>
            <a:off x="6355080" y="4919472"/>
            <a:ext cx="5303520" cy="1005840"/>
          </a:xfrm>
          <a:prstGeom prst="roundRect">
            <a:avLst>
              <a:gd name="adj" fmla="val 7273"/>
            </a:avLst>
          </a:prstGeom>
          <a:solidFill>
            <a:srgbClr val="F4F7FC"/>
          </a:solidFill>
          <a:ln/>
          <a:effectLst>
            <a:outerShdw sx="100000" sy="100000" kx="0" ky="0" algn="bl" rotWithShape="0" blurRad="114300" dist="38100" dir="5400000">
              <a:srgbClr val="1A2440">
                <a:alpha val="16000"/>
              </a:srgbClr>
            </a:outerShdw>
          </a:effectLst>
        </p:spPr>
      </p:sp>
      <p:sp>
        <p:nvSpPr>
          <p:cNvPr id="24" name="Shape 18"/>
          <p:cNvSpPr/>
          <p:nvPr/>
        </p:nvSpPr>
        <p:spPr>
          <a:xfrm>
            <a:off x="6565392" y="5120640"/>
            <a:ext cx="603504" cy="603504"/>
          </a:xfrm>
          <a:prstGeom prst="ellipse">
            <a:avLst/>
          </a:prstGeom>
          <a:solidFill>
            <a:srgbClr val="2C8DD6"/>
          </a:solidFill>
          <a:ln/>
          <a:effectLst>
            <a:outerShdw sx="100000" sy="100000" kx="0" ky="0" algn="bl" rotWithShape="0" blurRad="114300" dist="38100" dir="5400000">
              <a:srgbClr val="1A2440">
                <a:alpha val="16000"/>
              </a:srgbClr>
            </a:outerShdw>
          </a:effectLst>
        </p:spPr>
      </p:sp>
      <p:pic>
        <p:nvPicPr>
          <p:cNvPr id="25" name="Image 4" descr="/home/claude/build/icons/eye_white.png"/>
          <p:cNvPicPr>
            <a:picLocks noChangeAspect="1"/>
          </p:cNvPicPr>
          <p:nvPr/>
        </p:nvPicPr>
        <p:blipFill>
          <a:blip r:embed="rId5"/>
          <a:stretch>
            <a:fillRect/>
          </a:stretch>
        </p:blipFill>
        <p:spPr>
          <a:xfrm>
            <a:off x="6722303" y="5277551"/>
            <a:ext cx="289682" cy="289682"/>
          </a:xfrm>
          <a:prstGeom prst="rect">
            <a:avLst/>
          </a:prstGeom>
        </p:spPr>
      </p:pic>
      <p:sp>
        <p:nvSpPr>
          <p:cNvPr id="26" name="Text 19"/>
          <p:cNvSpPr/>
          <p:nvPr/>
        </p:nvSpPr>
        <p:spPr>
          <a:xfrm>
            <a:off x="7360920" y="5047488"/>
            <a:ext cx="4160520" cy="347472"/>
          </a:xfrm>
          <a:prstGeom prst="rect">
            <a:avLst/>
          </a:prstGeom>
          <a:noFill/>
          <a:ln/>
        </p:spPr>
        <p:txBody>
          <a:bodyPr wrap="square" lIns="0" tIns="0" rIns="0" bIns="0" rtlCol="0" anchor="ctr"/>
          <a:lstStyle/>
          <a:p>
            <a:pPr indent="0" marL="0">
              <a:buNone/>
            </a:pPr>
            <a:r>
              <a:rPr lang="en-US" sz="1550" b="1" dirty="0">
                <a:solidFill>
                  <a:srgbClr val="1B2335"/>
                </a:solidFill>
                <a:latin typeface="Bookman Old Style" pitchFamily="34" charset="0"/>
                <a:ea typeface="Bookman Old Style" pitchFamily="34" charset="-122"/>
                <a:cs typeface="Bookman Old Style" pitchFamily="34" charset="-120"/>
              </a:rPr>
              <a:t>Observability</a:t>
            </a:r>
            <a:endParaRPr lang="en-US" sz="1550" dirty="0"/>
          </a:p>
        </p:txBody>
      </p:sp>
      <p:sp>
        <p:nvSpPr>
          <p:cNvPr id="27" name="Text 20"/>
          <p:cNvSpPr/>
          <p:nvPr/>
        </p:nvSpPr>
        <p:spPr>
          <a:xfrm>
            <a:off x="7360920" y="5394960"/>
            <a:ext cx="4206240" cy="457200"/>
          </a:xfrm>
          <a:prstGeom prst="rect">
            <a:avLst/>
          </a:prstGeom>
          <a:noFill/>
          <a:ln/>
        </p:spPr>
        <p:txBody>
          <a:bodyPr wrap="square" lIns="0" tIns="0" rIns="0" bIns="0" rtlCol="0" anchor="ctr"/>
          <a:lstStyle/>
          <a:p>
            <a:pPr indent="0" marL="0">
              <a:buNone/>
            </a:pPr>
            <a:r>
              <a:rPr lang="en-US" sz="1100" dirty="0">
                <a:solidFill>
                  <a:srgbClr val="5A6B8C"/>
                </a:solidFill>
                <a:latin typeface="Arial" pitchFamily="34" charset="0"/>
                <a:ea typeface="Arial" pitchFamily="34" charset="-122"/>
                <a:cs typeface="Arial" pitchFamily="34" charset="-120"/>
              </a:rPr>
              <a:t>system_audit_log</a:t>
            </a:r>
            <a:endParaRPr lang="en-US" sz="1100" dirty="0"/>
          </a:p>
        </p:txBody>
      </p:sp>
      <p:sp>
        <p:nvSpPr>
          <p:cNvPr id="28" name="Text 21"/>
          <p:cNvSpPr/>
          <p:nvPr/>
        </p:nvSpPr>
        <p:spPr>
          <a:xfrm>
            <a:off x="6355080" y="5989320"/>
            <a:ext cx="5303520" cy="548640"/>
          </a:xfrm>
          <a:prstGeom prst="rect">
            <a:avLst/>
          </a:prstGeom>
          <a:noFill/>
          <a:ln/>
        </p:spPr>
        <p:txBody>
          <a:bodyPr wrap="square" lIns="0" tIns="0" rIns="0" bIns="0" rtlCol="0" anchor="ctr"/>
          <a:lstStyle/>
          <a:p>
            <a:pPr indent="0" marL="0">
              <a:buNone/>
            </a:pPr>
            <a:r>
              <a:rPr lang="en-US" sz="1100" b="1" dirty="0">
                <a:solidFill>
                  <a:srgbClr val="1E2761"/>
                </a:solidFill>
                <a:latin typeface="Arial" pitchFamily="34" charset="0"/>
                <a:ea typeface="Arial" pitchFamily="34" charset="-122"/>
                <a:cs typeface="Arial" pitchFamily="34" charset="-120"/>
              </a:rPr>
              <a:t xml:space="preserve">Integrity: </a:t>
            </a:r>
            <a:pPr indent="0" marL="0">
              <a:buNone/>
            </a:pPr>
            <a:r>
              <a:rPr lang="en-US" sz="1100" dirty="0">
                <a:solidFill>
                  <a:srgbClr val="5A6B8C"/>
                </a:solidFill>
                <a:latin typeface="Arial" pitchFamily="34" charset="0"/>
                <a:ea typeface="Arial" pitchFamily="34" charset="-122"/>
                <a:cs typeface="Arial" pitchFamily="34" charset="-120"/>
              </a:rPr>
              <a:t>foreign keys with intent-driven CASCADE / RESTRICT · DECIMAL(15,2) money · unique constraints on budgets, bills &amp; rewards.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778240" y="-2194560"/>
            <a:ext cx="5852160" cy="5852160"/>
          </a:xfrm>
          <a:prstGeom prst="ellipse">
            <a:avLst/>
          </a:prstGeom>
          <a:solidFill>
            <a:srgbClr val="16203F"/>
          </a:solidFill>
          <a:ln/>
        </p:spPr>
      </p:sp>
      <p:sp>
        <p:nvSpPr>
          <p:cNvPr id="3" name="Shape 1"/>
          <p:cNvSpPr/>
          <p:nvPr/>
        </p:nvSpPr>
        <p:spPr>
          <a:xfrm>
            <a:off x="10058400" y="-1097280"/>
            <a:ext cx="3108960" cy="3108960"/>
          </a:xfrm>
          <a:prstGeom prst="ellipse">
            <a:avLst/>
          </a:prstGeom>
          <a:solidFill>
            <a:srgbClr val="1F2E55"/>
          </a:solidFill>
          <a:ln/>
        </p:spPr>
      </p:sp>
      <p:sp>
        <p:nvSpPr>
          <p:cNvPr id="4" name="Text 2"/>
          <p:cNvSpPr/>
          <p:nvPr/>
        </p:nvSpPr>
        <p:spPr>
          <a:xfrm>
            <a:off x="502920" y="384048"/>
            <a:ext cx="822960" cy="502920"/>
          </a:xfrm>
          <a:prstGeom prst="rect">
            <a:avLst/>
          </a:prstGeom>
          <a:noFill/>
          <a:ln/>
        </p:spPr>
        <p:txBody>
          <a:bodyPr wrap="square" lIns="0" tIns="0" rIns="0" bIns="0" rtlCol="0" anchor="ctr"/>
          <a:lstStyle/>
          <a:p>
            <a:pPr indent="0" marL="0">
              <a:buNone/>
            </a:pPr>
            <a:r>
              <a:rPr lang="en-US" sz="2600" b="1" dirty="0">
                <a:solidFill>
                  <a:srgbClr val="CADCFC"/>
                </a:solidFill>
                <a:latin typeface="Bookman Old Style" pitchFamily="34" charset="0"/>
                <a:ea typeface="Bookman Old Style" pitchFamily="34" charset="-122"/>
                <a:cs typeface="Bookman Old Style" pitchFamily="34" charset="-120"/>
              </a:rPr>
              <a:t>11</a:t>
            </a:r>
            <a:endParaRPr lang="en-US" sz="2600" dirty="0"/>
          </a:p>
        </p:txBody>
      </p:sp>
      <p:sp>
        <p:nvSpPr>
          <p:cNvPr id="5" name="Shape 3"/>
          <p:cNvSpPr/>
          <p:nvPr/>
        </p:nvSpPr>
        <p:spPr>
          <a:xfrm>
            <a:off x="1078992" y="457200"/>
            <a:ext cx="25603" cy="384048"/>
          </a:xfrm>
          <a:prstGeom prst="rect">
            <a:avLst/>
          </a:prstGeom>
          <a:solidFill>
            <a:srgbClr val="F2B441"/>
          </a:solidFill>
          <a:ln/>
        </p:spPr>
      </p:sp>
      <p:sp>
        <p:nvSpPr>
          <p:cNvPr id="6" name="Text 4"/>
          <p:cNvSpPr/>
          <p:nvPr/>
        </p:nvSpPr>
        <p:spPr>
          <a:xfrm>
            <a:off x="1225296" y="365760"/>
            <a:ext cx="9601200" cy="274320"/>
          </a:xfrm>
          <a:prstGeom prst="rect">
            <a:avLst/>
          </a:prstGeom>
          <a:noFill/>
          <a:ln/>
        </p:spPr>
        <p:txBody>
          <a:bodyPr wrap="square" lIns="0" tIns="0" rIns="0" bIns="0" rtlCol="0" anchor="ctr"/>
          <a:lstStyle/>
          <a:p>
            <a:pPr indent="0" marL="0">
              <a:buNone/>
            </a:pPr>
            <a:r>
              <a:rPr lang="en-US" sz="1150" b="1" spc="300" kern="0" dirty="0">
                <a:solidFill>
                  <a:srgbClr val="F2B441"/>
                </a:solidFill>
                <a:latin typeface="Arial" pitchFamily="34" charset="0"/>
                <a:ea typeface="Arial" pitchFamily="34" charset="-122"/>
                <a:cs typeface="Arial" pitchFamily="34" charset="-120"/>
              </a:rPr>
              <a:t>ADVANCED ANALYTICS · ADMIN</a:t>
            </a:r>
            <a:endParaRPr lang="en-US" sz="1150" dirty="0"/>
          </a:p>
        </p:txBody>
      </p:sp>
      <p:sp>
        <p:nvSpPr>
          <p:cNvPr id="7" name="Text 5"/>
          <p:cNvSpPr/>
          <p:nvPr/>
        </p:nvSpPr>
        <p:spPr>
          <a:xfrm>
            <a:off x="1207008" y="603504"/>
            <a:ext cx="10424160" cy="566928"/>
          </a:xfrm>
          <a:prstGeom prst="rect">
            <a:avLst/>
          </a:prstGeom>
          <a:noFill/>
          <a:ln/>
        </p:spPr>
        <p:txBody>
          <a:bodyPr wrap="square" lIns="0" tIns="0" rIns="0" bIns="0" rtlCol="0" anchor="ctr"/>
          <a:lstStyle/>
          <a:p>
            <a:pPr indent="0" marL="0">
              <a:buNone/>
            </a:pPr>
            <a:r>
              <a:rPr lang="en-US" sz="2700" b="1" dirty="0">
                <a:solidFill>
                  <a:srgbClr val="FFFFFF"/>
                </a:solidFill>
                <a:latin typeface="Bookman Old Style" pitchFamily="34" charset="0"/>
                <a:ea typeface="Bookman Old Style" pitchFamily="34" charset="-122"/>
                <a:cs typeface="Bookman Old Style" pitchFamily="34" charset="-120"/>
              </a:rPr>
              <a:t>Operational Dashboards &amp; Audit Log</a:t>
            </a:r>
            <a:endParaRPr lang="en-US" sz="2700" dirty="0"/>
          </a:p>
        </p:txBody>
      </p:sp>
      <p:sp>
        <p:nvSpPr>
          <p:cNvPr id="8" name="Shape 6"/>
          <p:cNvSpPr/>
          <p:nvPr/>
        </p:nvSpPr>
        <p:spPr>
          <a:xfrm>
            <a:off x="640080" y="1554480"/>
            <a:ext cx="2670048" cy="1234440"/>
          </a:xfrm>
          <a:prstGeom prst="roundRect">
            <a:avLst>
              <a:gd name="adj" fmla="val 6667"/>
            </a:avLst>
          </a:prstGeom>
          <a:solidFill>
            <a:srgbClr val="16203F"/>
          </a:solidFill>
          <a:ln w="12700">
            <a:solidFill>
              <a:srgbClr val="2C3A63"/>
            </a:solidFill>
            <a:prstDash val="solid"/>
          </a:ln>
        </p:spPr>
      </p:sp>
      <p:sp>
        <p:nvSpPr>
          <p:cNvPr id="9" name="Shape 7"/>
          <p:cNvSpPr/>
          <p:nvPr/>
        </p:nvSpPr>
        <p:spPr>
          <a:xfrm>
            <a:off x="841248" y="1755648"/>
            <a:ext cx="512064" cy="512064"/>
          </a:xfrm>
          <a:prstGeom prst="ellipse">
            <a:avLst/>
          </a:prstGeom>
          <a:solidFill>
            <a:srgbClr val="F2B441"/>
          </a:solidFill>
          <a:ln/>
          <a:effectLst>
            <a:outerShdw sx="100000" sy="100000" kx="0" ky="0" algn="bl" rotWithShape="0" blurRad="114300" dist="38100" dir="5400000">
              <a:srgbClr val="1A2440">
                <a:alpha val="16000"/>
              </a:srgbClr>
            </a:outerShdw>
          </a:effectLst>
        </p:spPr>
      </p:sp>
      <p:pic>
        <p:nvPicPr>
          <p:cNvPr id="10" name="Image 0" descr="/home/claude/build/icons/users_gold.png"/>
          <p:cNvPicPr>
            <a:picLocks noChangeAspect="1"/>
          </p:cNvPicPr>
          <p:nvPr/>
        </p:nvPicPr>
        <p:blipFill>
          <a:blip r:embed="rId1"/>
          <a:stretch>
            <a:fillRect/>
          </a:stretch>
        </p:blipFill>
        <p:spPr>
          <a:xfrm>
            <a:off x="974385" y="1888785"/>
            <a:ext cx="245791" cy="245791"/>
          </a:xfrm>
          <a:prstGeom prst="rect">
            <a:avLst/>
          </a:prstGeom>
        </p:spPr>
      </p:pic>
      <p:sp>
        <p:nvSpPr>
          <p:cNvPr id="11" name="Text 8"/>
          <p:cNvSpPr/>
          <p:nvPr/>
        </p:nvSpPr>
        <p:spPr>
          <a:xfrm>
            <a:off x="1481328" y="1682496"/>
            <a:ext cx="1755648" cy="502920"/>
          </a:xfrm>
          <a:prstGeom prst="rect">
            <a:avLst/>
          </a:prstGeom>
          <a:noFill/>
          <a:ln/>
        </p:spPr>
        <p:txBody>
          <a:bodyPr wrap="square" lIns="0" tIns="0" rIns="0" bIns="0" rtlCol="0" anchor="ctr"/>
          <a:lstStyle/>
          <a:p>
            <a:pPr indent="0" marL="0">
              <a:buNone/>
            </a:pPr>
            <a:r>
              <a:rPr lang="en-US" sz="2300" b="1" dirty="0">
                <a:solidFill>
                  <a:srgbClr val="FFFFFF"/>
                </a:solidFill>
                <a:latin typeface="Bookman Old Style" pitchFamily="34" charset="0"/>
                <a:ea typeface="Bookman Old Style" pitchFamily="34" charset="-122"/>
                <a:cs typeface="Bookman Old Style" pitchFamily="34" charset="-120"/>
              </a:rPr>
              <a:t>2,480</a:t>
            </a:r>
            <a:endParaRPr lang="en-US" sz="2300" dirty="0"/>
          </a:p>
        </p:txBody>
      </p:sp>
      <p:sp>
        <p:nvSpPr>
          <p:cNvPr id="12" name="Text 9"/>
          <p:cNvSpPr/>
          <p:nvPr/>
        </p:nvSpPr>
        <p:spPr>
          <a:xfrm>
            <a:off x="1481328" y="2194560"/>
            <a:ext cx="1755648" cy="365760"/>
          </a:xfrm>
          <a:prstGeom prst="rect">
            <a:avLst/>
          </a:prstGeom>
          <a:noFill/>
          <a:ln/>
        </p:spPr>
        <p:txBody>
          <a:bodyPr wrap="square" lIns="0" tIns="0" rIns="0" bIns="0" rtlCol="0" anchor="ctr"/>
          <a:lstStyle/>
          <a:p>
            <a:pPr indent="0" marL="0">
              <a:buNone/>
            </a:pPr>
            <a:r>
              <a:rPr lang="en-US" sz="1150" dirty="0">
                <a:solidFill>
                  <a:srgbClr val="CADCFC"/>
                </a:solidFill>
                <a:latin typeface="Arial" pitchFamily="34" charset="0"/>
                <a:ea typeface="Arial" pitchFamily="34" charset="-122"/>
                <a:cs typeface="Arial" pitchFamily="34" charset="-120"/>
              </a:rPr>
              <a:t>Total Users</a:t>
            </a:r>
            <a:endParaRPr lang="en-US" sz="1150" dirty="0"/>
          </a:p>
        </p:txBody>
      </p:sp>
      <p:sp>
        <p:nvSpPr>
          <p:cNvPr id="13" name="Shape 10"/>
          <p:cNvSpPr/>
          <p:nvPr/>
        </p:nvSpPr>
        <p:spPr>
          <a:xfrm>
            <a:off x="3557016" y="1554480"/>
            <a:ext cx="2670048" cy="1234440"/>
          </a:xfrm>
          <a:prstGeom prst="roundRect">
            <a:avLst>
              <a:gd name="adj" fmla="val 6667"/>
            </a:avLst>
          </a:prstGeom>
          <a:solidFill>
            <a:srgbClr val="16203F"/>
          </a:solidFill>
          <a:ln w="12700">
            <a:solidFill>
              <a:srgbClr val="2C3A63"/>
            </a:solidFill>
            <a:prstDash val="solid"/>
          </a:ln>
        </p:spPr>
      </p:sp>
      <p:sp>
        <p:nvSpPr>
          <p:cNvPr id="14" name="Shape 11"/>
          <p:cNvSpPr/>
          <p:nvPr/>
        </p:nvSpPr>
        <p:spPr>
          <a:xfrm>
            <a:off x="3758184" y="1755648"/>
            <a:ext cx="512064" cy="512064"/>
          </a:xfrm>
          <a:prstGeom prst="ellipse">
            <a:avLst/>
          </a:prstGeom>
          <a:solidFill>
            <a:srgbClr val="F2B441"/>
          </a:solidFill>
          <a:ln/>
          <a:effectLst>
            <a:outerShdw sx="100000" sy="100000" kx="0" ky="0" algn="bl" rotWithShape="0" blurRad="114300" dist="38100" dir="5400000">
              <a:srgbClr val="1A2440">
                <a:alpha val="16000"/>
              </a:srgbClr>
            </a:outerShdw>
          </a:effectLst>
        </p:spPr>
      </p:sp>
      <p:pic>
        <p:nvPicPr>
          <p:cNvPr id="15" name="Image 1" descr="/home/claude/build/icons/money_gold.png"/>
          <p:cNvPicPr>
            <a:picLocks noChangeAspect="1"/>
          </p:cNvPicPr>
          <p:nvPr/>
        </p:nvPicPr>
        <p:blipFill>
          <a:blip r:embed="rId2"/>
          <a:stretch>
            <a:fillRect/>
          </a:stretch>
        </p:blipFill>
        <p:spPr>
          <a:xfrm>
            <a:off x="3891321" y="1888785"/>
            <a:ext cx="245791" cy="245791"/>
          </a:xfrm>
          <a:prstGeom prst="rect">
            <a:avLst/>
          </a:prstGeom>
        </p:spPr>
      </p:pic>
      <p:sp>
        <p:nvSpPr>
          <p:cNvPr id="16" name="Text 12"/>
          <p:cNvSpPr/>
          <p:nvPr/>
        </p:nvSpPr>
        <p:spPr>
          <a:xfrm>
            <a:off x="4398264" y="1682496"/>
            <a:ext cx="1755648" cy="502920"/>
          </a:xfrm>
          <a:prstGeom prst="rect">
            <a:avLst/>
          </a:prstGeom>
          <a:noFill/>
          <a:ln/>
        </p:spPr>
        <p:txBody>
          <a:bodyPr wrap="square" lIns="0" tIns="0" rIns="0" bIns="0" rtlCol="0" anchor="ctr"/>
          <a:lstStyle/>
          <a:p>
            <a:pPr indent="0" marL="0">
              <a:buNone/>
            </a:pPr>
            <a:r>
              <a:rPr lang="en-US" sz="2300" b="1" dirty="0">
                <a:solidFill>
                  <a:srgbClr val="FFFFFF"/>
                </a:solidFill>
                <a:latin typeface="Bookman Old Style" pitchFamily="34" charset="0"/>
                <a:ea typeface="Bookman Old Style" pitchFamily="34" charset="-122"/>
                <a:cs typeface="Bookman Old Style" pitchFamily="34" charset="-120"/>
              </a:rPr>
              <a:t>₹14.2 Cr</a:t>
            </a:r>
            <a:endParaRPr lang="en-US" sz="2300" dirty="0"/>
          </a:p>
        </p:txBody>
      </p:sp>
      <p:sp>
        <p:nvSpPr>
          <p:cNvPr id="17" name="Text 13"/>
          <p:cNvSpPr/>
          <p:nvPr/>
        </p:nvSpPr>
        <p:spPr>
          <a:xfrm>
            <a:off x="4398264" y="2194560"/>
            <a:ext cx="1755648" cy="365760"/>
          </a:xfrm>
          <a:prstGeom prst="rect">
            <a:avLst/>
          </a:prstGeom>
          <a:noFill/>
          <a:ln/>
        </p:spPr>
        <p:txBody>
          <a:bodyPr wrap="square" lIns="0" tIns="0" rIns="0" bIns="0" rtlCol="0" anchor="ctr"/>
          <a:lstStyle/>
          <a:p>
            <a:pPr indent="0" marL="0">
              <a:buNone/>
            </a:pPr>
            <a:r>
              <a:rPr lang="en-US" sz="1150" dirty="0">
                <a:solidFill>
                  <a:srgbClr val="CADCFC"/>
                </a:solidFill>
                <a:latin typeface="Arial" pitchFamily="34" charset="0"/>
                <a:ea typeface="Arial" pitchFamily="34" charset="-122"/>
                <a:cs typeface="Arial" pitchFamily="34" charset="-120"/>
              </a:rPr>
              <a:t>Txn Volume</a:t>
            </a:r>
            <a:endParaRPr lang="en-US" sz="1150" dirty="0"/>
          </a:p>
        </p:txBody>
      </p:sp>
      <p:sp>
        <p:nvSpPr>
          <p:cNvPr id="18" name="Shape 14"/>
          <p:cNvSpPr/>
          <p:nvPr/>
        </p:nvSpPr>
        <p:spPr>
          <a:xfrm>
            <a:off x="6473952" y="1554480"/>
            <a:ext cx="2670048" cy="1234440"/>
          </a:xfrm>
          <a:prstGeom prst="roundRect">
            <a:avLst>
              <a:gd name="adj" fmla="val 6667"/>
            </a:avLst>
          </a:prstGeom>
          <a:solidFill>
            <a:srgbClr val="16203F"/>
          </a:solidFill>
          <a:ln w="12700">
            <a:solidFill>
              <a:srgbClr val="2C3A63"/>
            </a:solidFill>
            <a:prstDash val="solid"/>
          </a:ln>
        </p:spPr>
      </p:sp>
      <p:sp>
        <p:nvSpPr>
          <p:cNvPr id="19" name="Shape 15"/>
          <p:cNvSpPr/>
          <p:nvPr/>
        </p:nvSpPr>
        <p:spPr>
          <a:xfrm>
            <a:off x="6675120" y="1755648"/>
            <a:ext cx="512064" cy="512064"/>
          </a:xfrm>
          <a:prstGeom prst="ellipse">
            <a:avLst/>
          </a:prstGeom>
          <a:solidFill>
            <a:srgbClr val="F2B441"/>
          </a:solidFill>
          <a:ln/>
          <a:effectLst>
            <a:outerShdw sx="100000" sy="100000" kx="0" ky="0" algn="bl" rotWithShape="0" blurRad="114300" dist="38100" dir="5400000">
              <a:srgbClr val="1A2440">
                <a:alpha val="16000"/>
              </a:srgbClr>
            </a:outerShdw>
          </a:effectLst>
        </p:spPr>
      </p:sp>
      <p:pic>
        <p:nvPicPr>
          <p:cNvPr id="20" name="Image 2" descr="/home/claude/build/icons/receipt_gold.png"/>
          <p:cNvPicPr>
            <a:picLocks noChangeAspect="1"/>
          </p:cNvPicPr>
          <p:nvPr/>
        </p:nvPicPr>
        <p:blipFill>
          <a:blip r:embed="rId3"/>
          <a:stretch>
            <a:fillRect/>
          </a:stretch>
        </p:blipFill>
        <p:spPr>
          <a:xfrm>
            <a:off x="6808257" y="1888785"/>
            <a:ext cx="245791" cy="245791"/>
          </a:xfrm>
          <a:prstGeom prst="rect">
            <a:avLst/>
          </a:prstGeom>
        </p:spPr>
      </p:pic>
      <p:sp>
        <p:nvSpPr>
          <p:cNvPr id="21" name="Text 16"/>
          <p:cNvSpPr/>
          <p:nvPr/>
        </p:nvSpPr>
        <p:spPr>
          <a:xfrm>
            <a:off x="7315200" y="1682496"/>
            <a:ext cx="1755648" cy="502920"/>
          </a:xfrm>
          <a:prstGeom prst="rect">
            <a:avLst/>
          </a:prstGeom>
          <a:noFill/>
          <a:ln/>
        </p:spPr>
        <p:txBody>
          <a:bodyPr wrap="square" lIns="0" tIns="0" rIns="0" bIns="0" rtlCol="0" anchor="ctr"/>
          <a:lstStyle/>
          <a:p>
            <a:pPr indent="0" marL="0">
              <a:buNone/>
            </a:pPr>
            <a:r>
              <a:rPr lang="en-US" sz="2300" b="1" dirty="0">
                <a:solidFill>
                  <a:srgbClr val="FFFFFF"/>
                </a:solidFill>
                <a:latin typeface="Bookman Old Style" pitchFamily="34" charset="0"/>
                <a:ea typeface="Bookman Old Style" pitchFamily="34" charset="-122"/>
                <a:cs typeface="Bookman Old Style" pitchFamily="34" charset="-120"/>
              </a:rPr>
              <a:t>37</a:t>
            </a:r>
            <a:endParaRPr lang="en-US" sz="2300" dirty="0"/>
          </a:p>
        </p:txBody>
      </p:sp>
      <p:sp>
        <p:nvSpPr>
          <p:cNvPr id="22" name="Text 17"/>
          <p:cNvSpPr/>
          <p:nvPr/>
        </p:nvSpPr>
        <p:spPr>
          <a:xfrm>
            <a:off x="7315200" y="2194560"/>
            <a:ext cx="1755648" cy="365760"/>
          </a:xfrm>
          <a:prstGeom prst="rect">
            <a:avLst/>
          </a:prstGeom>
          <a:noFill/>
          <a:ln/>
        </p:spPr>
        <p:txBody>
          <a:bodyPr wrap="square" lIns="0" tIns="0" rIns="0" bIns="0" rtlCol="0" anchor="ctr"/>
          <a:lstStyle/>
          <a:p>
            <a:pPr indent="0" marL="0">
              <a:buNone/>
            </a:pPr>
            <a:r>
              <a:rPr lang="en-US" sz="1150" dirty="0">
                <a:solidFill>
                  <a:srgbClr val="CADCFC"/>
                </a:solidFill>
                <a:latin typeface="Arial" pitchFamily="34" charset="0"/>
                <a:ea typeface="Arial" pitchFamily="34" charset="-122"/>
                <a:cs typeface="Arial" pitchFamily="34" charset="-120"/>
              </a:rPr>
              <a:t>Pending Approvals</a:t>
            </a:r>
            <a:endParaRPr lang="en-US" sz="1150" dirty="0"/>
          </a:p>
        </p:txBody>
      </p:sp>
      <p:sp>
        <p:nvSpPr>
          <p:cNvPr id="23" name="Shape 18"/>
          <p:cNvSpPr/>
          <p:nvPr/>
        </p:nvSpPr>
        <p:spPr>
          <a:xfrm>
            <a:off x="9390888" y="1554480"/>
            <a:ext cx="2670048" cy="1234440"/>
          </a:xfrm>
          <a:prstGeom prst="roundRect">
            <a:avLst>
              <a:gd name="adj" fmla="val 6667"/>
            </a:avLst>
          </a:prstGeom>
          <a:solidFill>
            <a:srgbClr val="16203F"/>
          </a:solidFill>
          <a:ln w="12700">
            <a:solidFill>
              <a:srgbClr val="2C3A63"/>
            </a:solidFill>
            <a:prstDash val="solid"/>
          </a:ln>
        </p:spPr>
      </p:sp>
      <p:sp>
        <p:nvSpPr>
          <p:cNvPr id="24" name="Shape 19"/>
          <p:cNvSpPr/>
          <p:nvPr/>
        </p:nvSpPr>
        <p:spPr>
          <a:xfrm>
            <a:off x="9592056" y="1755648"/>
            <a:ext cx="512064" cy="512064"/>
          </a:xfrm>
          <a:prstGeom prst="ellipse">
            <a:avLst/>
          </a:prstGeom>
          <a:solidFill>
            <a:srgbClr val="F2B441"/>
          </a:solidFill>
          <a:ln/>
          <a:effectLst>
            <a:outerShdw sx="100000" sy="100000" kx="0" ky="0" algn="bl" rotWithShape="0" blurRad="114300" dist="38100" dir="5400000">
              <a:srgbClr val="1A2440">
                <a:alpha val="16000"/>
              </a:srgbClr>
            </a:outerShdw>
          </a:effectLst>
        </p:spPr>
      </p:sp>
      <p:pic>
        <p:nvPicPr>
          <p:cNvPr id="25" name="Image 3" descr="/home/claude/build/icons/bug_gold.png"/>
          <p:cNvPicPr>
            <a:picLocks noChangeAspect="1"/>
          </p:cNvPicPr>
          <p:nvPr/>
        </p:nvPicPr>
        <p:blipFill>
          <a:blip r:embed="rId4"/>
          <a:stretch>
            <a:fillRect/>
          </a:stretch>
        </p:blipFill>
        <p:spPr>
          <a:xfrm>
            <a:off x="9725193" y="1888785"/>
            <a:ext cx="245791" cy="245791"/>
          </a:xfrm>
          <a:prstGeom prst="rect">
            <a:avLst/>
          </a:prstGeom>
        </p:spPr>
      </p:pic>
      <p:sp>
        <p:nvSpPr>
          <p:cNvPr id="26" name="Text 20"/>
          <p:cNvSpPr/>
          <p:nvPr/>
        </p:nvSpPr>
        <p:spPr>
          <a:xfrm>
            <a:off x="10232136" y="1682496"/>
            <a:ext cx="1755648" cy="502920"/>
          </a:xfrm>
          <a:prstGeom prst="rect">
            <a:avLst/>
          </a:prstGeom>
          <a:noFill/>
          <a:ln/>
        </p:spPr>
        <p:txBody>
          <a:bodyPr wrap="square" lIns="0" tIns="0" rIns="0" bIns="0" rtlCol="0" anchor="ctr"/>
          <a:lstStyle/>
          <a:p>
            <a:pPr indent="0" marL="0">
              <a:buNone/>
            </a:pPr>
            <a:r>
              <a:rPr lang="en-US" sz="2300" b="1" dirty="0">
                <a:solidFill>
                  <a:srgbClr val="FFFFFF"/>
                </a:solidFill>
                <a:latin typeface="Bookman Old Style" pitchFamily="34" charset="0"/>
                <a:ea typeface="Bookman Old Style" pitchFamily="34" charset="-122"/>
                <a:cs typeface="Bookman Old Style" pitchFamily="34" charset="-120"/>
              </a:rPr>
              <a:t>99.6%</a:t>
            </a:r>
            <a:endParaRPr lang="en-US" sz="2300" dirty="0"/>
          </a:p>
        </p:txBody>
      </p:sp>
      <p:sp>
        <p:nvSpPr>
          <p:cNvPr id="27" name="Text 21"/>
          <p:cNvSpPr/>
          <p:nvPr/>
        </p:nvSpPr>
        <p:spPr>
          <a:xfrm>
            <a:off x="10232136" y="2194560"/>
            <a:ext cx="1755648" cy="365760"/>
          </a:xfrm>
          <a:prstGeom prst="rect">
            <a:avLst/>
          </a:prstGeom>
          <a:noFill/>
          <a:ln/>
        </p:spPr>
        <p:txBody>
          <a:bodyPr wrap="square" lIns="0" tIns="0" rIns="0" bIns="0" rtlCol="0" anchor="ctr"/>
          <a:lstStyle/>
          <a:p>
            <a:pPr indent="0" marL="0">
              <a:buNone/>
            </a:pPr>
            <a:r>
              <a:rPr lang="en-US" sz="1150" dirty="0">
                <a:solidFill>
                  <a:srgbClr val="CADCFC"/>
                </a:solidFill>
                <a:latin typeface="Arial" pitchFamily="34" charset="0"/>
                <a:ea typeface="Arial" pitchFamily="34" charset="-122"/>
                <a:cs typeface="Arial" pitchFamily="34" charset="-120"/>
              </a:rPr>
              <a:t>2xx Responses</a:t>
            </a:r>
            <a:endParaRPr lang="en-US" sz="1150" dirty="0"/>
          </a:p>
        </p:txBody>
      </p:sp>
      <p:sp>
        <p:nvSpPr>
          <p:cNvPr id="28" name="Text 22"/>
          <p:cNvSpPr/>
          <p:nvPr/>
        </p:nvSpPr>
        <p:spPr>
          <a:xfrm>
            <a:off x="640080" y="3063240"/>
            <a:ext cx="5120640" cy="320040"/>
          </a:xfrm>
          <a:prstGeom prst="rect">
            <a:avLst/>
          </a:prstGeom>
          <a:noFill/>
          <a:ln/>
        </p:spPr>
        <p:txBody>
          <a:bodyPr wrap="square" lIns="0" tIns="0" rIns="0" bIns="0" rtlCol="0" anchor="ctr"/>
          <a:lstStyle/>
          <a:p>
            <a:pPr indent="0" marL="0">
              <a:buNone/>
            </a:pPr>
            <a:r>
              <a:rPr lang="en-US" sz="1100" b="1" spc="120" kern="0" dirty="0">
                <a:solidFill>
                  <a:srgbClr val="F2B441"/>
                </a:solidFill>
                <a:latin typeface="Arial" pitchFamily="34" charset="0"/>
                <a:ea typeface="Arial" pitchFamily="34" charset="-122"/>
                <a:cs typeface="Arial" pitchFamily="34" charset="-120"/>
              </a:rPr>
              <a:t>LOAN APPLICATIONS BY STATUS</a:t>
            </a:r>
            <a:endParaRPr lang="en-US" sz="1100" dirty="0"/>
          </a:p>
        </p:txBody>
      </p:sp>
      <p:graphicFrame>
        <p:nvGraphicFramePr>
          <p:cNvPr id="29" name="Chart 0" descr=""/>
          <p:cNvGraphicFramePr/>
          <p:nvPr/>
        </p:nvGraphicFramePr>
        <p:xfrm>
          <a:off x="457200" y="3337560"/>
          <a:ext cx="5394960" cy="2331720"/>
        </p:xfrm>
        <a:graphic xmlns:a="http://schemas.openxmlformats.org/drawingml/2006/main">
          <a:graphicData uri="http://schemas.openxmlformats.org/drawingml/2006/chart">
            <c:chart xmlns:c="http://schemas.openxmlformats.org/drawingml/2006/chart" r:id="rId5"/>
          </a:graphicData>
        </a:graphic>
      </p:graphicFrame>
      <p:sp>
        <p:nvSpPr>
          <p:cNvPr id="30" name="Shape 23"/>
          <p:cNvSpPr/>
          <p:nvPr/>
        </p:nvSpPr>
        <p:spPr>
          <a:xfrm>
            <a:off x="6309360" y="3063240"/>
            <a:ext cx="5303520" cy="2697480"/>
          </a:xfrm>
          <a:prstGeom prst="roundRect">
            <a:avLst>
              <a:gd name="adj" fmla="val 3390"/>
            </a:avLst>
          </a:prstGeom>
          <a:solidFill>
            <a:srgbClr val="16203F"/>
          </a:solidFill>
          <a:ln w="12700">
            <a:solidFill>
              <a:srgbClr val="2C3A63"/>
            </a:solidFill>
            <a:prstDash val="solid"/>
          </a:ln>
        </p:spPr>
      </p:sp>
      <p:sp>
        <p:nvSpPr>
          <p:cNvPr id="31" name="Text 24"/>
          <p:cNvSpPr/>
          <p:nvPr/>
        </p:nvSpPr>
        <p:spPr>
          <a:xfrm>
            <a:off x="6537960" y="3218688"/>
            <a:ext cx="4937760" cy="320040"/>
          </a:xfrm>
          <a:prstGeom prst="rect">
            <a:avLst/>
          </a:prstGeom>
          <a:noFill/>
          <a:ln/>
        </p:spPr>
        <p:txBody>
          <a:bodyPr wrap="square" lIns="0" tIns="0" rIns="0" bIns="0" rtlCol="0" anchor="ctr"/>
          <a:lstStyle/>
          <a:p>
            <a:pPr indent="0" marL="0">
              <a:buNone/>
            </a:pPr>
            <a:r>
              <a:rPr lang="en-US" sz="1100" b="1" spc="150" kern="0" dirty="0">
                <a:solidFill>
                  <a:srgbClr val="F2B441"/>
                </a:solidFill>
                <a:latin typeface="Arial" pitchFamily="34" charset="0"/>
                <a:ea typeface="Arial" pitchFamily="34" charset="-122"/>
                <a:cs typeface="Arial" pitchFamily="34" charset="-120"/>
              </a:rPr>
              <a:t>SYSTEM AUDIT LOG  ·  AOP-DRIVEN</a:t>
            </a:r>
            <a:endParaRPr lang="en-US" sz="1100" dirty="0"/>
          </a:p>
        </p:txBody>
      </p:sp>
      <p:sp>
        <p:nvSpPr>
          <p:cNvPr id="32" name="Text 25"/>
          <p:cNvSpPr/>
          <p:nvPr/>
        </p:nvSpPr>
        <p:spPr>
          <a:xfrm>
            <a:off x="6537960" y="3611880"/>
            <a:ext cx="868680" cy="310896"/>
          </a:xfrm>
          <a:prstGeom prst="rect">
            <a:avLst/>
          </a:prstGeom>
          <a:noFill/>
          <a:ln/>
        </p:spPr>
        <p:txBody>
          <a:bodyPr wrap="square" lIns="0" tIns="0" rIns="0" bIns="0" rtlCol="0" anchor="ctr"/>
          <a:lstStyle/>
          <a:p>
            <a:pPr indent="0" marL="0">
              <a:buNone/>
            </a:pPr>
            <a:r>
              <a:rPr lang="en-US" sz="1100" b="1" dirty="0">
                <a:solidFill>
                  <a:srgbClr val="CADCFC"/>
                </a:solidFill>
                <a:latin typeface="Bookman Old Style" pitchFamily="34" charset="0"/>
                <a:ea typeface="Bookman Old Style" pitchFamily="34" charset="-122"/>
                <a:cs typeface="Bookman Old Style" pitchFamily="34" charset="-120"/>
              </a:rPr>
              <a:t>GET</a:t>
            </a:r>
            <a:endParaRPr lang="en-US" sz="1100" dirty="0"/>
          </a:p>
        </p:txBody>
      </p:sp>
      <p:sp>
        <p:nvSpPr>
          <p:cNvPr id="33" name="Text 26"/>
          <p:cNvSpPr/>
          <p:nvPr/>
        </p:nvSpPr>
        <p:spPr>
          <a:xfrm>
            <a:off x="7360920" y="3611880"/>
            <a:ext cx="2743200" cy="310896"/>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/api/admin/dashboard</a:t>
            </a:r>
            <a:endParaRPr lang="en-US" sz="1100" dirty="0"/>
          </a:p>
        </p:txBody>
      </p:sp>
      <p:sp>
        <p:nvSpPr>
          <p:cNvPr id="34" name="Text 27"/>
          <p:cNvSpPr/>
          <p:nvPr/>
        </p:nvSpPr>
        <p:spPr>
          <a:xfrm>
            <a:off x="10104120" y="3611880"/>
            <a:ext cx="640080" cy="310896"/>
          </a:xfrm>
          <a:prstGeom prst="rect">
            <a:avLst/>
          </a:prstGeom>
          <a:noFill/>
          <a:ln/>
        </p:spPr>
        <p:txBody>
          <a:bodyPr wrap="square" lIns="0" tIns="0" rIns="0" bIns="0" rtlCol="0" anchor="ctr"/>
          <a:lstStyle/>
          <a:p>
            <a:pPr indent="0" marL="0">
              <a:buNone/>
            </a:pPr>
            <a:r>
              <a:rPr lang="en-US" sz="1100" b="1" dirty="0">
                <a:solidFill>
                  <a:srgbClr val="3FB984"/>
                </a:solidFill>
                <a:latin typeface="Bookman Old Style" pitchFamily="34" charset="0"/>
                <a:ea typeface="Bookman Old Style" pitchFamily="34" charset="-122"/>
                <a:cs typeface="Bookman Old Style" pitchFamily="34" charset="-120"/>
              </a:rPr>
              <a:t>200</a:t>
            </a:r>
            <a:endParaRPr lang="en-US" sz="1100" dirty="0"/>
          </a:p>
        </p:txBody>
      </p:sp>
      <p:sp>
        <p:nvSpPr>
          <p:cNvPr id="35" name="Text 28"/>
          <p:cNvSpPr/>
          <p:nvPr/>
        </p:nvSpPr>
        <p:spPr>
          <a:xfrm>
            <a:off x="10744200" y="3611880"/>
            <a:ext cx="777240" cy="310896"/>
          </a:xfrm>
          <a:prstGeom prst="rect">
            <a:avLst/>
          </a:prstGeom>
          <a:noFill/>
          <a:ln/>
        </p:spPr>
        <p:txBody>
          <a:bodyPr wrap="square" lIns="0" tIns="0" rIns="0" bIns="0" rtlCol="0" anchor="ctr"/>
          <a:lstStyle/>
          <a:p>
            <a:pPr algn="r" indent="0" marL="0">
              <a:buNone/>
            </a:pPr>
            <a:r>
              <a:rPr lang="en-US" sz="1100" dirty="0">
                <a:solidFill>
                  <a:srgbClr val="8A97AD"/>
                </a:solidFill>
                <a:latin typeface="Arial" pitchFamily="34" charset="0"/>
                <a:ea typeface="Arial" pitchFamily="34" charset="-122"/>
                <a:cs typeface="Arial" pitchFamily="34" charset="-120"/>
              </a:rPr>
              <a:t>42ms</a:t>
            </a:r>
            <a:endParaRPr lang="en-US" sz="1100" dirty="0"/>
          </a:p>
        </p:txBody>
      </p:sp>
      <p:sp>
        <p:nvSpPr>
          <p:cNvPr id="36" name="Text 29"/>
          <p:cNvSpPr/>
          <p:nvPr/>
        </p:nvSpPr>
        <p:spPr>
          <a:xfrm>
            <a:off x="6537960" y="4032504"/>
            <a:ext cx="868680" cy="310896"/>
          </a:xfrm>
          <a:prstGeom prst="rect">
            <a:avLst/>
          </a:prstGeom>
          <a:noFill/>
          <a:ln/>
        </p:spPr>
        <p:txBody>
          <a:bodyPr wrap="square" lIns="0" tIns="0" rIns="0" bIns="0" rtlCol="0" anchor="ctr"/>
          <a:lstStyle/>
          <a:p>
            <a:pPr indent="0" marL="0">
              <a:buNone/>
            </a:pPr>
            <a:r>
              <a:rPr lang="en-US" sz="1100" b="1" dirty="0">
                <a:solidFill>
                  <a:srgbClr val="CADCFC"/>
                </a:solidFill>
                <a:latin typeface="Bookman Old Style" pitchFamily="34" charset="0"/>
                <a:ea typeface="Bookman Old Style" pitchFamily="34" charset="-122"/>
                <a:cs typeface="Bookman Old Style" pitchFamily="34" charset="-120"/>
              </a:rPr>
              <a:t>POST</a:t>
            </a:r>
            <a:endParaRPr lang="en-US" sz="1100" dirty="0"/>
          </a:p>
        </p:txBody>
      </p:sp>
      <p:sp>
        <p:nvSpPr>
          <p:cNvPr id="37" name="Text 30"/>
          <p:cNvSpPr/>
          <p:nvPr/>
        </p:nvSpPr>
        <p:spPr>
          <a:xfrm>
            <a:off x="7360920" y="4032504"/>
            <a:ext cx="2743200" cy="310896"/>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/api/loans/apply</a:t>
            </a:r>
            <a:endParaRPr lang="en-US" sz="1100" dirty="0"/>
          </a:p>
        </p:txBody>
      </p:sp>
      <p:sp>
        <p:nvSpPr>
          <p:cNvPr id="38" name="Text 31"/>
          <p:cNvSpPr/>
          <p:nvPr/>
        </p:nvSpPr>
        <p:spPr>
          <a:xfrm>
            <a:off x="10104120" y="4032504"/>
            <a:ext cx="640080" cy="310896"/>
          </a:xfrm>
          <a:prstGeom prst="rect">
            <a:avLst/>
          </a:prstGeom>
          <a:noFill/>
          <a:ln/>
        </p:spPr>
        <p:txBody>
          <a:bodyPr wrap="square" lIns="0" tIns="0" rIns="0" bIns="0" rtlCol="0" anchor="ctr"/>
          <a:lstStyle/>
          <a:p>
            <a:pPr indent="0" marL="0">
              <a:buNone/>
            </a:pPr>
            <a:r>
              <a:rPr lang="en-US" sz="1100" b="1" dirty="0">
                <a:solidFill>
                  <a:srgbClr val="3FB984"/>
                </a:solidFill>
                <a:latin typeface="Bookman Old Style" pitchFamily="34" charset="0"/>
                <a:ea typeface="Bookman Old Style" pitchFamily="34" charset="-122"/>
                <a:cs typeface="Bookman Old Style" pitchFamily="34" charset="-120"/>
              </a:rPr>
              <a:t>201</a:t>
            </a:r>
            <a:endParaRPr lang="en-US" sz="1100" dirty="0"/>
          </a:p>
        </p:txBody>
      </p:sp>
      <p:sp>
        <p:nvSpPr>
          <p:cNvPr id="39" name="Text 32"/>
          <p:cNvSpPr/>
          <p:nvPr/>
        </p:nvSpPr>
        <p:spPr>
          <a:xfrm>
            <a:off x="10744200" y="4032504"/>
            <a:ext cx="777240" cy="310896"/>
          </a:xfrm>
          <a:prstGeom prst="rect">
            <a:avLst/>
          </a:prstGeom>
          <a:noFill/>
          <a:ln/>
        </p:spPr>
        <p:txBody>
          <a:bodyPr wrap="square" lIns="0" tIns="0" rIns="0" bIns="0" rtlCol="0" anchor="ctr"/>
          <a:lstStyle/>
          <a:p>
            <a:pPr algn="r" indent="0" marL="0">
              <a:buNone/>
            </a:pPr>
            <a:r>
              <a:rPr lang="en-US" sz="1100" dirty="0">
                <a:solidFill>
                  <a:srgbClr val="8A97AD"/>
                </a:solidFill>
                <a:latin typeface="Arial" pitchFamily="34" charset="0"/>
                <a:ea typeface="Arial" pitchFamily="34" charset="-122"/>
                <a:cs typeface="Arial" pitchFamily="34" charset="-120"/>
              </a:rPr>
              <a:t>88ms</a:t>
            </a:r>
            <a:endParaRPr lang="en-US" sz="1100" dirty="0"/>
          </a:p>
        </p:txBody>
      </p:sp>
      <p:sp>
        <p:nvSpPr>
          <p:cNvPr id="40" name="Text 33"/>
          <p:cNvSpPr/>
          <p:nvPr/>
        </p:nvSpPr>
        <p:spPr>
          <a:xfrm>
            <a:off x="6537960" y="4453128"/>
            <a:ext cx="868680" cy="310896"/>
          </a:xfrm>
          <a:prstGeom prst="rect">
            <a:avLst/>
          </a:prstGeom>
          <a:noFill/>
          <a:ln/>
        </p:spPr>
        <p:txBody>
          <a:bodyPr wrap="square" lIns="0" tIns="0" rIns="0" bIns="0" rtlCol="0" anchor="ctr"/>
          <a:lstStyle/>
          <a:p>
            <a:pPr indent="0" marL="0">
              <a:buNone/>
            </a:pPr>
            <a:r>
              <a:rPr lang="en-US" sz="1100" b="1" dirty="0">
                <a:solidFill>
                  <a:srgbClr val="CADCFC"/>
                </a:solidFill>
                <a:latin typeface="Bookman Old Style" pitchFamily="34" charset="0"/>
                <a:ea typeface="Bookman Old Style" pitchFamily="34" charset="-122"/>
                <a:cs typeface="Bookman Old Style" pitchFamily="34" charset="-120"/>
              </a:rPr>
              <a:t>PATCH</a:t>
            </a:r>
            <a:endParaRPr lang="en-US" sz="1100" dirty="0"/>
          </a:p>
        </p:txBody>
      </p:sp>
      <p:sp>
        <p:nvSpPr>
          <p:cNvPr id="41" name="Text 34"/>
          <p:cNvSpPr/>
          <p:nvPr/>
        </p:nvSpPr>
        <p:spPr>
          <a:xfrm>
            <a:off x="7360920" y="4453128"/>
            <a:ext cx="2743200" cy="310896"/>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/api/admin/loans/12</a:t>
            </a:r>
            <a:endParaRPr lang="en-US" sz="1100" dirty="0"/>
          </a:p>
        </p:txBody>
      </p:sp>
      <p:sp>
        <p:nvSpPr>
          <p:cNvPr id="42" name="Text 35"/>
          <p:cNvSpPr/>
          <p:nvPr/>
        </p:nvSpPr>
        <p:spPr>
          <a:xfrm>
            <a:off x="10104120" y="4453128"/>
            <a:ext cx="640080" cy="310896"/>
          </a:xfrm>
          <a:prstGeom prst="rect">
            <a:avLst/>
          </a:prstGeom>
          <a:noFill/>
          <a:ln/>
        </p:spPr>
        <p:txBody>
          <a:bodyPr wrap="square" lIns="0" tIns="0" rIns="0" bIns="0" rtlCol="0" anchor="ctr"/>
          <a:lstStyle/>
          <a:p>
            <a:pPr indent="0" marL="0">
              <a:buNone/>
            </a:pPr>
            <a:r>
              <a:rPr lang="en-US" sz="1100" b="1" dirty="0">
                <a:solidFill>
                  <a:srgbClr val="3FB984"/>
                </a:solidFill>
                <a:latin typeface="Bookman Old Style" pitchFamily="34" charset="0"/>
                <a:ea typeface="Bookman Old Style" pitchFamily="34" charset="-122"/>
                <a:cs typeface="Bookman Old Style" pitchFamily="34" charset="-120"/>
              </a:rPr>
              <a:t>200</a:t>
            </a:r>
            <a:endParaRPr lang="en-US" sz="1100" dirty="0"/>
          </a:p>
        </p:txBody>
      </p:sp>
      <p:sp>
        <p:nvSpPr>
          <p:cNvPr id="43" name="Text 36"/>
          <p:cNvSpPr/>
          <p:nvPr/>
        </p:nvSpPr>
        <p:spPr>
          <a:xfrm>
            <a:off x="10744200" y="4453128"/>
            <a:ext cx="777240" cy="310896"/>
          </a:xfrm>
          <a:prstGeom prst="rect">
            <a:avLst/>
          </a:prstGeom>
          <a:noFill/>
          <a:ln/>
        </p:spPr>
        <p:txBody>
          <a:bodyPr wrap="square" lIns="0" tIns="0" rIns="0" bIns="0" rtlCol="0" anchor="ctr"/>
          <a:lstStyle/>
          <a:p>
            <a:pPr algn="r" indent="0" marL="0">
              <a:buNone/>
            </a:pPr>
            <a:r>
              <a:rPr lang="en-US" sz="1100" dirty="0">
                <a:solidFill>
                  <a:srgbClr val="8A97AD"/>
                </a:solidFill>
                <a:latin typeface="Arial" pitchFamily="34" charset="0"/>
                <a:ea typeface="Arial" pitchFamily="34" charset="-122"/>
                <a:cs typeface="Arial" pitchFamily="34" charset="-120"/>
              </a:rPr>
              <a:t>51ms</a:t>
            </a:r>
            <a:endParaRPr lang="en-US" sz="1100" dirty="0"/>
          </a:p>
        </p:txBody>
      </p:sp>
      <p:sp>
        <p:nvSpPr>
          <p:cNvPr id="44" name="Text 37"/>
          <p:cNvSpPr/>
          <p:nvPr/>
        </p:nvSpPr>
        <p:spPr>
          <a:xfrm>
            <a:off x="6537960" y="4873752"/>
            <a:ext cx="868680" cy="310896"/>
          </a:xfrm>
          <a:prstGeom prst="rect">
            <a:avLst/>
          </a:prstGeom>
          <a:noFill/>
          <a:ln/>
        </p:spPr>
        <p:txBody>
          <a:bodyPr wrap="square" lIns="0" tIns="0" rIns="0" bIns="0" rtlCol="0" anchor="ctr"/>
          <a:lstStyle/>
          <a:p>
            <a:pPr indent="0" marL="0">
              <a:buNone/>
            </a:pPr>
            <a:r>
              <a:rPr lang="en-US" sz="1100" b="1" dirty="0">
                <a:solidFill>
                  <a:srgbClr val="CADCFC"/>
                </a:solidFill>
                <a:latin typeface="Bookman Old Style" pitchFamily="34" charset="0"/>
                <a:ea typeface="Bookman Old Style" pitchFamily="34" charset="-122"/>
                <a:cs typeface="Bookman Old Style" pitchFamily="34" charset="-120"/>
              </a:rPr>
              <a:t>GET</a:t>
            </a:r>
            <a:endParaRPr lang="en-US" sz="1100" dirty="0"/>
          </a:p>
        </p:txBody>
      </p:sp>
      <p:sp>
        <p:nvSpPr>
          <p:cNvPr id="45" name="Text 38"/>
          <p:cNvSpPr/>
          <p:nvPr/>
        </p:nvSpPr>
        <p:spPr>
          <a:xfrm>
            <a:off x="7360920" y="4873752"/>
            <a:ext cx="2743200" cy="310896"/>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/api/analytics/spending</a:t>
            </a:r>
            <a:endParaRPr lang="en-US" sz="1100" dirty="0"/>
          </a:p>
        </p:txBody>
      </p:sp>
      <p:sp>
        <p:nvSpPr>
          <p:cNvPr id="46" name="Text 39"/>
          <p:cNvSpPr/>
          <p:nvPr/>
        </p:nvSpPr>
        <p:spPr>
          <a:xfrm>
            <a:off x="10104120" y="4873752"/>
            <a:ext cx="640080" cy="310896"/>
          </a:xfrm>
          <a:prstGeom prst="rect">
            <a:avLst/>
          </a:prstGeom>
          <a:noFill/>
          <a:ln/>
        </p:spPr>
        <p:txBody>
          <a:bodyPr wrap="square" lIns="0" tIns="0" rIns="0" bIns="0" rtlCol="0" anchor="ctr"/>
          <a:lstStyle/>
          <a:p>
            <a:pPr indent="0" marL="0">
              <a:buNone/>
            </a:pPr>
            <a:r>
              <a:rPr lang="en-US" sz="1100" b="1" dirty="0">
                <a:solidFill>
                  <a:srgbClr val="3FB984"/>
                </a:solidFill>
                <a:latin typeface="Bookman Old Style" pitchFamily="34" charset="0"/>
                <a:ea typeface="Bookman Old Style" pitchFamily="34" charset="-122"/>
                <a:cs typeface="Bookman Old Style" pitchFamily="34" charset="-120"/>
              </a:rPr>
              <a:t>200</a:t>
            </a:r>
            <a:endParaRPr lang="en-US" sz="1100" dirty="0"/>
          </a:p>
        </p:txBody>
      </p:sp>
      <p:sp>
        <p:nvSpPr>
          <p:cNvPr id="47" name="Text 40"/>
          <p:cNvSpPr/>
          <p:nvPr/>
        </p:nvSpPr>
        <p:spPr>
          <a:xfrm>
            <a:off x="10744200" y="4873752"/>
            <a:ext cx="777240" cy="310896"/>
          </a:xfrm>
          <a:prstGeom prst="rect">
            <a:avLst/>
          </a:prstGeom>
          <a:noFill/>
          <a:ln/>
        </p:spPr>
        <p:txBody>
          <a:bodyPr wrap="square" lIns="0" tIns="0" rIns="0" bIns="0" rtlCol="0" anchor="ctr"/>
          <a:lstStyle/>
          <a:p>
            <a:pPr algn="r" indent="0" marL="0">
              <a:buNone/>
            </a:pPr>
            <a:r>
              <a:rPr lang="en-US" sz="1100" dirty="0">
                <a:solidFill>
                  <a:srgbClr val="8A97AD"/>
                </a:solidFill>
                <a:latin typeface="Arial" pitchFamily="34" charset="0"/>
                <a:ea typeface="Arial" pitchFamily="34" charset="-122"/>
                <a:cs typeface="Arial" pitchFamily="34" charset="-120"/>
              </a:rPr>
              <a:t>63ms</a:t>
            </a:r>
            <a:endParaRPr lang="en-US" sz="1100" dirty="0"/>
          </a:p>
        </p:txBody>
      </p:sp>
      <p:sp>
        <p:nvSpPr>
          <p:cNvPr id="48" name="Text 41"/>
          <p:cNvSpPr/>
          <p:nvPr/>
        </p:nvSpPr>
        <p:spPr>
          <a:xfrm>
            <a:off x="6537960" y="5294376"/>
            <a:ext cx="868680" cy="310896"/>
          </a:xfrm>
          <a:prstGeom prst="rect">
            <a:avLst/>
          </a:prstGeom>
          <a:noFill/>
          <a:ln/>
        </p:spPr>
        <p:txBody>
          <a:bodyPr wrap="square" lIns="0" tIns="0" rIns="0" bIns="0" rtlCol="0" anchor="ctr"/>
          <a:lstStyle/>
          <a:p>
            <a:pPr indent="0" marL="0">
              <a:buNone/>
            </a:pPr>
            <a:r>
              <a:rPr lang="en-US" sz="1100" b="1" dirty="0">
                <a:solidFill>
                  <a:srgbClr val="CADCFC"/>
                </a:solidFill>
                <a:latin typeface="Bookman Old Style" pitchFamily="34" charset="0"/>
                <a:ea typeface="Bookman Old Style" pitchFamily="34" charset="-122"/>
                <a:cs typeface="Bookman Old Style" pitchFamily="34" charset="-120"/>
              </a:rPr>
              <a:t>POST</a:t>
            </a:r>
            <a:endParaRPr lang="en-US" sz="1100" dirty="0"/>
          </a:p>
        </p:txBody>
      </p:sp>
      <p:sp>
        <p:nvSpPr>
          <p:cNvPr id="49" name="Text 42"/>
          <p:cNvSpPr/>
          <p:nvPr/>
        </p:nvSpPr>
        <p:spPr>
          <a:xfrm>
            <a:off x="7360920" y="5294376"/>
            <a:ext cx="2743200" cy="310896"/>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/api/auth/login</a:t>
            </a:r>
            <a:endParaRPr lang="en-US" sz="1100" dirty="0"/>
          </a:p>
        </p:txBody>
      </p:sp>
      <p:sp>
        <p:nvSpPr>
          <p:cNvPr id="50" name="Text 43"/>
          <p:cNvSpPr/>
          <p:nvPr/>
        </p:nvSpPr>
        <p:spPr>
          <a:xfrm>
            <a:off x="10104120" y="5294376"/>
            <a:ext cx="640080" cy="310896"/>
          </a:xfrm>
          <a:prstGeom prst="rect">
            <a:avLst/>
          </a:prstGeom>
          <a:noFill/>
          <a:ln/>
        </p:spPr>
        <p:txBody>
          <a:bodyPr wrap="square" lIns="0" tIns="0" rIns="0" bIns="0" rtlCol="0" anchor="ctr"/>
          <a:lstStyle/>
          <a:p>
            <a:pPr indent="0" marL="0">
              <a:buNone/>
            </a:pPr>
            <a:r>
              <a:rPr lang="en-US" sz="1100" b="1" dirty="0">
                <a:solidFill>
                  <a:srgbClr val="E8654F"/>
                </a:solidFill>
                <a:latin typeface="Bookman Old Style" pitchFamily="34" charset="0"/>
                <a:ea typeface="Bookman Old Style" pitchFamily="34" charset="-122"/>
                <a:cs typeface="Bookman Old Style" pitchFamily="34" charset="-120"/>
              </a:rPr>
              <a:t>401</a:t>
            </a:r>
            <a:endParaRPr lang="en-US" sz="1100" dirty="0"/>
          </a:p>
        </p:txBody>
      </p:sp>
      <p:sp>
        <p:nvSpPr>
          <p:cNvPr id="51" name="Text 44"/>
          <p:cNvSpPr/>
          <p:nvPr/>
        </p:nvSpPr>
        <p:spPr>
          <a:xfrm>
            <a:off x="10744200" y="5294376"/>
            <a:ext cx="777240" cy="310896"/>
          </a:xfrm>
          <a:prstGeom prst="rect">
            <a:avLst/>
          </a:prstGeom>
          <a:noFill/>
          <a:ln/>
        </p:spPr>
        <p:txBody>
          <a:bodyPr wrap="square" lIns="0" tIns="0" rIns="0" bIns="0" rtlCol="0" anchor="ctr"/>
          <a:lstStyle/>
          <a:p>
            <a:pPr algn="r" indent="0" marL="0">
              <a:buNone/>
            </a:pPr>
            <a:r>
              <a:rPr lang="en-US" sz="1100" dirty="0">
                <a:solidFill>
                  <a:srgbClr val="8A97AD"/>
                </a:solidFill>
                <a:latin typeface="Arial" pitchFamily="34" charset="0"/>
                <a:ea typeface="Arial" pitchFamily="34" charset="-122"/>
                <a:cs typeface="Arial" pitchFamily="34" charset="-120"/>
              </a:rPr>
              <a:t>12ms</a:t>
            </a:r>
            <a:endParaRPr lang="en-US" sz="1100" dirty="0"/>
          </a:p>
        </p:txBody>
      </p:sp>
      <p:sp>
        <p:nvSpPr>
          <p:cNvPr id="52" name="Text 45"/>
          <p:cNvSpPr/>
          <p:nvPr/>
        </p:nvSpPr>
        <p:spPr>
          <a:xfrm>
            <a:off x="6537960" y="5733288"/>
            <a:ext cx="4937760" cy="502920"/>
          </a:xfrm>
          <a:prstGeom prst="rect">
            <a:avLst/>
          </a:prstGeom>
          <a:noFill/>
          <a:ln/>
        </p:spPr>
        <p:txBody>
          <a:bodyPr wrap="square" lIns="0" tIns="0" rIns="0" bIns="0" rtlCol="0" anchor="ctr"/>
          <a:lstStyle/>
          <a:p>
            <a:pPr indent="0" marL="0">
              <a:buNone/>
            </a:pPr>
            <a:r>
              <a:rPr lang="en-US" sz="1080" i="1" dirty="0">
                <a:solidFill>
                  <a:srgbClr val="CADCFC"/>
                </a:solidFill>
                <a:latin typeface="Arial" pitchFamily="34" charset="0"/>
                <a:ea typeface="Arial" pitchFamily="34" charset="-122"/>
                <a:cs typeface="Arial" pitchFamily="34" charset="-120"/>
              </a:rPr>
              <a:t>One @Around aspect logs all 49 endpoints — endpoint, status, latency &amp; acting user — without blocking the response.</a:t>
            </a:r>
            <a:endParaRPr lang="en-US" sz="10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822960" cy="502920"/>
          </a:xfrm>
          <a:prstGeom prst="rect">
            <a:avLst/>
          </a:prstGeom>
          <a:noFill/>
          <a:ln/>
        </p:spPr>
        <p:txBody>
          <a:bodyPr wrap="square" lIns="0" tIns="0" rIns="0" bIns="0" rtlCol="0" anchor="ctr"/>
          <a:lstStyle/>
          <a:p>
            <a:pPr indent="0" marL="0">
              <a:buNone/>
            </a:pPr>
            <a:r>
              <a:rPr lang="en-US" sz="2600" b="1" dirty="0">
                <a:solidFill>
                  <a:srgbClr val="CADCFC"/>
                </a:solidFill>
                <a:latin typeface="Bookman Old Style" pitchFamily="34" charset="0"/>
                <a:ea typeface="Bookman Old Style" pitchFamily="34" charset="-122"/>
                <a:cs typeface="Bookman Old Style" pitchFamily="34" charset="-120"/>
              </a:rPr>
              <a:t>12</a:t>
            </a:r>
            <a:endParaRPr lang="en-US" sz="2600" dirty="0"/>
          </a:p>
        </p:txBody>
      </p:sp>
      <p:sp>
        <p:nvSpPr>
          <p:cNvPr id="3" name="Shape 1"/>
          <p:cNvSpPr/>
          <p:nvPr/>
        </p:nvSpPr>
        <p:spPr>
          <a:xfrm>
            <a:off x="1078992" y="457200"/>
            <a:ext cx="25603" cy="384048"/>
          </a:xfrm>
          <a:prstGeom prst="rect">
            <a:avLst/>
          </a:prstGeom>
          <a:solidFill>
            <a:srgbClr val="9B6BD8"/>
          </a:solidFill>
          <a:ln/>
        </p:spPr>
      </p:sp>
      <p:sp>
        <p:nvSpPr>
          <p:cNvPr id="4" name="Text 2"/>
          <p:cNvSpPr/>
          <p:nvPr/>
        </p:nvSpPr>
        <p:spPr>
          <a:xfrm>
            <a:off x="1225296" y="365760"/>
            <a:ext cx="9601200" cy="274320"/>
          </a:xfrm>
          <a:prstGeom prst="rect">
            <a:avLst/>
          </a:prstGeom>
          <a:noFill/>
          <a:ln/>
        </p:spPr>
        <p:txBody>
          <a:bodyPr wrap="square" lIns="0" tIns="0" rIns="0" bIns="0" rtlCol="0" anchor="ctr"/>
          <a:lstStyle/>
          <a:p>
            <a:pPr indent="0" marL="0">
              <a:buNone/>
            </a:pPr>
            <a:r>
              <a:rPr lang="en-US" sz="1150" b="1" spc="300" kern="0" dirty="0">
                <a:solidFill>
                  <a:srgbClr val="9B6BD8"/>
                </a:solidFill>
                <a:latin typeface="Arial" pitchFamily="34" charset="0"/>
                <a:ea typeface="Arial" pitchFamily="34" charset="-122"/>
                <a:cs typeface="Arial" pitchFamily="34" charset="-120"/>
              </a:rPr>
              <a:t>ADVANCED ANALYTICS · CUSTOMER</a:t>
            </a:r>
            <a:endParaRPr lang="en-US" sz="1150" dirty="0"/>
          </a:p>
        </p:txBody>
      </p:sp>
      <p:sp>
        <p:nvSpPr>
          <p:cNvPr id="5" name="Text 3"/>
          <p:cNvSpPr/>
          <p:nvPr/>
        </p:nvSpPr>
        <p:spPr>
          <a:xfrm>
            <a:off x="1207008" y="603504"/>
            <a:ext cx="10424160" cy="566928"/>
          </a:xfrm>
          <a:prstGeom prst="rect">
            <a:avLst/>
          </a:prstGeom>
          <a:noFill/>
          <a:ln/>
        </p:spPr>
        <p:txBody>
          <a:bodyPr wrap="square" lIns="0" tIns="0" rIns="0" bIns="0" rtlCol="0" anchor="ctr"/>
          <a:lstStyle/>
          <a:p>
            <a:pPr indent="0" marL="0">
              <a:buNone/>
            </a:pPr>
            <a:r>
              <a:rPr lang="en-US" sz="2700" b="1" dirty="0">
                <a:solidFill>
                  <a:srgbClr val="1B2335"/>
                </a:solidFill>
                <a:latin typeface="Bookman Old Style" pitchFamily="34" charset="0"/>
                <a:ea typeface="Bookman Old Style" pitchFamily="34" charset="-122"/>
                <a:cs typeface="Bookman Old Style" pitchFamily="34" charset="-120"/>
              </a:rPr>
              <a:t>Personal Wealth Visualisations</a:t>
            </a:r>
            <a:endParaRPr lang="en-US" sz="2700" dirty="0"/>
          </a:p>
        </p:txBody>
      </p:sp>
      <p:sp>
        <p:nvSpPr>
          <p:cNvPr id="6" name="Text 4"/>
          <p:cNvSpPr/>
          <p:nvPr/>
        </p:nvSpPr>
        <p:spPr>
          <a:xfrm>
            <a:off x="640080" y="1554480"/>
            <a:ext cx="5120640" cy="320040"/>
          </a:xfrm>
          <a:prstGeom prst="rect">
            <a:avLst/>
          </a:prstGeom>
          <a:noFill/>
          <a:ln/>
        </p:spPr>
        <p:txBody>
          <a:bodyPr wrap="square" lIns="0" tIns="0" rIns="0" bIns="0" rtlCol="0" anchor="ctr"/>
          <a:lstStyle/>
          <a:p>
            <a:pPr indent="0" marL="0">
              <a:buNone/>
            </a:pPr>
            <a:r>
              <a:rPr lang="en-US" sz="1100" b="1" spc="120" kern="0" dirty="0">
                <a:solidFill>
                  <a:srgbClr val="5A6B8C"/>
                </a:solidFill>
                <a:latin typeface="Arial" pitchFamily="34" charset="0"/>
                <a:ea typeface="Arial" pitchFamily="34" charset="-122"/>
                <a:cs typeface="Arial" pitchFamily="34" charset="-120"/>
              </a:rPr>
              <a:t>NET-WORTH TREND (6 MONTHS)</a:t>
            </a:r>
            <a:endParaRPr lang="en-US" sz="1100" dirty="0"/>
          </a:p>
        </p:txBody>
      </p:sp>
      <p:graphicFrame>
        <p:nvGraphicFramePr>
          <p:cNvPr id="7" name="Chart 0" descr=""/>
          <p:cNvGraphicFramePr/>
          <p:nvPr/>
        </p:nvGraphicFramePr>
        <p:xfrm>
          <a:off x="457200" y="1828800"/>
          <a:ext cx="5486400" cy="233172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a:off x="640080" y="4297680"/>
            <a:ext cx="5120640" cy="320040"/>
          </a:xfrm>
          <a:prstGeom prst="rect">
            <a:avLst/>
          </a:prstGeom>
          <a:noFill/>
          <a:ln/>
        </p:spPr>
        <p:txBody>
          <a:bodyPr wrap="square" lIns="0" tIns="0" rIns="0" bIns="0" rtlCol="0" anchor="ctr"/>
          <a:lstStyle/>
          <a:p>
            <a:pPr indent="0" marL="0">
              <a:buNone/>
            </a:pPr>
            <a:r>
              <a:rPr lang="en-US" sz="1100" b="1" spc="120" kern="0" dirty="0">
                <a:solidFill>
                  <a:srgbClr val="5A6B8C"/>
                </a:solidFill>
                <a:latin typeface="Arial" pitchFamily="34" charset="0"/>
                <a:ea typeface="Arial" pitchFamily="34" charset="-122"/>
                <a:cs typeface="Arial" pitchFamily="34" charset="-120"/>
              </a:rPr>
              <a:t>INCOME vs EXPENSE</a:t>
            </a:r>
            <a:endParaRPr lang="en-US" sz="1100" dirty="0"/>
          </a:p>
        </p:txBody>
      </p:sp>
      <p:graphicFrame>
        <p:nvGraphicFramePr>
          <p:cNvPr id="9" name="Chart 1" descr=""/>
          <p:cNvGraphicFramePr/>
          <p:nvPr/>
        </p:nvGraphicFramePr>
        <p:xfrm>
          <a:off x="457200" y="4572000"/>
          <a:ext cx="5486400" cy="1783080"/>
        </p:xfrm>
        <a:graphic xmlns:a="http://schemas.openxmlformats.org/drawingml/2006/main">
          <a:graphicData uri="http://schemas.openxmlformats.org/drawingml/2006/chart">
            <c:chart xmlns:c="http://schemas.openxmlformats.org/drawingml/2006/chart" r:id="rId2"/>
          </a:graphicData>
        </a:graphic>
      </p:graphicFrame>
      <p:sp>
        <p:nvSpPr>
          <p:cNvPr id="10" name="Shape 6"/>
          <p:cNvSpPr/>
          <p:nvPr/>
        </p:nvSpPr>
        <p:spPr>
          <a:xfrm>
            <a:off x="6263640" y="1627632"/>
            <a:ext cx="5349240" cy="1097280"/>
          </a:xfrm>
          <a:prstGeom prst="roundRect">
            <a:avLst>
              <a:gd name="adj" fmla="val 6667"/>
            </a:avLst>
          </a:prstGeom>
          <a:solidFill>
            <a:srgbClr val="F4F7FC"/>
          </a:solidFill>
          <a:ln/>
          <a:effectLst>
            <a:outerShdw sx="100000" sy="100000" kx="0" ky="0" algn="bl" rotWithShape="0" blurRad="114300" dist="38100" dir="5400000">
              <a:srgbClr val="1A2440">
                <a:alpha val="16000"/>
              </a:srgbClr>
            </a:outerShdw>
          </a:effectLst>
        </p:spPr>
      </p:sp>
      <p:sp>
        <p:nvSpPr>
          <p:cNvPr id="11" name="Shape 7"/>
          <p:cNvSpPr/>
          <p:nvPr/>
        </p:nvSpPr>
        <p:spPr>
          <a:xfrm>
            <a:off x="6473952" y="1874520"/>
            <a:ext cx="603504" cy="603504"/>
          </a:xfrm>
          <a:prstGeom prst="ellipse">
            <a:avLst/>
          </a:prstGeom>
          <a:solidFill>
            <a:srgbClr val="9B6BD8"/>
          </a:solidFill>
          <a:ln/>
          <a:effectLst>
            <a:outerShdw sx="100000" sy="100000" kx="0" ky="0" algn="bl" rotWithShape="0" blurRad="114300" dist="38100" dir="5400000">
              <a:srgbClr val="1A2440">
                <a:alpha val="16000"/>
              </a:srgbClr>
            </a:outerShdw>
          </a:effectLst>
        </p:spPr>
      </p:sp>
      <p:pic>
        <p:nvPicPr>
          <p:cNvPr id="12" name="Image 0" descr="/home/claude/build/icons/pie_white.png"/>
          <p:cNvPicPr>
            <a:picLocks noChangeAspect="1"/>
          </p:cNvPicPr>
          <p:nvPr/>
        </p:nvPicPr>
        <p:blipFill>
          <a:blip r:embed="rId3"/>
          <a:stretch>
            <a:fillRect/>
          </a:stretch>
        </p:blipFill>
        <p:spPr>
          <a:xfrm>
            <a:off x="6630863" y="2031431"/>
            <a:ext cx="289682" cy="289682"/>
          </a:xfrm>
          <a:prstGeom prst="rect">
            <a:avLst/>
          </a:prstGeom>
        </p:spPr>
      </p:pic>
      <p:sp>
        <p:nvSpPr>
          <p:cNvPr id="13" name="Text 8"/>
          <p:cNvSpPr/>
          <p:nvPr/>
        </p:nvSpPr>
        <p:spPr>
          <a:xfrm>
            <a:off x="7287768" y="1810512"/>
            <a:ext cx="4206240" cy="384048"/>
          </a:xfrm>
          <a:prstGeom prst="rect">
            <a:avLst/>
          </a:prstGeom>
          <a:noFill/>
          <a:ln/>
        </p:spPr>
        <p:txBody>
          <a:bodyPr wrap="square" lIns="0" tIns="0" rIns="0" bIns="0" rtlCol="0" anchor="ctr"/>
          <a:lstStyle/>
          <a:p>
            <a:pPr indent="0" marL="0">
              <a:buNone/>
            </a:pPr>
            <a:r>
              <a:rPr lang="en-US" sz="1650" b="1" dirty="0">
                <a:solidFill>
                  <a:srgbClr val="1B2335"/>
                </a:solidFill>
                <a:latin typeface="Bookman Old Style" pitchFamily="34" charset="0"/>
                <a:ea typeface="Bookman Old Style" pitchFamily="34" charset="-122"/>
                <a:cs typeface="Bookman Old Style" pitchFamily="34" charset="-120"/>
              </a:rPr>
              <a:t>Spending Doughnut</a:t>
            </a:r>
            <a:endParaRPr lang="en-US" sz="1650" dirty="0"/>
          </a:p>
        </p:txBody>
      </p:sp>
      <p:sp>
        <p:nvSpPr>
          <p:cNvPr id="14" name="Text 9"/>
          <p:cNvSpPr/>
          <p:nvPr/>
        </p:nvSpPr>
        <p:spPr>
          <a:xfrm>
            <a:off x="7287768" y="2194560"/>
            <a:ext cx="4251960" cy="457200"/>
          </a:xfrm>
          <a:prstGeom prst="rect">
            <a:avLst/>
          </a:prstGeom>
          <a:noFill/>
          <a:ln/>
        </p:spPr>
        <p:txBody>
          <a:bodyPr wrap="square" lIns="0" tIns="0" rIns="0" bIns="0" rtlCol="0" anchor="ctr"/>
          <a:lstStyle/>
          <a:p>
            <a:pPr indent="0" marL="0">
              <a:buNone/>
            </a:pPr>
            <a:r>
              <a:rPr lang="en-US" sz="1200" dirty="0">
                <a:solidFill>
                  <a:srgbClr val="5A6B8C"/>
                </a:solidFill>
                <a:latin typeface="Arial" pitchFamily="34" charset="0"/>
                <a:ea typeface="Arial" pitchFamily="34" charset="-122"/>
                <a:cs typeface="Arial" pitchFamily="34" charset="-120"/>
              </a:rPr>
              <a:t>Category breakdown of every rupee, from real transactions.</a:t>
            </a:r>
            <a:endParaRPr lang="en-US" sz="1200" dirty="0"/>
          </a:p>
        </p:txBody>
      </p:sp>
      <p:sp>
        <p:nvSpPr>
          <p:cNvPr id="15" name="Shape 10"/>
          <p:cNvSpPr/>
          <p:nvPr/>
        </p:nvSpPr>
        <p:spPr>
          <a:xfrm>
            <a:off x="6263640" y="2834640"/>
            <a:ext cx="5349240" cy="1097280"/>
          </a:xfrm>
          <a:prstGeom prst="roundRect">
            <a:avLst>
              <a:gd name="adj" fmla="val 6667"/>
            </a:avLst>
          </a:prstGeom>
          <a:solidFill>
            <a:srgbClr val="F4F7FC"/>
          </a:solidFill>
          <a:ln/>
          <a:effectLst>
            <a:outerShdw sx="100000" sy="100000" kx="0" ky="0" algn="bl" rotWithShape="0" blurRad="114300" dist="38100" dir="5400000">
              <a:srgbClr val="1A2440">
                <a:alpha val="16000"/>
              </a:srgbClr>
            </a:outerShdw>
          </a:effectLst>
        </p:spPr>
      </p:sp>
      <p:sp>
        <p:nvSpPr>
          <p:cNvPr id="16" name="Shape 11"/>
          <p:cNvSpPr/>
          <p:nvPr/>
        </p:nvSpPr>
        <p:spPr>
          <a:xfrm>
            <a:off x="6473952" y="3081528"/>
            <a:ext cx="603504" cy="603504"/>
          </a:xfrm>
          <a:prstGeom prst="ellipse">
            <a:avLst/>
          </a:prstGeom>
          <a:solidFill>
            <a:srgbClr val="2C8DD6"/>
          </a:solidFill>
          <a:ln/>
          <a:effectLst>
            <a:outerShdw sx="100000" sy="100000" kx="0" ky="0" algn="bl" rotWithShape="0" blurRad="114300" dist="38100" dir="5400000">
              <a:srgbClr val="1A2440">
                <a:alpha val="16000"/>
              </a:srgbClr>
            </a:outerShdw>
          </a:effectLst>
        </p:spPr>
      </p:sp>
      <p:pic>
        <p:nvPicPr>
          <p:cNvPr id="17" name="Image 1" descr="/home/claude/build/icons/chart_white.png"/>
          <p:cNvPicPr>
            <a:picLocks noChangeAspect="1"/>
          </p:cNvPicPr>
          <p:nvPr/>
        </p:nvPicPr>
        <p:blipFill>
          <a:blip r:embed="rId4"/>
          <a:stretch>
            <a:fillRect/>
          </a:stretch>
        </p:blipFill>
        <p:spPr>
          <a:xfrm>
            <a:off x="6630863" y="3238439"/>
            <a:ext cx="289682" cy="289682"/>
          </a:xfrm>
          <a:prstGeom prst="rect">
            <a:avLst/>
          </a:prstGeom>
        </p:spPr>
      </p:pic>
      <p:sp>
        <p:nvSpPr>
          <p:cNvPr id="18" name="Text 12"/>
          <p:cNvSpPr/>
          <p:nvPr/>
        </p:nvSpPr>
        <p:spPr>
          <a:xfrm>
            <a:off x="7287768" y="3017520"/>
            <a:ext cx="4206240" cy="384048"/>
          </a:xfrm>
          <a:prstGeom prst="rect">
            <a:avLst/>
          </a:prstGeom>
          <a:noFill/>
          <a:ln/>
        </p:spPr>
        <p:txBody>
          <a:bodyPr wrap="square" lIns="0" tIns="0" rIns="0" bIns="0" rtlCol="0" anchor="ctr"/>
          <a:lstStyle/>
          <a:p>
            <a:pPr indent="0" marL="0">
              <a:buNone/>
            </a:pPr>
            <a:r>
              <a:rPr lang="en-US" sz="1650" b="1" dirty="0">
                <a:solidFill>
                  <a:srgbClr val="1B2335"/>
                </a:solidFill>
                <a:latin typeface="Bookman Old Style" pitchFamily="34" charset="0"/>
                <a:ea typeface="Bookman Old Style" pitchFamily="34" charset="-122"/>
                <a:cs typeface="Bookman Old Style" pitchFamily="34" charset="-120"/>
              </a:rPr>
              <a:t>Balance Area Chart</a:t>
            </a:r>
            <a:endParaRPr lang="en-US" sz="1650" dirty="0"/>
          </a:p>
        </p:txBody>
      </p:sp>
      <p:sp>
        <p:nvSpPr>
          <p:cNvPr id="19" name="Text 13"/>
          <p:cNvSpPr/>
          <p:nvPr/>
        </p:nvSpPr>
        <p:spPr>
          <a:xfrm>
            <a:off x="7287768" y="3401568"/>
            <a:ext cx="4251960" cy="457200"/>
          </a:xfrm>
          <a:prstGeom prst="rect">
            <a:avLst/>
          </a:prstGeom>
          <a:noFill/>
          <a:ln/>
        </p:spPr>
        <p:txBody>
          <a:bodyPr wrap="square" lIns="0" tIns="0" rIns="0" bIns="0" rtlCol="0" anchor="ctr"/>
          <a:lstStyle/>
          <a:p>
            <a:pPr indent="0" marL="0">
              <a:buNone/>
            </a:pPr>
            <a:r>
              <a:rPr lang="en-US" sz="1200" dirty="0">
                <a:solidFill>
                  <a:srgbClr val="5A6B8C"/>
                </a:solidFill>
                <a:latin typeface="Arial" pitchFamily="34" charset="0"/>
                <a:ea typeface="Arial" pitchFamily="34" charset="-122"/>
                <a:cs typeface="Arial" pitchFamily="34" charset="-120"/>
              </a:rPr>
              <a:t>Smooth net-worth trajectory shows momentum at a glance.</a:t>
            </a:r>
            <a:endParaRPr lang="en-US" sz="1200" dirty="0"/>
          </a:p>
        </p:txBody>
      </p:sp>
      <p:sp>
        <p:nvSpPr>
          <p:cNvPr id="20" name="Shape 14"/>
          <p:cNvSpPr/>
          <p:nvPr/>
        </p:nvSpPr>
        <p:spPr>
          <a:xfrm>
            <a:off x="6263640" y="4041648"/>
            <a:ext cx="5349240" cy="1097280"/>
          </a:xfrm>
          <a:prstGeom prst="roundRect">
            <a:avLst>
              <a:gd name="adj" fmla="val 6667"/>
            </a:avLst>
          </a:prstGeom>
          <a:solidFill>
            <a:srgbClr val="F4F7FC"/>
          </a:solidFill>
          <a:ln/>
          <a:effectLst>
            <a:outerShdw sx="100000" sy="100000" kx="0" ky="0" algn="bl" rotWithShape="0" blurRad="114300" dist="38100" dir="5400000">
              <a:srgbClr val="1A2440">
                <a:alpha val="16000"/>
              </a:srgbClr>
            </a:outerShdw>
          </a:effectLst>
        </p:spPr>
      </p:sp>
      <p:sp>
        <p:nvSpPr>
          <p:cNvPr id="21" name="Shape 15"/>
          <p:cNvSpPr/>
          <p:nvPr/>
        </p:nvSpPr>
        <p:spPr>
          <a:xfrm>
            <a:off x="6473952" y="4288536"/>
            <a:ext cx="603504" cy="603504"/>
          </a:xfrm>
          <a:prstGeom prst="ellipse">
            <a:avLst/>
          </a:prstGeom>
          <a:solidFill>
            <a:srgbClr val="3FB984"/>
          </a:solidFill>
          <a:ln/>
          <a:effectLst>
            <a:outerShdw sx="100000" sy="100000" kx="0" ky="0" algn="bl" rotWithShape="0" blurRad="114300" dist="38100" dir="5400000">
              <a:srgbClr val="1A2440">
                <a:alpha val="16000"/>
              </a:srgbClr>
            </a:outerShdw>
          </a:effectLst>
        </p:spPr>
      </p:sp>
      <p:pic>
        <p:nvPicPr>
          <p:cNvPr id="22" name="Image 2" descr="/home/claude/build/icons/gauge_white.png"/>
          <p:cNvPicPr>
            <a:picLocks noChangeAspect="1"/>
          </p:cNvPicPr>
          <p:nvPr/>
        </p:nvPicPr>
        <p:blipFill>
          <a:blip r:embed="rId5"/>
          <a:stretch>
            <a:fillRect/>
          </a:stretch>
        </p:blipFill>
        <p:spPr>
          <a:xfrm>
            <a:off x="6630863" y="4445447"/>
            <a:ext cx="289682" cy="289682"/>
          </a:xfrm>
          <a:prstGeom prst="rect">
            <a:avLst/>
          </a:prstGeom>
        </p:spPr>
      </p:pic>
      <p:sp>
        <p:nvSpPr>
          <p:cNvPr id="23" name="Text 16"/>
          <p:cNvSpPr/>
          <p:nvPr/>
        </p:nvSpPr>
        <p:spPr>
          <a:xfrm>
            <a:off x="7287768" y="4224528"/>
            <a:ext cx="4206240" cy="384048"/>
          </a:xfrm>
          <a:prstGeom prst="rect">
            <a:avLst/>
          </a:prstGeom>
          <a:noFill/>
          <a:ln/>
        </p:spPr>
        <p:txBody>
          <a:bodyPr wrap="square" lIns="0" tIns="0" rIns="0" bIns="0" rtlCol="0" anchor="ctr"/>
          <a:lstStyle/>
          <a:p>
            <a:pPr indent="0" marL="0">
              <a:buNone/>
            </a:pPr>
            <a:r>
              <a:rPr lang="en-US" sz="1650" b="1" dirty="0">
                <a:solidFill>
                  <a:srgbClr val="1B2335"/>
                </a:solidFill>
                <a:latin typeface="Bookman Old Style" pitchFamily="34" charset="0"/>
                <a:ea typeface="Bookman Old Style" pitchFamily="34" charset="-122"/>
                <a:cs typeface="Bookman Old Style" pitchFamily="34" charset="-120"/>
              </a:rPr>
              <a:t>Budget Adherence</a:t>
            </a:r>
            <a:endParaRPr lang="en-US" sz="1650" dirty="0"/>
          </a:p>
        </p:txBody>
      </p:sp>
      <p:sp>
        <p:nvSpPr>
          <p:cNvPr id="24" name="Text 17"/>
          <p:cNvSpPr/>
          <p:nvPr/>
        </p:nvSpPr>
        <p:spPr>
          <a:xfrm>
            <a:off x="7287768" y="4608576"/>
            <a:ext cx="4251960" cy="457200"/>
          </a:xfrm>
          <a:prstGeom prst="rect">
            <a:avLst/>
          </a:prstGeom>
          <a:noFill/>
          <a:ln/>
        </p:spPr>
        <p:txBody>
          <a:bodyPr wrap="square" lIns="0" tIns="0" rIns="0" bIns="0" rtlCol="0" anchor="ctr"/>
          <a:lstStyle/>
          <a:p>
            <a:pPr indent="0" marL="0">
              <a:buNone/>
            </a:pPr>
            <a:r>
              <a:rPr lang="en-US" sz="1200" dirty="0">
                <a:solidFill>
                  <a:srgbClr val="5A6B8C"/>
                </a:solidFill>
                <a:latin typeface="Arial" pitchFamily="34" charset="0"/>
                <a:ea typeface="Arial" pitchFamily="34" charset="-122"/>
                <a:cs typeface="Arial" pitchFamily="34" charset="-120"/>
              </a:rPr>
              <a:t>Limit-vs-spend tracking flags overspend before month-end.</a:t>
            </a:r>
            <a:endParaRPr lang="en-US" sz="1200" dirty="0"/>
          </a:p>
        </p:txBody>
      </p:sp>
      <p:sp>
        <p:nvSpPr>
          <p:cNvPr id="25" name="Shape 18"/>
          <p:cNvSpPr/>
          <p:nvPr/>
        </p:nvSpPr>
        <p:spPr>
          <a:xfrm>
            <a:off x="6263640" y="5248656"/>
            <a:ext cx="5349240" cy="1097280"/>
          </a:xfrm>
          <a:prstGeom prst="roundRect">
            <a:avLst>
              <a:gd name="adj" fmla="val 6667"/>
            </a:avLst>
          </a:prstGeom>
          <a:solidFill>
            <a:srgbClr val="F4F7FC"/>
          </a:solidFill>
          <a:ln/>
          <a:effectLst>
            <a:outerShdw sx="100000" sy="100000" kx="0" ky="0" algn="bl" rotWithShape="0" blurRad="114300" dist="38100" dir="5400000">
              <a:srgbClr val="1A2440">
                <a:alpha val="16000"/>
              </a:srgbClr>
            </a:outerShdw>
          </a:effectLst>
        </p:spPr>
      </p:sp>
      <p:sp>
        <p:nvSpPr>
          <p:cNvPr id="26" name="Shape 19"/>
          <p:cNvSpPr/>
          <p:nvPr/>
        </p:nvSpPr>
        <p:spPr>
          <a:xfrm>
            <a:off x="6473952" y="5495544"/>
            <a:ext cx="603504" cy="603504"/>
          </a:xfrm>
          <a:prstGeom prst="ellipse">
            <a:avLst/>
          </a:prstGeom>
          <a:solidFill>
            <a:srgbClr val="F2B441"/>
          </a:solidFill>
          <a:ln/>
          <a:effectLst>
            <a:outerShdw sx="100000" sy="100000" kx="0" ky="0" algn="bl" rotWithShape="0" blurRad="114300" dist="38100" dir="5400000">
              <a:srgbClr val="1A2440">
                <a:alpha val="16000"/>
              </a:srgbClr>
            </a:outerShdw>
          </a:effectLst>
        </p:spPr>
      </p:sp>
      <p:pic>
        <p:nvPicPr>
          <p:cNvPr id="27" name="Image 3" descr="/home/claude/build/icons/coins_white.png"/>
          <p:cNvPicPr>
            <a:picLocks noChangeAspect="1"/>
          </p:cNvPicPr>
          <p:nvPr/>
        </p:nvPicPr>
        <p:blipFill>
          <a:blip r:embed="rId6"/>
          <a:stretch>
            <a:fillRect/>
          </a:stretch>
        </p:blipFill>
        <p:spPr>
          <a:xfrm>
            <a:off x="6630863" y="5652455"/>
            <a:ext cx="289682" cy="289682"/>
          </a:xfrm>
          <a:prstGeom prst="rect">
            <a:avLst/>
          </a:prstGeom>
        </p:spPr>
      </p:pic>
      <p:sp>
        <p:nvSpPr>
          <p:cNvPr id="28" name="Text 20"/>
          <p:cNvSpPr/>
          <p:nvPr/>
        </p:nvSpPr>
        <p:spPr>
          <a:xfrm>
            <a:off x="7287768" y="5431536"/>
            <a:ext cx="4206240" cy="384048"/>
          </a:xfrm>
          <a:prstGeom prst="rect">
            <a:avLst/>
          </a:prstGeom>
          <a:noFill/>
          <a:ln/>
        </p:spPr>
        <p:txBody>
          <a:bodyPr wrap="square" lIns="0" tIns="0" rIns="0" bIns="0" rtlCol="0" anchor="ctr"/>
          <a:lstStyle/>
          <a:p>
            <a:pPr indent="0" marL="0">
              <a:buNone/>
            </a:pPr>
            <a:r>
              <a:rPr lang="en-US" sz="1650" b="1" dirty="0">
                <a:solidFill>
                  <a:srgbClr val="1B2335"/>
                </a:solidFill>
                <a:latin typeface="Bookman Old Style" pitchFamily="34" charset="0"/>
                <a:ea typeface="Bookman Old Style" pitchFamily="34" charset="-122"/>
                <a:cs typeface="Bookman Old Style" pitchFamily="34" charset="-120"/>
              </a:rPr>
              <a:t>Reward Insights</a:t>
            </a:r>
            <a:endParaRPr lang="en-US" sz="1650" dirty="0"/>
          </a:p>
        </p:txBody>
      </p:sp>
      <p:sp>
        <p:nvSpPr>
          <p:cNvPr id="29" name="Text 21"/>
          <p:cNvSpPr/>
          <p:nvPr/>
        </p:nvSpPr>
        <p:spPr>
          <a:xfrm>
            <a:off x="7287768" y="5815584"/>
            <a:ext cx="4251960" cy="457200"/>
          </a:xfrm>
          <a:prstGeom prst="rect">
            <a:avLst/>
          </a:prstGeom>
          <a:noFill/>
          <a:ln/>
        </p:spPr>
        <p:txBody>
          <a:bodyPr wrap="square" lIns="0" tIns="0" rIns="0" bIns="0" rtlCol="0" anchor="ctr"/>
          <a:lstStyle/>
          <a:p>
            <a:pPr indent="0" marL="0">
              <a:buNone/>
            </a:pPr>
            <a:r>
              <a:rPr lang="en-US" sz="1200" dirty="0">
                <a:solidFill>
                  <a:srgbClr val="5A6B8C"/>
                </a:solidFill>
                <a:latin typeface="Arial" pitchFamily="34" charset="0"/>
                <a:ea typeface="Arial" pitchFamily="34" charset="-122"/>
                <a:cs typeface="Arial" pitchFamily="34" charset="-120"/>
              </a:rPr>
              <a:t>Loyalty-point accrual surfaced alongside activity.</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822960" cy="502920"/>
          </a:xfrm>
          <a:prstGeom prst="rect">
            <a:avLst/>
          </a:prstGeom>
          <a:noFill/>
          <a:ln/>
        </p:spPr>
        <p:txBody>
          <a:bodyPr wrap="square" lIns="0" tIns="0" rIns="0" bIns="0" rtlCol="0" anchor="ctr"/>
          <a:lstStyle/>
          <a:p>
            <a:pPr indent="0" marL="0">
              <a:buNone/>
            </a:pPr>
            <a:r>
              <a:rPr lang="en-US" sz="2600" b="1" dirty="0">
                <a:solidFill>
                  <a:srgbClr val="CADCFC"/>
                </a:solidFill>
                <a:latin typeface="Bookman Old Style" pitchFamily="34" charset="0"/>
                <a:ea typeface="Bookman Old Style" pitchFamily="34" charset="-122"/>
                <a:cs typeface="Bookman Old Style" pitchFamily="34" charset="-120"/>
              </a:rPr>
              <a:t>13</a:t>
            </a:r>
            <a:endParaRPr lang="en-US" sz="2600" dirty="0"/>
          </a:p>
        </p:txBody>
      </p:sp>
      <p:sp>
        <p:nvSpPr>
          <p:cNvPr id="3" name="Shape 1"/>
          <p:cNvSpPr/>
          <p:nvPr/>
        </p:nvSpPr>
        <p:spPr>
          <a:xfrm>
            <a:off x="1078992" y="457200"/>
            <a:ext cx="25603" cy="384048"/>
          </a:xfrm>
          <a:prstGeom prst="rect">
            <a:avLst/>
          </a:prstGeom>
          <a:solidFill>
            <a:srgbClr val="3FB984"/>
          </a:solidFill>
          <a:ln/>
        </p:spPr>
      </p:sp>
      <p:sp>
        <p:nvSpPr>
          <p:cNvPr id="4" name="Text 2"/>
          <p:cNvSpPr/>
          <p:nvPr/>
        </p:nvSpPr>
        <p:spPr>
          <a:xfrm>
            <a:off x="1225296" y="365760"/>
            <a:ext cx="9601200" cy="274320"/>
          </a:xfrm>
          <a:prstGeom prst="rect">
            <a:avLst/>
          </a:prstGeom>
          <a:noFill/>
          <a:ln/>
        </p:spPr>
        <p:txBody>
          <a:bodyPr wrap="square" lIns="0" tIns="0" rIns="0" bIns="0" rtlCol="0" anchor="ctr"/>
          <a:lstStyle/>
          <a:p>
            <a:pPr indent="0" marL="0">
              <a:buNone/>
            </a:pPr>
            <a:r>
              <a:rPr lang="en-US" sz="1150" b="1" spc="300" kern="0" dirty="0">
                <a:solidFill>
                  <a:srgbClr val="3FB984"/>
                </a:solidFill>
                <a:latin typeface="Arial" pitchFamily="34" charset="0"/>
                <a:ea typeface="Arial" pitchFamily="34" charset="-122"/>
                <a:cs typeface="Arial" pitchFamily="34" charset="-120"/>
              </a:rPr>
              <a:t>PERFORMANCE ENGINEERING</a:t>
            </a:r>
            <a:endParaRPr lang="en-US" sz="1150" dirty="0"/>
          </a:p>
        </p:txBody>
      </p:sp>
      <p:sp>
        <p:nvSpPr>
          <p:cNvPr id="5" name="Text 3"/>
          <p:cNvSpPr/>
          <p:nvPr/>
        </p:nvSpPr>
        <p:spPr>
          <a:xfrm>
            <a:off x="1207008" y="603504"/>
            <a:ext cx="10424160" cy="566928"/>
          </a:xfrm>
          <a:prstGeom prst="rect">
            <a:avLst/>
          </a:prstGeom>
          <a:noFill/>
          <a:ln/>
        </p:spPr>
        <p:txBody>
          <a:bodyPr wrap="square" lIns="0" tIns="0" rIns="0" bIns="0" rtlCol="0" anchor="ctr"/>
          <a:lstStyle/>
          <a:p>
            <a:pPr indent="0" marL="0">
              <a:buNone/>
            </a:pPr>
            <a:r>
              <a:rPr lang="en-US" sz="2700" b="1" dirty="0">
                <a:solidFill>
                  <a:srgbClr val="1B2335"/>
                </a:solidFill>
                <a:latin typeface="Bookman Old Style" pitchFamily="34" charset="0"/>
                <a:ea typeface="Bookman Old Style" pitchFamily="34" charset="-122"/>
                <a:cs typeface="Bookman Old Style" pitchFamily="34" charset="-120"/>
              </a:rPr>
              <a:t>Faster Under Load — by Design</a:t>
            </a:r>
            <a:endParaRPr lang="en-US" sz="2700" dirty="0"/>
          </a:p>
        </p:txBody>
      </p:sp>
      <p:sp>
        <p:nvSpPr>
          <p:cNvPr id="6" name="Text 4"/>
          <p:cNvSpPr/>
          <p:nvPr/>
        </p:nvSpPr>
        <p:spPr>
          <a:xfrm>
            <a:off x="640080" y="1554480"/>
            <a:ext cx="5486400" cy="320040"/>
          </a:xfrm>
          <a:prstGeom prst="rect">
            <a:avLst/>
          </a:prstGeom>
          <a:noFill/>
          <a:ln/>
        </p:spPr>
        <p:txBody>
          <a:bodyPr wrap="square" lIns="0" tIns="0" rIns="0" bIns="0" rtlCol="0" anchor="ctr"/>
          <a:lstStyle/>
          <a:p>
            <a:pPr indent="0" marL="0">
              <a:buNone/>
            </a:pPr>
            <a:r>
              <a:rPr lang="en-US" sz="1100" b="1" spc="120" kern="0" dirty="0">
                <a:solidFill>
                  <a:srgbClr val="5A6B8C"/>
                </a:solidFill>
                <a:latin typeface="Arial" pitchFamily="34" charset="0"/>
                <a:ea typeface="Arial" pitchFamily="34" charset="-122"/>
                <a:cs typeface="Arial" pitchFamily="34" charset="-120"/>
              </a:rPr>
              <a:t>ADMIN DASHBOARD LATENCY (ILLUSTRATIVE)</a:t>
            </a:r>
            <a:endParaRPr lang="en-US" sz="1100" dirty="0"/>
          </a:p>
        </p:txBody>
      </p:sp>
      <p:graphicFrame>
        <p:nvGraphicFramePr>
          <p:cNvPr id="7" name="Chart 0" descr=""/>
          <p:cNvGraphicFramePr/>
          <p:nvPr/>
        </p:nvGraphicFramePr>
        <p:xfrm>
          <a:off x="457200" y="1874520"/>
          <a:ext cx="5394960" cy="274320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a:off x="548640" y="4800600"/>
            <a:ext cx="5394960" cy="640080"/>
          </a:xfrm>
          <a:prstGeom prst="rect">
            <a:avLst/>
          </a:prstGeom>
          <a:noFill/>
          <a:ln/>
        </p:spPr>
        <p:txBody>
          <a:bodyPr wrap="square" lIns="0" tIns="0" rIns="0" bIns="0" rtlCol="0" anchor="ctr"/>
          <a:lstStyle/>
          <a:p>
            <a:pPr indent="0" marL="0">
              <a:buNone/>
            </a:pPr>
            <a:r>
              <a:rPr lang="en-US" sz="1200" i="1" dirty="0">
                <a:solidFill>
                  <a:srgbClr val="5A6B8C"/>
                </a:solidFill>
                <a:latin typeface="Arial" pitchFamily="34" charset="0"/>
                <a:ea typeface="Arial" pitchFamily="34" charset="-122"/>
                <a:cs typeface="Arial" pitchFamily="34" charset="-120"/>
              </a:rPr>
              <a:t>Composite indexing + DB-side aggregation + caching reduced dashboard load time dramatically.</a:t>
            </a:r>
            <a:endParaRPr lang="en-US" sz="1200" dirty="0"/>
          </a:p>
        </p:txBody>
      </p:sp>
      <p:sp>
        <p:nvSpPr>
          <p:cNvPr id="9" name="Shape 6"/>
          <p:cNvSpPr/>
          <p:nvPr/>
        </p:nvSpPr>
        <p:spPr>
          <a:xfrm>
            <a:off x="6263640" y="1627632"/>
            <a:ext cx="5349240" cy="1097280"/>
          </a:xfrm>
          <a:prstGeom prst="roundRect">
            <a:avLst>
              <a:gd name="adj" fmla="val 6667"/>
            </a:avLst>
          </a:prstGeom>
          <a:solidFill>
            <a:srgbClr val="F4F7FC"/>
          </a:solidFill>
          <a:ln/>
          <a:effectLst>
            <a:outerShdw sx="100000" sy="100000" kx="0" ky="0" algn="bl" rotWithShape="0" blurRad="114300" dist="38100" dir="5400000">
              <a:srgbClr val="1A2440">
                <a:alpha val="16000"/>
              </a:srgbClr>
            </a:outerShdw>
          </a:effectLst>
        </p:spPr>
      </p:sp>
      <p:sp>
        <p:nvSpPr>
          <p:cNvPr id="10" name="Shape 7"/>
          <p:cNvSpPr/>
          <p:nvPr/>
        </p:nvSpPr>
        <p:spPr>
          <a:xfrm>
            <a:off x="6473952" y="1874520"/>
            <a:ext cx="603504" cy="603504"/>
          </a:xfrm>
          <a:prstGeom prst="ellipse">
            <a:avLst/>
          </a:prstGeom>
          <a:solidFill>
            <a:srgbClr val="2C8DD6"/>
          </a:solidFill>
          <a:ln/>
          <a:effectLst>
            <a:outerShdw sx="100000" sy="100000" kx="0" ky="0" algn="bl" rotWithShape="0" blurRad="114300" dist="38100" dir="5400000">
              <a:srgbClr val="1A2440">
                <a:alpha val="16000"/>
              </a:srgbClr>
            </a:outerShdw>
          </a:effectLst>
        </p:spPr>
      </p:sp>
      <p:pic>
        <p:nvPicPr>
          <p:cNvPr id="11" name="Image 0" descr="/home/claude/build/icons/search_white.png"/>
          <p:cNvPicPr>
            <a:picLocks noChangeAspect="1"/>
          </p:cNvPicPr>
          <p:nvPr/>
        </p:nvPicPr>
        <p:blipFill>
          <a:blip r:embed="rId2"/>
          <a:stretch>
            <a:fillRect/>
          </a:stretch>
        </p:blipFill>
        <p:spPr>
          <a:xfrm>
            <a:off x="6630863" y="2031431"/>
            <a:ext cx="289682" cy="289682"/>
          </a:xfrm>
          <a:prstGeom prst="rect">
            <a:avLst/>
          </a:prstGeom>
        </p:spPr>
      </p:pic>
      <p:sp>
        <p:nvSpPr>
          <p:cNvPr id="12" name="Text 8"/>
          <p:cNvSpPr/>
          <p:nvPr/>
        </p:nvSpPr>
        <p:spPr>
          <a:xfrm>
            <a:off x="7287768" y="1792224"/>
            <a:ext cx="4206240" cy="384048"/>
          </a:xfrm>
          <a:prstGeom prst="rect">
            <a:avLst/>
          </a:prstGeom>
          <a:noFill/>
          <a:ln/>
        </p:spPr>
        <p:txBody>
          <a:bodyPr wrap="square" lIns="0" tIns="0" rIns="0" bIns="0" rtlCol="0" anchor="ctr"/>
          <a:lstStyle/>
          <a:p>
            <a:pPr indent="0" marL="0">
              <a:buNone/>
            </a:pPr>
            <a:r>
              <a:rPr lang="en-US" sz="1550" b="1" dirty="0">
                <a:solidFill>
                  <a:srgbClr val="1B2335"/>
                </a:solidFill>
                <a:latin typeface="Bookman Old Style" pitchFamily="34" charset="0"/>
                <a:ea typeface="Bookman Old Style" pitchFamily="34" charset="-122"/>
                <a:cs typeface="Bookman Old Style" pitchFamily="34" charset="-120"/>
              </a:rPr>
              <a:t>Eliminated N+1 Queries</a:t>
            </a:r>
            <a:endParaRPr lang="en-US" sz="1550" dirty="0"/>
          </a:p>
        </p:txBody>
      </p:sp>
      <p:sp>
        <p:nvSpPr>
          <p:cNvPr id="13" name="Text 9"/>
          <p:cNvSpPr/>
          <p:nvPr/>
        </p:nvSpPr>
        <p:spPr>
          <a:xfrm>
            <a:off x="7287768" y="2176272"/>
            <a:ext cx="4279392" cy="502920"/>
          </a:xfrm>
          <a:prstGeom prst="rect">
            <a:avLst/>
          </a:prstGeom>
          <a:noFill/>
          <a:ln/>
        </p:spPr>
        <p:txBody>
          <a:bodyPr wrap="square" lIns="0" tIns="0" rIns="0" bIns="0" rtlCol="0" anchor="ctr"/>
          <a:lstStyle/>
          <a:p>
            <a:pPr indent="0" marL="0">
              <a:buNone/>
            </a:pPr>
            <a:r>
              <a:rPr lang="en-US" sz="1130" dirty="0">
                <a:solidFill>
                  <a:srgbClr val="5A6B8C"/>
                </a:solidFill>
                <a:latin typeface="Arial" pitchFamily="34" charset="0"/>
                <a:ea typeface="Arial" pitchFamily="34" charset="-122"/>
                <a:cs typeface="Arial" pitchFamily="34" charset="-120"/>
              </a:rPr>
              <a:t>Single JPQL aggregates (COUNT · SUM · COALESCE) instead of a query per row.</a:t>
            </a:r>
            <a:endParaRPr lang="en-US" sz="1130" dirty="0"/>
          </a:p>
        </p:txBody>
      </p:sp>
      <p:sp>
        <p:nvSpPr>
          <p:cNvPr id="14" name="Shape 10"/>
          <p:cNvSpPr/>
          <p:nvPr/>
        </p:nvSpPr>
        <p:spPr>
          <a:xfrm>
            <a:off x="6263640" y="2834640"/>
            <a:ext cx="5349240" cy="1097280"/>
          </a:xfrm>
          <a:prstGeom prst="roundRect">
            <a:avLst>
              <a:gd name="adj" fmla="val 6667"/>
            </a:avLst>
          </a:prstGeom>
          <a:solidFill>
            <a:srgbClr val="F4F7FC"/>
          </a:solidFill>
          <a:ln/>
          <a:effectLst>
            <a:outerShdw sx="100000" sy="100000" kx="0" ky="0" algn="bl" rotWithShape="0" blurRad="114300" dist="38100" dir="5400000">
              <a:srgbClr val="1A2440">
                <a:alpha val="16000"/>
              </a:srgbClr>
            </a:outerShdw>
          </a:effectLst>
        </p:spPr>
      </p:sp>
      <p:sp>
        <p:nvSpPr>
          <p:cNvPr id="15" name="Shape 11"/>
          <p:cNvSpPr/>
          <p:nvPr/>
        </p:nvSpPr>
        <p:spPr>
          <a:xfrm>
            <a:off x="6473952" y="3081528"/>
            <a:ext cx="603504" cy="603504"/>
          </a:xfrm>
          <a:prstGeom prst="ellipse">
            <a:avLst/>
          </a:prstGeom>
          <a:solidFill>
            <a:srgbClr val="3FB984"/>
          </a:solidFill>
          <a:ln/>
          <a:effectLst>
            <a:outerShdw sx="100000" sy="100000" kx="0" ky="0" algn="bl" rotWithShape="0" blurRad="114300" dist="38100" dir="5400000">
              <a:srgbClr val="1A2440">
                <a:alpha val="16000"/>
              </a:srgbClr>
            </a:outerShdw>
          </a:effectLst>
        </p:spPr>
      </p:sp>
      <p:pic>
        <p:nvPicPr>
          <p:cNvPr id="16" name="Image 1" descr="/home/claude/build/icons/database_white.png"/>
          <p:cNvPicPr>
            <a:picLocks noChangeAspect="1"/>
          </p:cNvPicPr>
          <p:nvPr/>
        </p:nvPicPr>
        <p:blipFill>
          <a:blip r:embed="rId3"/>
          <a:stretch>
            <a:fillRect/>
          </a:stretch>
        </p:blipFill>
        <p:spPr>
          <a:xfrm>
            <a:off x="6630863" y="3238439"/>
            <a:ext cx="289682" cy="289682"/>
          </a:xfrm>
          <a:prstGeom prst="rect">
            <a:avLst/>
          </a:prstGeom>
        </p:spPr>
      </p:pic>
      <p:sp>
        <p:nvSpPr>
          <p:cNvPr id="17" name="Text 12"/>
          <p:cNvSpPr/>
          <p:nvPr/>
        </p:nvSpPr>
        <p:spPr>
          <a:xfrm>
            <a:off x="7287768" y="2999232"/>
            <a:ext cx="4206240" cy="384048"/>
          </a:xfrm>
          <a:prstGeom prst="rect">
            <a:avLst/>
          </a:prstGeom>
          <a:noFill/>
          <a:ln/>
        </p:spPr>
        <p:txBody>
          <a:bodyPr wrap="square" lIns="0" tIns="0" rIns="0" bIns="0" rtlCol="0" anchor="ctr"/>
          <a:lstStyle/>
          <a:p>
            <a:pPr indent="0" marL="0">
              <a:buNone/>
            </a:pPr>
            <a:r>
              <a:rPr lang="en-US" sz="1550" b="1" dirty="0">
                <a:solidFill>
                  <a:srgbClr val="1B2335"/>
                </a:solidFill>
                <a:latin typeface="Bookman Old Style" pitchFamily="34" charset="0"/>
                <a:ea typeface="Bookman Old Style" pitchFamily="34" charset="-122"/>
                <a:cs typeface="Bookman Old Style" pitchFamily="34" charset="-120"/>
              </a:rPr>
              <a:t>Composite Indexes</a:t>
            </a:r>
            <a:endParaRPr lang="en-US" sz="1550" dirty="0"/>
          </a:p>
        </p:txBody>
      </p:sp>
      <p:sp>
        <p:nvSpPr>
          <p:cNvPr id="18" name="Text 13"/>
          <p:cNvSpPr/>
          <p:nvPr/>
        </p:nvSpPr>
        <p:spPr>
          <a:xfrm>
            <a:off x="7287768" y="3383280"/>
            <a:ext cx="4279392" cy="502920"/>
          </a:xfrm>
          <a:prstGeom prst="rect">
            <a:avLst/>
          </a:prstGeom>
          <a:noFill/>
          <a:ln/>
        </p:spPr>
        <p:txBody>
          <a:bodyPr wrap="square" lIns="0" tIns="0" rIns="0" bIns="0" rtlCol="0" anchor="ctr"/>
          <a:lstStyle/>
          <a:p>
            <a:pPr indent="0" marL="0">
              <a:buNone/>
            </a:pPr>
            <a:r>
              <a:rPr lang="en-US" sz="1130" dirty="0">
                <a:solidFill>
                  <a:srgbClr val="5A6B8C"/>
                </a:solidFill>
                <a:latin typeface="Arial" pitchFamily="34" charset="0"/>
                <a:ea typeface="Arial" pitchFamily="34" charset="-122"/>
                <a:cs typeface="Arial" pitchFamily="34" charset="-120"/>
              </a:rPr>
              <a:t>idx_txn_account_date (account_id, transaction_date) serves history &amp; analytics.</a:t>
            </a:r>
            <a:endParaRPr lang="en-US" sz="1130" dirty="0"/>
          </a:p>
        </p:txBody>
      </p:sp>
      <p:sp>
        <p:nvSpPr>
          <p:cNvPr id="19" name="Shape 14"/>
          <p:cNvSpPr/>
          <p:nvPr/>
        </p:nvSpPr>
        <p:spPr>
          <a:xfrm>
            <a:off x="6263640" y="4041648"/>
            <a:ext cx="5349240" cy="1097280"/>
          </a:xfrm>
          <a:prstGeom prst="roundRect">
            <a:avLst>
              <a:gd name="adj" fmla="val 6667"/>
            </a:avLst>
          </a:prstGeom>
          <a:solidFill>
            <a:srgbClr val="F4F7FC"/>
          </a:solidFill>
          <a:ln/>
          <a:effectLst>
            <a:outerShdw sx="100000" sy="100000" kx="0" ky="0" algn="bl" rotWithShape="0" blurRad="114300" dist="38100" dir="5400000">
              <a:srgbClr val="1A2440">
                <a:alpha val="16000"/>
              </a:srgbClr>
            </a:outerShdw>
          </a:effectLst>
        </p:spPr>
      </p:sp>
      <p:sp>
        <p:nvSpPr>
          <p:cNvPr id="20" name="Shape 15"/>
          <p:cNvSpPr/>
          <p:nvPr/>
        </p:nvSpPr>
        <p:spPr>
          <a:xfrm>
            <a:off x="6473952" y="4288536"/>
            <a:ext cx="603504" cy="603504"/>
          </a:xfrm>
          <a:prstGeom prst="ellipse">
            <a:avLst/>
          </a:prstGeom>
          <a:solidFill>
            <a:srgbClr val="F2B441"/>
          </a:solidFill>
          <a:ln/>
          <a:effectLst>
            <a:outerShdw sx="100000" sy="100000" kx="0" ky="0" algn="bl" rotWithShape="0" blurRad="114300" dist="38100" dir="5400000">
              <a:srgbClr val="1A2440">
                <a:alpha val="16000"/>
              </a:srgbClr>
            </a:outerShdw>
          </a:effectLst>
        </p:spPr>
      </p:sp>
      <p:pic>
        <p:nvPicPr>
          <p:cNvPr id="21" name="Image 2" descr="/home/claude/build/icons/bolt_white.png"/>
          <p:cNvPicPr>
            <a:picLocks noChangeAspect="1"/>
          </p:cNvPicPr>
          <p:nvPr/>
        </p:nvPicPr>
        <p:blipFill>
          <a:blip r:embed="rId4"/>
          <a:stretch>
            <a:fillRect/>
          </a:stretch>
        </p:blipFill>
        <p:spPr>
          <a:xfrm>
            <a:off x="6630863" y="4445447"/>
            <a:ext cx="289682" cy="289682"/>
          </a:xfrm>
          <a:prstGeom prst="rect">
            <a:avLst/>
          </a:prstGeom>
        </p:spPr>
      </p:pic>
      <p:sp>
        <p:nvSpPr>
          <p:cNvPr id="22" name="Text 16"/>
          <p:cNvSpPr/>
          <p:nvPr/>
        </p:nvSpPr>
        <p:spPr>
          <a:xfrm>
            <a:off x="7287768" y="4206240"/>
            <a:ext cx="4206240" cy="384048"/>
          </a:xfrm>
          <a:prstGeom prst="rect">
            <a:avLst/>
          </a:prstGeom>
          <a:noFill/>
          <a:ln/>
        </p:spPr>
        <p:txBody>
          <a:bodyPr wrap="square" lIns="0" tIns="0" rIns="0" bIns="0" rtlCol="0" anchor="ctr"/>
          <a:lstStyle/>
          <a:p>
            <a:pPr indent="0" marL="0">
              <a:buNone/>
            </a:pPr>
            <a:r>
              <a:rPr lang="en-US" sz="1550" b="1" dirty="0">
                <a:solidFill>
                  <a:srgbClr val="1B2335"/>
                </a:solidFill>
                <a:latin typeface="Bookman Old Style" pitchFamily="34" charset="0"/>
                <a:ea typeface="Bookman Old Style" pitchFamily="34" charset="-122"/>
                <a:cs typeface="Bookman Old Style" pitchFamily="34" charset="-120"/>
              </a:rPr>
              <a:t>@Cacheable Catalogue</a:t>
            </a:r>
            <a:endParaRPr lang="en-US" sz="1550" dirty="0"/>
          </a:p>
        </p:txBody>
      </p:sp>
      <p:sp>
        <p:nvSpPr>
          <p:cNvPr id="23" name="Text 17"/>
          <p:cNvSpPr/>
          <p:nvPr/>
        </p:nvSpPr>
        <p:spPr>
          <a:xfrm>
            <a:off x="7287768" y="4590288"/>
            <a:ext cx="4279392" cy="502920"/>
          </a:xfrm>
          <a:prstGeom prst="rect">
            <a:avLst/>
          </a:prstGeom>
          <a:noFill/>
          <a:ln/>
        </p:spPr>
        <p:txBody>
          <a:bodyPr wrap="square" lIns="0" tIns="0" rIns="0" bIns="0" rtlCol="0" anchor="ctr"/>
          <a:lstStyle/>
          <a:p>
            <a:pPr indent="0" marL="0">
              <a:buNone/>
            </a:pPr>
            <a:r>
              <a:rPr lang="en-US" sz="1130" dirty="0">
                <a:solidFill>
                  <a:srgbClr val="5A6B8C"/>
                </a:solidFill>
                <a:latin typeface="Arial" pitchFamily="34" charset="0"/>
                <a:ea typeface="Arial" pitchFamily="34" charset="-122"/>
                <a:cs typeface="Arial" pitchFamily="34" charset="-120"/>
              </a:rPr>
              <a:t>Loan products cached; @CacheEvict on write keeps it never-stale.</a:t>
            </a:r>
            <a:endParaRPr lang="en-US" sz="1130" dirty="0"/>
          </a:p>
        </p:txBody>
      </p:sp>
      <p:sp>
        <p:nvSpPr>
          <p:cNvPr id="24" name="Shape 18"/>
          <p:cNvSpPr/>
          <p:nvPr/>
        </p:nvSpPr>
        <p:spPr>
          <a:xfrm>
            <a:off x="6263640" y="5248656"/>
            <a:ext cx="5349240" cy="1097280"/>
          </a:xfrm>
          <a:prstGeom prst="roundRect">
            <a:avLst>
              <a:gd name="adj" fmla="val 6667"/>
            </a:avLst>
          </a:prstGeom>
          <a:solidFill>
            <a:srgbClr val="F4F7FC"/>
          </a:solidFill>
          <a:ln/>
          <a:effectLst>
            <a:outerShdw sx="100000" sy="100000" kx="0" ky="0" algn="bl" rotWithShape="0" blurRad="114300" dist="38100" dir="5400000">
              <a:srgbClr val="1A2440">
                <a:alpha val="16000"/>
              </a:srgbClr>
            </a:outerShdw>
          </a:effectLst>
        </p:spPr>
      </p:sp>
      <p:sp>
        <p:nvSpPr>
          <p:cNvPr id="25" name="Shape 19"/>
          <p:cNvSpPr/>
          <p:nvPr/>
        </p:nvSpPr>
        <p:spPr>
          <a:xfrm>
            <a:off x="6473952" y="5495544"/>
            <a:ext cx="603504" cy="603504"/>
          </a:xfrm>
          <a:prstGeom prst="ellipse">
            <a:avLst/>
          </a:prstGeom>
          <a:solidFill>
            <a:srgbClr val="9B6BD8"/>
          </a:solidFill>
          <a:ln/>
          <a:effectLst>
            <a:outerShdw sx="100000" sy="100000" kx="0" ky="0" algn="bl" rotWithShape="0" blurRad="114300" dist="38100" dir="5400000">
              <a:srgbClr val="1A2440">
                <a:alpha val="16000"/>
              </a:srgbClr>
            </a:outerShdw>
          </a:effectLst>
        </p:spPr>
      </p:sp>
      <p:pic>
        <p:nvPicPr>
          <p:cNvPr id="26" name="Image 3" descr="/home/claude/build/icons/eye_white.png"/>
          <p:cNvPicPr>
            <a:picLocks noChangeAspect="1"/>
          </p:cNvPicPr>
          <p:nvPr/>
        </p:nvPicPr>
        <p:blipFill>
          <a:blip r:embed="rId5"/>
          <a:stretch>
            <a:fillRect/>
          </a:stretch>
        </p:blipFill>
        <p:spPr>
          <a:xfrm>
            <a:off x="6630863" y="5652455"/>
            <a:ext cx="289682" cy="289682"/>
          </a:xfrm>
          <a:prstGeom prst="rect">
            <a:avLst/>
          </a:prstGeom>
        </p:spPr>
      </p:pic>
      <p:sp>
        <p:nvSpPr>
          <p:cNvPr id="27" name="Text 20"/>
          <p:cNvSpPr/>
          <p:nvPr/>
        </p:nvSpPr>
        <p:spPr>
          <a:xfrm>
            <a:off x="7287768" y="5413248"/>
            <a:ext cx="4206240" cy="384048"/>
          </a:xfrm>
          <a:prstGeom prst="rect">
            <a:avLst/>
          </a:prstGeom>
          <a:noFill/>
          <a:ln/>
        </p:spPr>
        <p:txBody>
          <a:bodyPr wrap="square" lIns="0" tIns="0" rIns="0" bIns="0" rtlCol="0" anchor="ctr"/>
          <a:lstStyle/>
          <a:p>
            <a:pPr indent="0" marL="0">
              <a:buNone/>
            </a:pPr>
            <a:r>
              <a:rPr lang="en-US" sz="1550" b="1" dirty="0">
                <a:solidFill>
                  <a:srgbClr val="1B2335"/>
                </a:solidFill>
                <a:latin typeface="Bookman Old Style" pitchFamily="34" charset="0"/>
                <a:ea typeface="Bookman Old Style" pitchFamily="34" charset="-122"/>
                <a:cs typeface="Bookman Old Style" pitchFamily="34" charset="-120"/>
              </a:rPr>
              <a:t>AOP Audit (Non-Blocking)</a:t>
            </a:r>
            <a:endParaRPr lang="en-US" sz="1550" dirty="0"/>
          </a:p>
        </p:txBody>
      </p:sp>
      <p:sp>
        <p:nvSpPr>
          <p:cNvPr id="28" name="Text 21"/>
          <p:cNvSpPr/>
          <p:nvPr/>
        </p:nvSpPr>
        <p:spPr>
          <a:xfrm>
            <a:off x="7287768" y="5797296"/>
            <a:ext cx="4279392" cy="502920"/>
          </a:xfrm>
          <a:prstGeom prst="rect">
            <a:avLst/>
          </a:prstGeom>
          <a:noFill/>
          <a:ln/>
        </p:spPr>
        <p:txBody>
          <a:bodyPr wrap="square" lIns="0" tIns="0" rIns="0" bIns="0" rtlCol="0" anchor="ctr"/>
          <a:lstStyle/>
          <a:p>
            <a:pPr indent="0" marL="0">
              <a:buNone/>
            </a:pPr>
            <a:r>
              <a:rPr lang="en-US" sz="1130" dirty="0">
                <a:solidFill>
                  <a:srgbClr val="5A6B8C"/>
                </a:solidFill>
                <a:latin typeface="Arial" pitchFamily="34" charset="0"/>
                <a:ea typeface="Arial" pitchFamily="34" charset="-122"/>
                <a:cs typeface="Arial" pitchFamily="34" charset="-120"/>
              </a:rPr>
              <a:t>One @Around aspect; writes in a finally block, never delays the response.</a:t>
            </a:r>
            <a:endParaRPr lang="en-US" sz="113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778240" y="-2194560"/>
            <a:ext cx="5852160" cy="5852160"/>
          </a:xfrm>
          <a:prstGeom prst="ellipse">
            <a:avLst/>
          </a:prstGeom>
          <a:solidFill>
            <a:srgbClr val="16203F"/>
          </a:solidFill>
          <a:ln/>
        </p:spPr>
      </p:sp>
      <p:sp>
        <p:nvSpPr>
          <p:cNvPr id="3" name="Shape 1"/>
          <p:cNvSpPr/>
          <p:nvPr/>
        </p:nvSpPr>
        <p:spPr>
          <a:xfrm>
            <a:off x="10058400" y="-1097280"/>
            <a:ext cx="3108960" cy="3108960"/>
          </a:xfrm>
          <a:prstGeom prst="ellipse">
            <a:avLst/>
          </a:prstGeom>
          <a:solidFill>
            <a:srgbClr val="1F2E55"/>
          </a:solidFill>
          <a:ln/>
        </p:spPr>
      </p:sp>
      <p:sp>
        <p:nvSpPr>
          <p:cNvPr id="4" name="Text 2"/>
          <p:cNvSpPr/>
          <p:nvPr/>
        </p:nvSpPr>
        <p:spPr>
          <a:xfrm>
            <a:off x="502920" y="384048"/>
            <a:ext cx="822960" cy="502920"/>
          </a:xfrm>
          <a:prstGeom prst="rect">
            <a:avLst/>
          </a:prstGeom>
          <a:noFill/>
          <a:ln/>
        </p:spPr>
        <p:txBody>
          <a:bodyPr wrap="square" lIns="0" tIns="0" rIns="0" bIns="0" rtlCol="0" anchor="ctr"/>
          <a:lstStyle/>
          <a:p>
            <a:pPr indent="0" marL="0">
              <a:buNone/>
            </a:pPr>
            <a:r>
              <a:rPr lang="en-US" sz="2600" b="1" dirty="0">
                <a:solidFill>
                  <a:srgbClr val="CADCFC"/>
                </a:solidFill>
                <a:latin typeface="Bookman Old Style" pitchFamily="34" charset="0"/>
                <a:ea typeface="Bookman Old Style" pitchFamily="34" charset="-122"/>
                <a:cs typeface="Bookman Old Style" pitchFamily="34" charset="-120"/>
              </a:rPr>
              <a:t>14</a:t>
            </a:r>
            <a:endParaRPr lang="en-US" sz="2600" dirty="0"/>
          </a:p>
        </p:txBody>
      </p:sp>
      <p:sp>
        <p:nvSpPr>
          <p:cNvPr id="5" name="Shape 3"/>
          <p:cNvSpPr/>
          <p:nvPr/>
        </p:nvSpPr>
        <p:spPr>
          <a:xfrm>
            <a:off x="1078992" y="457200"/>
            <a:ext cx="25603" cy="384048"/>
          </a:xfrm>
          <a:prstGeom prst="rect">
            <a:avLst/>
          </a:prstGeom>
          <a:solidFill>
            <a:srgbClr val="F2B441"/>
          </a:solidFill>
          <a:ln/>
        </p:spPr>
      </p:sp>
      <p:sp>
        <p:nvSpPr>
          <p:cNvPr id="6" name="Text 4"/>
          <p:cNvSpPr/>
          <p:nvPr/>
        </p:nvSpPr>
        <p:spPr>
          <a:xfrm>
            <a:off x="1225296" y="365760"/>
            <a:ext cx="9601200" cy="274320"/>
          </a:xfrm>
          <a:prstGeom prst="rect">
            <a:avLst/>
          </a:prstGeom>
          <a:noFill/>
          <a:ln/>
        </p:spPr>
        <p:txBody>
          <a:bodyPr wrap="square" lIns="0" tIns="0" rIns="0" bIns="0" rtlCol="0" anchor="ctr"/>
          <a:lstStyle/>
          <a:p>
            <a:pPr indent="0" marL="0">
              <a:buNone/>
            </a:pPr>
            <a:r>
              <a:rPr lang="en-US" sz="1150" b="1" spc="300" kern="0" dirty="0">
                <a:solidFill>
                  <a:srgbClr val="F2B441"/>
                </a:solidFill>
                <a:latin typeface="Arial" pitchFamily="34" charset="0"/>
                <a:ea typeface="Arial" pitchFamily="34" charset="-122"/>
                <a:cs typeface="Arial" pitchFamily="34" charset="-120"/>
              </a:rPr>
              <a:t>QUALITY ASSURANCE</a:t>
            </a:r>
            <a:endParaRPr lang="en-US" sz="1150" dirty="0"/>
          </a:p>
        </p:txBody>
      </p:sp>
      <p:sp>
        <p:nvSpPr>
          <p:cNvPr id="7" name="Text 5"/>
          <p:cNvSpPr/>
          <p:nvPr/>
        </p:nvSpPr>
        <p:spPr>
          <a:xfrm>
            <a:off x="1207008" y="603504"/>
            <a:ext cx="10424160" cy="566928"/>
          </a:xfrm>
          <a:prstGeom prst="rect">
            <a:avLst/>
          </a:prstGeom>
          <a:noFill/>
          <a:ln/>
        </p:spPr>
        <p:txBody>
          <a:bodyPr wrap="square" lIns="0" tIns="0" rIns="0" bIns="0" rtlCol="0" anchor="ctr"/>
          <a:lstStyle/>
          <a:p>
            <a:pPr indent="0" marL="0">
              <a:buNone/>
            </a:pPr>
            <a:r>
              <a:rPr lang="en-US" sz="2700" b="1" dirty="0">
                <a:solidFill>
                  <a:srgbClr val="FFFFFF"/>
                </a:solidFill>
                <a:latin typeface="Bookman Old Style" pitchFamily="34" charset="0"/>
                <a:ea typeface="Bookman Old Style" pitchFamily="34" charset="-122"/>
                <a:cs typeface="Bookman Old Style" pitchFamily="34" charset="-120"/>
              </a:rPr>
              <a:t>Tested Across Every Layer</a:t>
            </a:r>
            <a:endParaRPr lang="en-US" sz="2700" dirty="0"/>
          </a:p>
        </p:txBody>
      </p:sp>
      <p:sp>
        <p:nvSpPr>
          <p:cNvPr id="8" name="Shape 6"/>
          <p:cNvSpPr/>
          <p:nvPr/>
        </p:nvSpPr>
        <p:spPr>
          <a:xfrm>
            <a:off x="548640" y="1600200"/>
            <a:ext cx="3246120" cy="4160520"/>
          </a:xfrm>
          <a:prstGeom prst="roundRect">
            <a:avLst>
              <a:gd name="adj" fmla="val 2817"/>
            </a:avLst>
          </a:prstGeom>
          <a:solidFill>
            <a:srgbClr val="16203F"/>
          </a:solidFill>
          <a:ln w="12700">
            <a:solidFill>
              <a:srgbClr val="2C3A63"/>
            </a:solidFill>
            <a:prstDash val="solid"/>
          </a:ln>
        </p:spPr>
      </p:sp>
      <p:sp>
        <p:nvSpPr>
          <p:cNvPr id="9" name="Text 7"/>
          <p:cNvSpPr/>
          <p:nvPr/>
        </p:nvSpPr>
        <p:spPr>
          <a:xfrm>
            <a:off x="548640" y="2148840"/>
            <a:ext cx="3246120" cy="1188720"/>
          </a:xfrm>
          <a:prstGeom prst="rect">
            <a:avLst/>
          </a:prstGeom>
          <a:noFill/>
          <a:ln/>
        </p:spPr>
        <p:txBody>
          <a:bodyPr wrap="square" lIns="0" tIns="0" rIns="0" bIns="0" rtlCol="0" anchor="ctr"/>
          <a:lstStyle/>
          <a:p>
            <a:pPr algn="ctr" indent="0" marL="0">
              <a:buNone/>
            </a:pPr>
            <a:r>
              <a:rPr lang="en-US" sz="9200" b="1" dirty="0">
                <a:solidFill>
                  <a:srgbClr val="F2B441"/>
                </a:solidFill>
                <a:latin typeface="Bookman Old Style" pitchFamily="34" charset="0"/>
                <a:ea typeface="Bookman Old Style" pitchFamily="34" charset="-122"/>
                <a:cs typeface="Bookman Old Style" pitchFamily="34" charset="-120"/>
              </a:rPr>
              <a:t>23</a:t>
            </a:r>
            <a:endParaRPr lang="en-US" sz="9200" dirty="0"/>
          </a:p>
        </p:txBody>
      </p:sp>
      <p:sp>
        <p:nvSpPr>
          <p:cNvPr id="10" name="Text 8"/>
          <p:cNvSpPr/>
          <p:nvPr/>
        </p:nvSpPr>
        <p:spPr>
          <a:xfrm>
            <a:off x="548640" y="3383280"/>
            <a:ext cx="3246120" cy="365760"/>
          </a:xfrm>
          <a:prstGeom prst="rect">
            <a:avLst/>
          </a:prstGeom>
          <a:noFill/>
          <a:ln/>
        </p:spPr>
        <p:txBody>
          <a:bodyPr wrap="square" lIns="0" tIns="0" rIns="0" bIns="0" rtlCol="0" anchor="ctr"/>
          <a:lstStyle/>
          <a:p>
            <a:pPr algn="ctr" indent="0" marL="0">
              <a:buNone/>
            </a:pPr>
            <a:r>
              <a:rPr lang="en-US" sz="1300" b="1" spc="150" kern="0" dirty="0">
                <a:solidFill>
                  <a:srgbClr val="FFFFFF"/>
                </a:solidFill>
                <a:latin typeface="Arial" pitchFamily="34" charset="0"/>
                <a:ea typeface="Arial" pitchFamily="34" charset="-122"/>
                <a:cs typeface="Arial" pitchFamily="34" charset="-120"/>
              </a:rPr>
              <a:t>AUTOMATED TESTS</a:t>
            </a:r>
            <a:endParaRPr lang="en-US" sz="1300" dirty="0"/>
          </a:p>
        </p:txBody>
      </p:sp>
      <p:sp>
        <p:nvSpPr>
          <p:cNvPr id="11" name="Text 9"/>
          <p:cNvSpPr/>
          <p:nvPr/>
        </p:nvSpPr>
        <p:spPr>
          <a:xfrm>
            <a:off x="548640" y="3749040"/>
            <a:ext cx="3246120" cy="365760"/>
          </a:xfrm>
          <a:prstGeom prst="rect">
            <a:avLst/>
          </a:prstGeom>
          <a:noFill/>
          <a:ln/>
        </p:spPr>
        <p:txBody>
          <a:bodyPr wrap="square" lIns="0" tIns="0" rIns="0" bIns="0" rtlCol="0" anchor="ctr"/>
          <a:lstStyle/>
          <a:p>
            <a:pPr algn="ctr" indent="0" marL="0">
              <a:buNone/>
            </a:pPr>
            <a:r>
              <a:rPr lang="en-US" sz="1300" dirty="0">
                <a:solidFill>
                  <a:srgbClr val="3FB984"/>
                </a:solidFill>
                <a:latin typeface="Arial" pitchFamily="34" charset="0"/>
                <a:ea typeface="Arial" pitchFamily="34" charset="-122"/>
                <a:cs typeface="Arial" pitchFamily="34" charset="-120"/>
              </a:rPr>
              <a:t>0 failures · 0 errors</a:t>
            </a:r>
            <a:endParaRPr lang="en-US" sz="1300" dirty="0"/>
          </a:p>
        </p:txBody>
      </p:sp>
      <p:sp>
        <p:nvSpPr>
          <p:cNvPr id="12" name="Shape 10"/>
          <p:cNvSpPr/>
          <p:nvPr/>
        </p:nvSpPr>
        <p:spPr>
          <a:xfrm>
            <a:off x="1005840" y="4297680"/>
            <a:ext cx="2331720" cy="10973"/>
          </a:xfrm>
          <a:prstGeom prst="rect">
            <a:avLst/>
          </a:prstGeom>
          <a:solidFill>
            <a:srgbClr val="33406A"/>
          </a:solidFill>
          <a:ln/>
        </p:spPr>
      </p:sp>
      <p:sp>
        <p:nvSpPr>
          <p:cNvPr id="13" name="Text 11"/>
          <p:cNvSpPr/>
          <p:nvPr/>
        </p:nvSpPr>
        <p:spPr>
          <a:xfrm>
            <a:off x="640080" y="4480560"/>
            <a:ext cx="3063240" cy="822960"/>
          </a:xfrm>
          <a:prstGeom prst="rect">
            <a:avLst/>
          </a:prstGeom>
          <a:noFill/>
          <a:ln/>
        </p:spPr>
        <p:txBody>
          <a:bodyPr wrap="square" lIns="0" tIns="0" rIns="0" bIns="0" rtlCol="0" anchor="ctr"/>
          <a:lstStyle/>
          <a:p>
            <a:pPr algn="ctr" indent="0" marL="0">
              <a:buNone/>
            </a:pPr>
            <a:r>
              <a:rPr lang="en-US" sz="1200" dirty="0">
                <a:solidFill>
                  <a:srgbClr val="CADCFC"/>
                </a:solidFill>
                <a:latin typeface="Arial" pitchFamily="34" charset="0"/>
                <a:ea typeface="Arial" pitchFamily="34" charset="-122"/>
                <a:cs typeface="Arial" pitchFamily="34" charset="-120"/>
              </a:rPr>
              <a:t>Maven build · Postman · E2E · Load test</a:t>
            </a:r>
            <a:endParaRPr lang="en-US" sz="1200" dirty="0"/>
          </a:p>
        </p:txBody>
      </p:sp>
      <p:sp>
        <p:nvSpPr>
          <p:cNvPr id="14" name="Text 12"/>
          <p:cNvSpPr/>
          <p:nvPr/>
        </p:nvSpPr>
        <p:spPr>
          <a:xfrm>
            <a:off x="4114800" y="1600200"/>
            <a:ext cx="7315200" cy="320040"/>
          </a:xfrm>
          <a:prstGeom prst="rect">
            <a:avLst/>
          </a:prstGeom>
          <a:noFill/>
          <a:ln/>
        </p:spPr>
        <p:txBody>
          <a:bodyPr wrap="square" lIns="0" tIns="0" rIns="0" bIns="0" rtlCol="0" anchor="ctr"/>
          <a:lstStyle/>
          <a:p>
            <a:pPr indent="0" marL="0">
              <a:buNone/>
            </a:pPr>
            <a:r>
              <a:rPr lang="en-US" sz="1150" b="1" spc="150" kern="0" dirty="0">
                <a:solidFill>
                  <a:srgbClr val="F2B441"/>
                </a:solidFill>
                <a:latin typeface="Arial" pitchFamily="34" charset="0"/>
                <a:ea typeface="Arial" pitchFamily="34" charset="-122"/>
                <a:cs typeface="Arial" pitchFamily="34" charset="-120"/>
              </a:rPr>
              <a:t>AUTOMATED SUITE BREAKDOWN</a:t>
            </a:r>
            <a:endParaRPr lang="en-US" sz="1150" dirty="0"/>
          </a:p>
        </p:txBody>
      </p:sp>
      <p:sp>
        <p:nvSpPr>
          <p:cNvPr id="15" name="Shape 13"/>
          <p:cNvSpPr/>
          <p:nvPr/>
        </p:nvSpPr>
        <p:spPr>
          <a:xfrm>
            <a:off x="4114800" y="2011680"/>
            <a:ext cx="7498080" cy="658368"/>
          </a:xfrm>
          <a:prstGeom prst="roundRect">
            <a:avLst>
              <a:gd name="adj" fmla="val 8333"/>
            </a:avLst>
          </a:prstGeom>
          <a:solidFill>
            <a:srgbClr val="16203F"/>
          </a:solidFill>
          <a:ln w="12700">
            <a:solidFill>
              <a:srgbClr val="2C3A63"/>
            </a:solidFill>
            <a:prstDash val="solid"/>
          </a:ln>
        </p:spPr>
      </p:sp>
      <p:sp>
        <p:nvSpPr>
          <p:cNvPr id="16" name="Shape 14"/>
          <p:cNvSpPr/>
          <p:nvPr/>
        </p:nvSpPr>
        <p:spPr>
          <a:xfrm>
            <a:off x="4279392" y="2130552"/>
            <a:ext cx="420624" cy="420624"/>
          </a:xfrm>
          <a:prstGeom prst="ellipse">
            <a:avLst/>
          </a:prstGeom>
          <a:solidFill>
            <a:srgbClr val="3FB984"/>
          </a:solidFill>
          <a:ln/>
          <a:effectLst>
            <a:outerShdw sx="100000" sy="100000" kx="0" ky="0" algn="bl" rotWithShape="0" blurRad="114300" dist="38100" dir="5400000">
              <a:srgbClr val="1A2440">
                <a:alpha val="16000"/>
              </a:srgbClr>
            </a:outerShdw>
          </a:effectLst>
        </p:spPr>
      </p:sp>
      <p:pic>
        <p:nvPicPr>
          <p:cNvPr id="17" name="Image 0" descr="/home/claude/build/icons/check_navy.png"/>
          <p:cNvPicPr>
            <a:picLocks noChangeAspect="1"/>
          </p:cNvPicPr>
          <p:nvPr/>
        </p:nvPicPr>
        <p:blipFill>
          <a:blip r:embed="rId1"/>
          <a:stretch>
            <a:fillRect/>
          </a:stretch>
        </p:blipFill>
        <p:spPr>
          <a:xfrm>
            <a:off x="4388754" y="2239914"/>
            <a:ext cx="201900" cy="201900"/>
          </a:xfrm>
          <a:prstGeom prst="rect">
            <a:avLst/>
          </a:prstGeom>
        </p:spPr>
      </p:pic>
      <p:sp>
        <p:nvSpPr>
          <p:cNvPr id="18" name="Text 15"/>
          <p:cNvSpPr/>
          <p:nvPr/>
        </p:nvSpPr>
        <p:spPr>
          <a:xfrm>
            <a:off x="4892040" y="2011680"/>
            <a:ext cx="4754880" cy="658368"/>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Authentication &amp; RBAC</a:t>
            </a:r>
            <a:endParaRPr lang="en-US" sz="1350" dirty="0"/>
          </a:p>
        </p:txBody>
      </p:sp>
      <p:sp>
        <p:nvSpPr>
          <p:cNvPr id="19" name="Text 16"/>
          <p:cNvSpPr/>
          <p:nvPr/>
        </p:nvSpPr>
        <p:spPr>
          <a:xfrm>
            <a:off x="9601200" y="2011680"/>
            <a:ext cx="1188720" cy="658368"/>
          </a:xfrm>
          <a:prstGeom prst="rect">
            <a:avLst/>
          </a:prstGeom>
          <a:noFill/>
          <a:ln/>
        </p:spPr>
        <p:txBody>
          <a:bodyPr wrap="square" lIns="0" tIns="0" rIns="0" bIns="0" rtlCol="0" anchor="ctr"/>
          <a:lstStyle/>
          <a:p>
            <a:pPr algn="r" indent="0" marL="0">
              <a:buNone/>
            </a:pPr>
            <a:r>
              <a:rPr lang="en-US" sz="1250" dirty="0">
                <a:solidFill>
                  <a:srgbClr val="CADCFC"/>
                </a:solidFill>
                <a:latin typeface="Arial" pitchFamily="34" charset="0"/>
                <a:ea typeface="Arial" pitchFamily="34" charset="-122"/>
                <a:cs typeface="Arial" pitchFamily="34" charset="-120"/>
              </a:rPr>
              <a:t>11 tests</a:t>
            </a:r>
            <a:endParaRPr lang="en-US" sz="1250" dirty="0"/>
          </a:p>
        </p:txBody>
      </p:sp>
      <p:sp>
        <p:nvSpPr>
          <p:cNvPr id="20" name="Text 17"/>
          <p:cNvSpPr/>
          <p:nvPr/>
        </p:nvSpPr>
        <p:spPr>
          <a:xfrm>
            <a:off x="10835640" y="2011680"/>
            <a:ext cx="685800" cy="658368"/>
          </a:xfrm>
          <a:prstGeom prst="rect">
            <a:avLst/>
          </a:prstGeom>
          <a:noFill/>
          <a:ln/>
        </p:spPr>
        <p:txBody>
          <a:bodyPr wrap="square" lIns="0" tIns="0" rIns="0" bIns="0" rtlCol="0" anchor="ctr"/>
          <a:lstStyle/>
          <a:p>
            <a:pPr algn="r" indent="0" marL="0">
              <a:buNone/>
            </a:pPr>
            <a:r>
              <a:rPr lang="en-US" sz="1250" b="1" dirty="0">
                <a:solidFill>
                  <a:srgbClr val="3FB984"/>
                </a:solidFill>
                <a:latin typeface="Bookman Old Style" pitchFamily="34" charset="0"/>
                <a:ea typeface="Bookman Old Style" pitchFamily="34" charset="-122"/>
                <a:cs typeface="Bookman Old Style" pitchFamily="34" charset="-120"/>
              </a:rPr>
              <a:t>PASS</a:t>
            </a:r>
            <a:endParaRPr lang="en-US" sz="1250" dirty="0"/>
          </a:p>
        </p:txBody>
      </p:sp>
      <p:sp>
        <p:nvSpPr>
          <p:cNvPr id="21" name="Shape 18"/>
          <p:cNvSpPr/>
          <p:nvPr/>
        </p:nvSpPr>
        <p:spPr>
          <a:xfrm>
            <a:off x="4114800" y="2779776"/>
            <a:ext cx="7498080" cy="658368"/>
          </a:xfrm>
          <a:prstGeom prst="roundRect">
            <a:avLst>
              <a:gd name="adj" fmla="val 8333"/>
            </a:avLst>
          </a:prstGeom>
          <a:solidFill>
            <a:srgbClr val="16203F"/>
          </a:solidFill>
          <a:ln w="12700">
            <a:solidFill>
              <a:srgbClr val="2C3A63"/>
            </a:solidFill>
            <a:prstDash val="solid"/>
          </a:ln>
        </p:spPr>
      </p:sp>
      <p:sp>
        <p:nvSpPr>
          <p:cNvPr id="22" name="Shape 19"/>
          <p:cNvSpPr/>
          <p:nvPr/>
        </p:nvSpPr>
        <p:spPr>
          <a:xfrm>
            <a:off x="4279392" y="2898648"/>
            <a:ext cx="420624" cy="420624"/>
          </a:xfrm>
          <a:prstGeom prst="ellipse">
            <a:avLst/>
          </a:prstGeom>
          <a:solidFill>
            <a:srgbClr val="3FB984"/>
          </a:solidFill>
          <a:ln/>
          <a:effectLst>
            <a:outerShdw sx="100000" sy="100000" kx="0" ky="0" algn="bl" rotWithShape="0" blurRad="114300" dist="38100" dir="5400000">
              <a:srgbClr val="1A2440">
                <a:alpha val="16000"/>
              </a:srgbClr>
            </a:outerShdw>
          </a:effectLst>
        </p:spPr>
      </p:sp>
      <p:pic>
        <p:nvPicPr>
          <p:cNvPr id="23" name="Image 1" descr="/home/claude/build/icons/check_navy.png"/>
          <p:cNvPicPr>
            <a:picLocks noChangeAspect="1"/>
          </p:cNvPicPr>
          <p:nvPr/>
        </p:nvPicPr>
        <p:blipFill>
          <a:blip r:embed="rId2"/>
          <a:stretch>
            <a:fillRect/>
          </a:stretch>
        </p:blipFill>
        <p:spPr>
          <a:xfrm>
            <a:off x="4388754" y="3008010"/>
            <a:ext cx="201900" cy="201900"/>
          </a:xfrm>
          <a:prstGeom prst="rect">
            <a:avLst/>
          </a:prstGeom>
        </p:spPr>
      </p:pic>
      <p:sp>
        <p:nvSpPr>
          <p:cNvPr id="24" name="Text 20"/>
          <p:cNvSpPr/>
          <p:nvPr/>
        </p:nvSpPr>
        <p:spPr>
          <a:xfrm>
            <a:off x="4892040" y="2779776"/>
            <a:ext cx="4754880" cy="658368"/>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Admin Dashboard Aggregations</a:t>
            </a:r>
            <a:endParaRPr lang="en-US" sz="1350" dirty="0"/>
          </a:p>
        </p:txBody>
      </p:sp>
      <p:sp>
        <p:nvSpPr>
          <p:cNvPr id="25" name="Text 21"/>
          <p:cNvSpPr/>
          <p:nvPr/>
        </p:nvSpPr>
        <p:spPr>
          <a:xfrm>
            <a:off x="9601200" y="2779776"/>
            <a:ext cx="1188720" cy="658368"/>
          </a:xfrm>
          <a:prstGeom prst="rect">
            <a:avLst/>
          </a:prstGeom>
          <a:noFill/>
          <a:ln/>
        </p:spPr>
        <p:txBody>
          <a:bodyPr wrap="square" lIns="0" tIns="0" rIns="0" bIns="0" rtlCol="0" anchor="ctr"/>
          <a:lstStyle/>
          <a:p>
            <a:pPr algn="r" indent="0" marL="0">
              <a:buNone/>
            </a:pPr>
            <a:r>
              <a:rPr lang="en-US" sz="1250" dirty="0">
                <a:solidFill>
                  <a:srgbClr val="CADCFC"/>
                </a:solidFill>
                <a:latin typeface="Arial" pitchFamily="34" charset="0"/>
                <a:ea typeface="Arial" pitchFamily="34" charset="-122"/>
                <a:cs typeface="Arial" pitchFamily="34" charset="-120"/>
              </a:rPr>
              <a:t>7 tests</a:t>
            </a:r>
            <a:endParaRPr lang="en-US" sz="1250" dirty="0"/>
          </a:p>
        </p:txBody>
      </p:sp>
      <p:sp>
        <p:nvSpPr>
          <p:cNvPr id="26" name="Text 22"/>
          <p:cNvSpPr/>
          <p:nvPr/>
        </p:nvSpPr>
        <p:spPr>
          <a:xfrm>
            <a:off x="10835640" y="2779776"/>
            <a:ext cx="685800" cy="658368"/>
          </a:xfrm>
          <a:prstGeom prst="rect">
            <a:avLst/>
          </a:prstGeom>
          <a:noFill/>
          <a:ln/>
        </p:spPr>
        <p:txBody>
          <a:bodyPr wrap="square" lIns="0" tIns="0" rIns="0" bIns="0" rtlCol="0" anchor="ctr"/>
          <a:lstStyle/>
          <a:p>
            <a:pPr algn="r" indent="0" marL="0">
              <a:buNone/>
            </a:pPr>
            <a:r>
              <a:rPr lang="en-US" sz="1250" b="1" dirty="0">
                <a:solidFill>
                  <a:srgbClr val="3FB984"/>
                </a:solidFill>
                <a:latin typeface="Bookman Old Style" pitchFamily="34" charset="0"/>
                <a:ea typeface="Bookman Old Style" pitchFamily="34" charset="-122"/>
                <a:cs typeface="Bookman Old Style" pitchFamily="34" charset="-120"/>
              </a:rPr>
              <a:t>PASS</a:t>
            </a:r>
            <a:endParaRPr lang="en-US" sz="1250" dirty="0"/>
          </a:p>
        </p:txBody>
      </p:sp>
      <p:sp>
        <p:nvSpPr>
          <p:cNvPr id="27" name="Shape 23"/>
          <p:cNvSpPr/>
          <p:nvPr/>
        </p:nvSpPr>
        <p:spPr>
          <a:xfrm>
            <a:off x="4114800" y="3547872"/>
            <a:ext cx="7498080" cy="658368"/>
          </a:xfrm>
          <a:prstGeom prst="roundRect">
            <a:avLst>
              <a:gd name="adj" fmla="val 8333"/>
            </a:avLst>
          </a:prstGeom>
          <a:solidFill>
            <a:srgbClr val="16203F"/>
          </a:solidFill>
          <a:ln w="12700">
            <a:solidFill>
              <a:srgbClr val="2C3A63"/>
            </a:solidFill>
            <a:prstDash val="solid"/>
          </a:ln>
        </p:spPr>
      </p:sp>
      <p:sp>
        <p:nvSpPr>
          <p:cNvPr id="28" name="Shape 24"/>
          <p:cNvSpPr/>
          <p:nvPr/>
        </p:nvSpPr>
        <p:spPr>
          <a:xfrm>
            <a:off x="4279392" y="3666744"/>
            <a:ext cx="420624" cy="420624"/>
          </a:xfrm>
          <a:prstGeom prst="ellipse">
            <a:avLst/>
          </a:prstGeom>
          <a:solidFill>
            <a:srgbClr val="3FB984"/>
          </a:solidFill>
          <a:ln/>
          <a:effectLst>
            <a:outerShdw sx="100000" sy="100000" kx="0" ky="0" algn="bl" rotWithShape="0" blurRad="114300" dist="38100" dir="5400000">
              <a:srgbClr val="1A2440">
                <a:alpha val="16000"/>
              </a:srgbClr>
            </a:outerShdw>
          </a:effectLst>
        </p:spPr>
      </p:sp>
      <p:pic>
        <p:nvPicPr>
          <p:cNvPr id="29" name="Image 2" descr="/home/claude/build/icons/check_navy.png"/>
          <p:cNvPicPr>
            <a:picLocks noChangeAspect="1"/>
          </p:cNvPicPr>
          <p:nvPr/>
        </p:nvPicPr>
        <p:blipFill>
          <a:blip r:embed="rId3"/>
          <a:stretch>
            <a:fillRect/>
          </a:stretch>
        </p:blipFill>
        <p:spPr>
          <a:xfrm>
            <a:off x="4388754" y="3776106"/>
            <a:ext cx="201900" cy="201900"/>
          </a:xfrm>
          <a:prstGeom prst="rect">
            <a:avLst/>
          </a:prstGeom>
        </p:spPr>
      </p:pic>
      <p:sp>
        <p:nvSpPr>
          <p:cNvPr id="30" name="Text 25"/>
          <p:cNvSpPr/>
          <p:nvPr/>
        </p:nvSpPr>
        <p:spPr>
          <a:xfrm>
            <a:off x="4892040" y="3547872"/>
            <a:ext cx="4754880" cy="658368"/>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Insights / Analytics Logic</a:t>
            </a:r>
            <a:endParaRPr lang="en-US" sz="1350" dirty="0"/>
          </a:p>
        </p:txBody>
      </p:sp>
      <p:sp>
        <p:nvSpPr>
          <p:cNvPr id="31" name="Text 26"/>
          <p:cNvSpPr/>
          <p:nvPr/>
        </p:nvSpPr>
        <p:spPr>
          <a:xfrm>
            <a:off x="9601200" y="3547872"/>
            <a:ext cx="1188720" cy="658368"/>
          </a:xfrm>
          <a:prstGeom prst="rect">
            <a:avLst/>
          </a:prstGeom>
          <a:noFill/>
          <a:ln/>
        </p:spPr>
        <p:txBody>
          <a:bodyPr wrap="square" lIns="0" tIns="0" rIns="0" bIns="0" rtlCol="0" anchor="ctr"/>
          <a:lstStyle/>
          <a:p>
            <a:pPr algn="r" indent="0" marL="0">
              <a:buNone/>
            </a:pPr>
            <a:r>
              <a:rPr lang="en-US" sz="1250" dirty="0">
                <a:solidFill>
                  <a:srgbClr val="CADCFC"/>
                </a:solidFill>
                <a:latin typeface="Arial" pitchFamily="34" charset="0"/>
                <a:ea typeface="Arial" pitchFamily="34" charset="-122"/>
                <a:cs typeface="Arial" pitchFamily="34" charset="-120"/>
              </a:rPr>
              <a:t>4 tests</a:t>
            </a:r>
            <a:endParaRPr lang="en-US" sz="1250" dirty="0"/>
          </a:p>
        </p:txBody>
      </p:sp>
      <p:sp>
        <p:nvSpPr>
          <p:cNvPr id="32" name="Text 27"/>
          <p:cNvSpPr/>
          <p:nvPr/>
        </p:nvSpPr>
        <p:spPr>
          <a:xfrm>
            <a:off x="10835640" y="3547872"/>
            <a:ext cx="685800" cy="658368"/>
          </a:xfrm>
          <a:prstGeom prst="rect">
            <a:avLst/>
          </a:prstGeom>
          <a:noFill/>
          <a:ln/>
        </p:spPr>
        <p:txBody>
          <a:bodyPr wrap="square" lIns="0" tIns="0" rIns="0" bIns="0" rtlCol="0" anchor="ctr"/>
          <a:lstStyle/>
          <a:p>
            <a:pPr algn="r" indent="0" marL="0">
              <a:buNone/>
            </a:pPr>
            <a:r>
              <a:rPr lang="en-US" sz="1250" b="1" dirty="0">
                <a:solidFill>
                  <a:srgbClr val="3FB984"/>
                </a:solidFill>
                <a:latin typeface="Bookman Old Style" pitchFamily="34" charset="0"/>
                <a:ea typeface="Bookman Old Style" pitchFamily="34" charset="-122"/>
                <a:cs typeface="Bookman Old Style" pitchFamily="34" charset="-120"/>
              </a:rPr>
              <a:t>PASS</a:t>
            </a:r>
            <a:endParaRPr lang="en-US" sz="1250" dirty="0"/>
          </a:p>
        </p:txBody>
      </p:sp>
      <p:sp>
        <p:nvSpPr>
          <p:cNvPr id="33" name="Shape 28"/>
          <p:cNvSpPr/>
          <p:nvPr/>
        </p:nvSpPr>
        <p:spPr>
          <a:xfrm>
            <a:off x="4114800" y="4315968"/>
            <a:ext cx="7498080" cy="658368"/>
          </a:xfrm>
          <a:prstGeom prst="roundRect">
            <a:avLst>
              <a:gd name="adj" fmla="val 8333"/>
            </a:avLst>
          </a:prstGeom>
          <a:solidFill>
            <a:srgbClr val="16203F"/>
          </a:solidFill>
          <a:ln w="12700">
            <a:solidFill>
              <a:srgbClr val="2C3A63"/>
            </a:solidFill>
            <a:prstDash val="solid"/>
          </a:ln>
        </p:spPr>
      </p:sp>
      <p:sp>
        <p:nvSpPr>
          <p:cNvPr id="34" name="Shape 29"/>
          <p:cNvSpPr/>
          <p:nvPr/>
        </p:nvSpPr>
        <p:spPr>
          <a:xfrm>
            <a:off x="4279392" y="4434840"/>
            <a:ext cx="420624" cy="420624"/>
          </a:xfrm>
          <a:prstGeom prst="ellipse">
            <a:avLst/>
          </a:prstGeom>
          <a:solidFill>
            <a:srgbClr val="3FB984"/>
          </a:solidFill>
          <a:ln/>
          <a:effectLst>
            <a:outerShdw sx="100000" sy="100000" kx="0" ky="0" algn="bl" rotWithShape="0" blurRad="114300" dist="38100" dir="5400000">
              <a:srgbClr val="1A2440">
                <a:alpha val="16000"/>
              </a:srgbClr>
            </a:outerShdw>
          </a:effectLst>
        </p:spPr>
      </p:sp>
      <p:pic>
        <p:nvPicPr>
          <p:cNvPr id="35" name="Image 3" descr="/home/claude/build/icons/check_navy.png"/>
          <p:cNvPicPr>
            <a:picLocks noChangeAspect="1"/>
          </p:cNvPicPr>
          <p:nvPr/>
        </p:nvPicPr>
        <p:blipFill>
          <a:blip r:embed="rId4"/>
          <a:stretch>
            <a:fillRect/>
          </a:stretch>
        </p:blipFill>
        <p:spPr>
          <a:xfrm>
            <a:off x="4388754" y="4544202"/>
            <a:ext cx="201900" cy="201900"/>
          </a:xfrm>
          <a:prstGeom prst="rect">
            <a:avLst/>
          </a:prstGeom>
        </p:spPr>
      </p:pic>
      <p:sp>
        <p:nvSpPr>
          <p:cNvPr id="36" name="Text 30"/>
          <p:cNvSpPr/>
          <p:nvPr/>
        </p:nvSpPr>
        <p:spPr>
          <a:xfrm>
            <a:off x="4892040" y="4315968"/>
            <a:ext cx="4754880" cy="658368"/>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Application Context Bootstrap</a:t>
            </a:r>
            <a:endParaRPr lang="en-US" sz="1350" dirty="0"/>
          </a:p>
        </p:txBody>
      </p:sp>
      <p:sp>
        <p:nvSpPr>
          <p:cNvPr id="37" name="Text 31"/>
          <p:cNvSpPr/>
          <p:nvPr/>
        </p:nvSpPr>
        <p:spPr>
          <a:xfrm>
            <a:off x="9601200" y="4315968"/>
            <a:ext cx="1188720" cy="658368"/>
          </a:xfrm>
          <a:prstGeom prst="rect">
            <a:avLst/>
          </a:prstGeom>
          <a:noFill/>
          <a:ln/>
        </p:spPr>
        <p:txBody>
          <a:bodyPr wrap="square" lIns="0" tIns="0" rIns="0" bIns="0" rtlCol="0" anchor="ctr"/>
          <a:lstStyle/>
          <a:p>
            <a:pPr algn="r" indent="0" marL="0">
              <a:buNone/>
            </a:pPr>
            <a:r>
              <a:rPr lang="en-US" sz="1250" dirty="0">
                <a:solidFill>
                  <a:srgbClr val="CADCFC"/>
                </a:solidFill>
                <a:latin typeface="Arial" pitchFamily="34" charset="0"/>
                <a:ea typeface="Arial" pitchFamily="34" charset="-122"/>
                <a:cs typeface="Arial" pitchFamily="34" charset="-120"/>
              </a:rPr>
              <a:t>1 test</a:t>
            </a:r>
            <a:endParaRPr lang="en-US" sz="1250" dirty="0"/>
          </a:p>
        </p:txBody>
      </p:sp>
      <p:sp>
        <p:nvSpPr>
          <p:cNvPr id="38" name="Text 32"/>
          <p:cNvSpPr/>
          <p:nvPr/>
        </p:nvSpPr>
        <p:spPr>
          <a:xfrm>
            <a:off x="10835640" y="4315968"/>
            <a:ext cx="685800" cy="658368"/>
          </a:xfrm>
          <a:prstGeom prst="rect">
            <a:avLst/>
          </a:prstGeom>
          <a:noFill/>
          <a:ln/>
        </p:spPr>
        <p:txBody>
          <a:bodyPr wrap="square" lIns="0" tIns="0" rIns="0" bIns="0" rtlCol="0" anchor="ctr"/>
          <a:lstStyle/>
          <a:p>
            <a:pPr algn="r" indent="0" marL="0">
              <a:buNone/>
            </a:pPr>
            <a:r>
              <a:rPr lang="en-US" sz="1250" b="1" dirty="0">
                <a:solidFill>
                  <a:srgbClr val="3FB984"/>
                </a:solidFill>
                <a:latin typeface="Bookman Old Style" pitchFamily="34" charset="0"/>
                <a:ea typeface="Bookman Old Style" pitchFamily="34" charset="-122"/>
                <a:cs typeface="Bookman Old Style" pitchFamily="34" charset="-120"/>
              </a:rPr>
              <a:t>PASS</a:t>
            </a:r>
            <a:endParaRPr lang="en-US" sz="1250" dirty="0"/>
          </a:p>
        </p:txBody>
      </p:sp>
      <p:sp>
        <p:nvSpPr>
          <p:cNvPr id="39" name="Text 33"/>
          <p:cNvSpPr/>
          <p:nvPr/>
        </p:nvSpPr>
        <p:spPr>
          <a:xfrm>
            <a:off x="4114800" y="5129784"/>
            <a:ext cx="7498080" cy="822960"/>
          </a:xfrm>
          <a:prstGeom prst="rect">
            <a:avLst/>
          </a:prstGeom>
          <a:noFill/>
          <a:ln/>
        </p:spPr>
        <p:txBody>
          <a:bodyPr wrap="square" lIns="0" tIns="0" rIns="0" bIns="0" rtlCol="0" anchor="ctr"/>
          <a:lstStyle/>
          <a:p>
            <a:pPr indent="0" marL="0">
              <a:buNone/>
            </a:pPr>
            <a:r>
              <a:rPr lang="en-US" sz="1200" i="1" dirty="0">
                <a:solidFill>
                  <a:srgbClr val="CADCFC"/>
                </a:solidFill>
                <a:latin typeface="Arial" pitchFamily="34" charset="0"/>
                <a:ea typeface="Arial" pitchFamily="34" charset="-122"/>
                <a:cs typeface="Arial" pitchFamily="34" charset="-120"/>
              </a:rPr>
              <a:t>E2E journeys validated against the running stack: register → approve → transfer → loan apply → admin decision → schedule → analytics. Authorization verified (customer → /admin = 403).</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822960" cy="502920"/>
          </a:xfrm>
          <a:prstGeom prst="rect">
            <a:avLst/>
          </a:prstGeom>
          <a:noFill/>
          <a:ln/>
        </p:spPr>
        <p:txBody>
          <a:bodyPr wrap="square" lIns="0" tIns="0" rIns="0" bIns="0" rtlCol="0" anchor="ctr"/>
          <a:lstStyle/>
          <a:p>
            <a:pPr indent="0" marL="0">
              <a:buNone/>
            </a:pPr>
            <a:r>
              <a:rPr lang="en-US" sz="2600" b="1" dirty="0">
                <a:solidFill>
                  <a:srgbClr val="CADCFC"/>
                </a:solidFill>
                <a:latin typeface="Bookman Old Style" pitchFamily="34" charset="0"/>
                <a:ea typeface="Bookman Old Style" pitchFamily="34" charset="-122"/>
                <a:cs typeface="Bookman Old Style" pitchFamily="34" charset="-120"/>
              </a:rPr>
              <a:t>15</a:t>
            </a:r>
            <a:endParaRPr lang="en-US" sz="2600" dirty="0"/>
          </a:p>
        </p:txBody>
      </p:sp>
      <p:sp>
        <p:nvSpPr>
          <p:cNvPr id="3" name="Shape 1"/>
          <p:cNvSpPr/>
          <p:nvPr/>
        </p:nvSpPr>
        <p:spPr>
          <a:xfrm>
            <a:off x="1078992" y="457200"/>
            <a:ext cx="25603" cy="384048"/>
          </a:xfrm>
          <a:prstGeom prst="rect">
            <a:avLst/>
          </a:prstGeom>
          <a:solidFill>
            <a:srgbClr val="2C8DD6"/>
          </a:solidFill>
          <a:ln/>
        </p:spPr>
      </p:sp>
      <p:sp>
        <p:nvSpPr>
          <p:cNvPr id="4" name="Text 2"/>
          <p:cNvSpPr/>
          <p:nvPr/>
        </p:nvSpPr>
        <p:spPr>
          <a:xfrm>
            <a:off x="1225296" y="365760"/>
            <a:ext cx="9601200" cy="274320"/>
          </a:xfrm>
          <a:prstGeom prst="rect">
            <a:avLst/>
          </a:prstGeom>
          <a:noFill/>
          <a:ln/>
        </p:spPr>
        <p:txBody>
          <a:bodyPr wrap="square" lIns="0" tIns="0" rIns="0" bIns="0" rtlCol="0" anchor="ctr"/>
          <a:lstStyle/>
          <a:p>
            <a:pPr indent="0" marL="0">
              <a:buNone/>
            </a:pPr>
            <a:r>
              <a:rPr lang="en-US" sz="1150" b="1" spc="300" kern="0" dirty="0">
                <a:solidFill>
                  <a:srgbClr val="2C8DD6"/>
                </a:solidFill>
                <a:latin typeface="Arial" pitchFamily="34" charset="0"/>
                <a:ea typeface="Arial" pitchFamily="34" charset="-122"/>
                <a:cs typeface="Arial" pitchFamily="34" charset="-120"/>
              </a:rPr>
              <a:t>DEPLOYMENT &amp; INFRASTRUCTURE</a:t>
            </a:r>
            <a:endParaRPr lang="en-US" sz="1150" dirty="0"/>
          </a:p>
        </p:txBody>
      </p:sp>
      <p:sp>
        <p:nvSpPr>
          <p:cNvPr id="5" name="Text 3"/>
          <p:cNvSpPr/>
          <p:nvPr/>
        </p:nvSpPr>
        <p:spPr>
          <a:xfrm>
            <a:off x="1207008" y="603504"/>
            <a:ext cx="10424160" cy="566928"/>
          </a:xfrm>
          <a:prstGeom prst="rect">
            <a:avLst/>
          </a:prstGeom>
          <a:noFill/>
          <a:ln/>
        </p:spPr>
        <p:txBody>
          <a:bodyPr wrap="square" lIns="0" tIns="0" rIns="0" bIns="0" rtlCol="0" anchor="ctr"/>
          <a:lstStyle/>
          <a:p>
            <a:pPr indent="0" marL="0">
              <a:buNone/>
            </a:pPr>
            <a:r>
              <a:rPr lang="en-US" sz="2700" b="1" dirty="0">
                <a:solidFill>
                  <a:srgbClr val="1B2335"/>
                </a:solidFill>
                <a:latin typeface="Bookman Old Style" pitchFamily="34" charset="0"/>
                <a:ea typeface="Bookman Old Style" pitchFamily="34" charset="-122"/>
                <a:cs typeface="Bookman Old Style" pitchFamily="34" charset="-120"/>
              </a:rPr>
              <a:t>Containerised, Profile-Driven Delivery</a:t>
            </a:r>
            <a:endParaRPr lang="en-US" sz="2700" dirty="0"/>
          </a:p>
        </p:txBody>
      </p:sp>
      <p:sp>
        <p:nvSpPr>
          <p:cNvPr id="6" name="Shape 4"/>
          <p:cNvSpPr/>
          <p:nvPr/>
        </p:nvSpPr>
        <p:spPr>
          <a:xfrm>
            <a:off x="640080" y="1627632"/>
            <a:ext cx="3456432" cy="1463040"/>
          </a:xfrm>
          <a:prstGeom prst="roundRect">
            <a:avLst>
              <a:gd name="adj" fmla="val 5625"/>
            </a:avLst>
          </a:prstGeom>
          <a:solidFill>
            <a:srgbClr val="F4F7FC"/>
          </a:solidFill>
          <a:ln/>
          <a:effectLst>
            <a:outerShdw sx="100000" sy="100000" kx="0" ky="0" algn="bl" rotWithShape="0" blurRad="114300" dist="38100" dir="5400000">
              <a:srgbClr val="1A2440">
                <a:alpha val="16000"/>
              </a:srgbClr>
            </a:outerShdw>
          </a:effectLst>
        </p:spPr>
      </p:sp>
      <p:sp>
        <p:nvSpPr>
          <p:cNvPr id="7" name="Shape 5"/>
          <p:cNvSpPr/>
          <p:nvPr/>
        </p:nvSpPr>
        <p:spPr>
          <a:xfrm>
            <a:off x="859536" y="1883664"/>
            <a:ext cx="640080" cy="640080"/>
          </a:xfrm>
          <a:prstGeom prst="ellipse">
            <a:avLst/>
          </a:prstGeom>
          <a:solidFill>
            <a:srgbClr val="E8654F"/>
          </a:solidFill>
          <a:ln/>
          <a:effectLst>
            <a:outerShdw sx="100000" sy="100000" kx="0" ky="0" algn="bl" rotWithShape="0" blurRad="114300" dist="38100" dir="5400000">
              <a:srgbClr val="1A2440">
                <a:alpha val="16000"/>
              </a:srgbClr>
            </a:outerShdw>
          </a:effectLst>
        </p:spPr>
      </p:sp>
      <p:pic>
        <p:nvPicPr>
          <p:cNvPr id="8" name="Image 0" descr="/home/claude/build/icons/code_white.png"/>
          <p:cNvPicPr>
            <a:picLocks noChangeAspect="1"/>
          </p:cNvPicPr>
          <p:nvPr/>
        </p:nvPicPr>
        <p:blipFill>
          <a:blip r:embed="rId1"/>
          <a:stretch>
            <a:fillRect/>
          </a:stretch>
        </p:blipFill>
        <p:spPr>
          <a:xfrm>
            <a:off x="1025957" y="2050085"/>
            <a:ext cx="307238" cy="307238"/>
          </a:xfrm>
          <a:prstGeom prst="rect">
            <a:avLst/>
          </a:prstGeom>
        </p:spPr>
      </p:pic>
      <p:sp>
        <p:nvSpPr>
          <p:cNvPr id="9" name="Text 6"/>
          <p:cNvSpPr/>
          <p:nvPr/>
        </p:nvSpPr>
        <p:spPr>
          <a:xfrm>
            <a:off x="1627632" y="1901952"/>
            <a:ext cx="2313432" cy="457200"/>
          </a:xfrm>
          <a:prstGeom prst="rect">
            <a:avLst/>
          </a:prstGeom>
          <a:noFill/>
          <a:ln/>
        </p:spPr>
        <p:txBody>
          <a:bodyPr wrap="square" lIns="0" tIns="0" rIns="0" bIns="0" rtlCol="0" anchor="ctr"/>
          <a:lstStyle/>
          <a:p>
            <a:pPr indent="0" marL="0">
              <a:buNone/>
            </a:pPr>
            <a:r>
              <a:rPr lang="en-US" sz="1500" b="1" dirty="0">
                <a:solidFill>
                  <a:srgbClr val="1B2335"/>
                </a:solidFill>
                <a:latin typeface="Bookman Old Style" pitchFamily="34" charset="0"/>
                <a:ea typeface="Bookman Old Style" pitchFamily="34" charset="-122"/>
                <a:cs typeface="Bookman Old Style" pitchFamily="34" charset="-120"/>
              </a:rPr>
              <a:t>Source + Maven</a:t>
            </a:r>
            <a:endParaRPr lang="en-US" sz="1500" dirty="0"/>
          </a:p>
        </p:txBody>
      </p:sp>
      <p:sp>
        <p:nvSpPr>
          <p:cNvPr id="10" name="Text 7"/>
          <p:cNvSpPr/>
          <p:nvPr/>
        </p:nvSpPr>
        <p:spPr>
          <a:xfrm>
            <a:off x="877824" y="2468880"/>
            <a:ext cx="3044952" cy="548640"/>
          </a:xfrm>
          <a:prstGeom prst="rect">
            <a:avLst/>
          </a:prstGeom>
          <a:noFill/>
          <a:ln/>
        </p:spPr>
        <p:txBody>
          <a:bodyPr wrap="square" lIns="0" tIns="0" rIns="0" bIns="0" rtlCol="0" anchor="ctr"/>
          <a:lstStyle/>
          <a:p>
            <a:pPr indent="0" marL="0">
              <a:buNone/>
            </a:pPr>
            <a:r>
              <a:rPr lang="en-US" sz="1130" dirty="0">
                <a:solidFill>
                  <a:srgbClr val="5A6B8C"/>
                </a:solidFill>
                <a:latin typeface="Arial" pitchFamily="34" charset="0"/>
                <a:ea typeface="Arial" pitchFamily="34" charset="-122"/>
                <a:cs typeface="Arial" pitchFamily="34" charset="-120"/>
              </a:rPr>
              <a:t>Build stage compiles to a JAR with the full JDK</a:t>
            </a:r>
            <a:endParaRPr lang="en-US" sz="1130" dirty="0"/>
          </a:p>
        </p:txBody>
      </p:sp>
      <p:sp>
        <p:nvSpPr>
          <p:cNvPr id="11" name="Text 8"/>
          <p:cNvSpPr/>
          <p:nvPr/>
        </p:nvSpPr>
        <p:spPr>
          <a:xfrm>
            <a:off x="4078224" y="1993392"/>
            <a:ext cx="384048" cy="731520"/>
          </a:xfrm>
          <a:prstGeom prst="rect">
            <a:avLst/>
          </a:prstGeom>
          <a:noFill/>
          <a:ln/>
        </p:spPr>
        <p:txBody>
          <a:bodyPr wrap="square" lIns="0" tIns="0" rIns="0" bIns="0" rtlCol="0" anchor="ctr"/>
          <a:lstStyle/>
          <a:p>
            <a:pPr algn="ctr" indent="0" marL="0">
              <a:buNone/>
            </a:pPr>
            <a:r>
              <a:rPr lang="en-US" sz="3200" b="1" dirty="0">
                <a:solidFill>
                  <a:srgbClr val="2C8DD6"/>
                </a:solidFill>
                <a:latin typeface="Arial" pitchFamily="34" charset="0"/>
                <a:ea typeface="Arial" pitchFamily="34" charset="-122"/>
                <a:cs typeface="Arial" pitchFamily="34" charset="-120"/>
              </a:rPr>
              <a:t>›</a:t>
            </a:r>
            <a:endParaRPr lang="en-US" sz="3200" dirty="0"/>
          </a:p>
        </p:txBody>
      </p:sp>
      <p:sp>
        <p:nvSpPr>
          <p:cNvPr id="12" name="Shape 9"/>
          <p:cNvSpPr/>
          <p:nvPr/>
        </p:nvSpPr>
        <p:spPr>
          <a:xfrm>
            <a:off x="4462272" y="1627632"/>
            <a:ext cx="3456432" cy="1463040"/>
          </a:xfrm>
          <a:prstGeom prst="roundRect">
            <a:avLst>
              <a:gd name="adj" fmla="val 5625"/>
            </a:avLst>
          </a:prstGeom>
          <a:solidFill>
            <a:srgbClr val="F4F7FC"/>
          </a:solidFill>
          <a:ln/>
          <a:effectLst>
            <a:outerShdw sx="100000" sy="100000" kx="0" ky="0" algn="bl" rotWithShape="0" blurRad="114300" dist="38100" dir="5400000">
              <a:srgbClr val="1A2440">
                <a:alpha val="16000"/>
              </a:srgbClr>
            </a:outerShdw>
          </a:effectLst>
        </p:spPr>
      </p:sp>
      <p:sp>
        <p:nvSpPr>
          <p:cNvPr id="13" name="Shape 10"/>
          <p:cNvSpPr/>
          <p:nvPr/>
        </p:nvSpPr>
        <p:spPr>
          <a:xfrm>
            <a:off x="4681728" y="1883664"/>
            <a:ext cx="640080" cy="640080"/>
          </a:xfrm>
          <a:prstGeom prst="ellipse">
            <a:avLst/>
          </a:prstGeom>
          <a:solidFill>
            <a:srgbClr val="2C8DD6"/>
          </a:solidFill>
          <a:ln/>
          <a:effectLst>
            <a:outerShdw sx="100000" sy="100000" kx="0" ky="0" algn="bl" rotWithShape="0" blurRad="114300" dist="38100" dir="5400000">
              <a:srgbClr val="1A2440">
                <a:alpha val="16000"/>
              </a:srgbClr>
            </a:outerShdw>
          </a:effectLst>
        </p:spPr>
      </p:sp>
      <p:pic>
        <p:nvPicPr>
          <p:cNvPr id="14" name="Image 1" descr="/home/claude/build/icons/docker_white.png"/>
          <p:cNvPicPr>
            <a:picLocks noChangeAspect="1"/>
          </p:cNvPicPr>
          <p:nvPr/>
        </p:nvPicPr>
        <p:blipFill>
          <a:blip r:embed="rId2"/>
          <a:stretch>
            <a:fillRect/>
          </a:stretch>
        </p:blipFill>
        <p:spPr>
          <a:xfrm>
            <a:off x="4848149" y="2050085"/>
            <a:ext cx="307238" cy="307238"/>
          </a:xfrm>
          <a:prstGeom prst="rect">
            <a:avLst/>
          </a:prstGeom>
        </p:spPr>
      </p:pic>
      <p:sp>
        <p:nvSpPr>
          <p:cNvPr id="15" name="Text 11"/>
          <p:cNvSpPr/>
          <p:nvPr/>
        </p:nvSpPr>
        <p:spPr>
          <a:xfrm>
            <a:off x="5449824" y="1901952"/>
            <a:ext cx="2313432" cy="457200"/>
          </a:xfrm>
          <a:prstGeom prst="rect">
            <a:avLst/>
          </a:prstGeom>
          <a:noFill/>
          <a:ln/>
        </p:spPr>
        <p:txBody>
          <a:bodyPr wrap="square" lIns="0" tIns="0" rIns="0" bIns="0" rtlCol="0" anchor="ctr"/>
          <a:lstStyle/>
          <a:p>
            <a:pPr indent="0" marL="0">
              <a:buNone/>
            </a:pPr>
            <a:r>
              <a:rPr lang="en-US" sz="1500" b="1" dirty="0">
                <a:solidFill>
                  <a:srgbClr val="1B2335"/>
                </a:solidFill>
                <a:latin typeface="Bookman Old Style" pitchFamily="34" charset="0"/>
                <a:ea typeface="Bookman Old Style" pitchFamily="34" charset="-122"/>
                <a:cs typeface="Bookman Old Style" pitchFamily="34" charset="-120"/>
              </a:rPr>
              <a:t>Slim Runtime Image</a:t>
            </a:r>
            <a:endParaRPr lang="en-US" sz="1500" dirty="0"/>
          </a:p>
        </p:txBody>
      </p:sp>
      <p:sp>
        <p:nvSpPr>
          <p:cNvPr id="16" name="Text 12"/>
          <p:cNvSpPr/>
          <p:nvPr/>
        </p:nvSpPr>
        <p:spPr>
          <a:xfrm>
            <a:off x="4700016" y="2468880"/>
            <a:ext cx="3044952" cy="548640"/>
          </a:xfrm>
          <a:prstGeom prst="rect">
            <a:avLst/>
          </a:prstGeom>
          <a:noFill/>
          <a:ln/>
        </p:spPr>
        <p:txBody>
          <a:bodyPr wrap="square" lIns="0" tIns="0" rIns="0" bIns="0" rtlCol="0" anchor="ctr"/>
          <a:lstStyle/>
          <a:p>
            <a:pPr indent="0" marL="0">
              <a:buNone/>
            </a:pPr>
            <a:r>
              <a:rPr lang="en-US" sz="1130" dirty="0">
                <a:solidFill>
                  <a:srgbClr val="5A6B8C"/>
                </a:solidFill>
                <a:latin typeface="Arial" pitchFamily="34" charset="0"/>
                <a:ea typeface="Arial" pitchFamily="34" charset="-122"/>
                <a:cs typeface="Arial" pitchFamily="34" charset="-120"/>
              </a:rPr>
              <a:t>Only the JAR copied into a lightweight JRE</a:t>
            </a:r>
            <a:endParaRPr lang="en-US" sz="1130" dirty="0"/>
          </a:p>
        </p:txBody>
      </p:sp>
      <p:sp>
        <p:nvSpPr>
          <p:cNvPr id="17" name="Text 13"/>
          <p:cNvSpPr/>
          <p:nvPr/>
        </p:nvSpPr>
        <p:spPr>
          <a:xfrm>
            <a:off x="7900416" y="1993392"/>
            <a:ext cx="384048" cy="731520"/>
          </a:xfrm>
          <a:prstGeom prst="rect">
            <a:avLst/>
          </a:prstGeom>
          <a:noFill/>
          <a:ln/>
        </p:spPr>
        <p:txBody>
          <a:bodyPr wrap="square" lIns="0" tIns="0" rIns="0" bIns="0" rtlCol="0" anchor="ctr"/>
          <a:lstStyle/>
          <a:p>
            <a:pPr algn="ctr" indent="0" marL="0">
              <a:buNone/>
            </a:pPr>
            <a:r>
              <a:rPr lang="en-US" sz="3200" b="1" dirty="0">
                <a:solidFill>
                  <a:srgbClr val="2C8DD6"/>
                </a:solidFill>
                <a:latin typeface="Arial" pitchFamily="34" charset="0"/>
                <a:ea typeface="Arial" pitchFamily="34" charset="-122"/>
                <a:cs typeface="Arial" pitchFamily="34" charset="-120"/>
              </a:rPr>
              <a:t>›</a:t>
            </a:r>
            <a:endParaRPr lang="en-US" sz="3200" dirty="0"/>
          </a:p>
        </p:txBody>
      </p:sp>
      <p:sp>
        <p:nvSpPr>
          <p:cNvPr id="18" name="Shape 14"/>
          <p:cNvSpPr/>
          <p:nvPr/>
        </p:nvSpPr>
        <p:spPr>
          <a:xfrm>
            <a:off x="8284464" y="1627632"/>
            <a:ext cx="3456432" cy="1463040"/>
          </a:xfrm>
          <a:prstGeom prst="roundRect">
            <a:avLst>
              <a:gd name="adj" fmla="val 5625"/>
            </a:avLst>
          </a:prstGeom>
          <a:solidFill>
            <a:srgbClr val="F4F7FC"/>
          </a:solidFill>
          <a:ln/>
          <a:effectLst>
            <a:outerShdw sx="100000" sy="100000" kx="0" ky="0" algn="bl" rotWithShape="0" blurRad="114300" dist="38100" dir="5400000">
              <a:srgbClr val="1A2440">
                <a:alpha val="16000"/>
              </a:srgbClr>
            </a:outerShdw>
          </a:effectLst>
        </p:spPr>
      </p:sp>
      <p:sp>
        <p:nvSpPr>
          <p:cNvPr id="19" name="Shape 15"/>
          <p:cNvSpPr/>
          <p:nvPr/>
        </p:nvSpPr>
        <p:spPr>
          <a:xfrm>
            <a:off x="8503920" y="1883664"/>
            <a:ext cx="640080" cy="640080"/>
          </a:xfrm>
          <a:prstGeom prst="ellipse">
            <a:avLst/>
          </a:prstGeom>
          <a:solidFill>
            <a:srgbClr val="3FB984"/>
          </a:solidFill>
          <a:ln/>
          <a:effectLst>
            <a:outerShdw sx="100000" sy="100000" kx="0" ky="0" algn="bl" rotWithShape="0" blurRad="114300" dist="38100" dir="5400000">
              <a:srgbClr val="1A2440">
                <a:alpha val="16000"/>
              </a:srgbClr>
            </a:outerShdw>
          </a:effectLst>
        </p:spPr>
      </p:sp>
      <p:pic>
        <p:nvPicPr>
          <p:cNvPr id="20" name="Image 2" descr="/home/claude/build/icons/rocket_white.png"/>
          <p:cNvPicPr>
            <a:picLocks noChangeAspect="1"/>
          </p:cNvPicPr>
          <p:nvPr/>
        </p:nvPicPr>
        <p:blipFill>
          <a:blip r:embed="rId3"/>
          <a:stretch>
            <a:fillRect/>
          </a:stretch>
        </p:blipFill>
        <p:spPr>
          <a:xfrm>
            <a:off x="8670341" y="2050085"/>
            <a:ext cx="307238" cy="307238"/>
          </a:xfrm>
          <a:prstGeom prst="rect">
            <a:avLst/>
          </a:prstGeom>
        </p:spPr>
      </p:pic>
      <p:sp>
        <p:nvSpPr>
          <p:cNvPr id="21" name="Text 16"/>
          <p:cNvSpPr/>
          <p:nvPr/>
        </p:nvSpPr>
        <p:spPr>
          <a:xfrm>
            <a:off x="9272016" y="1901952"/>
            <a:ext cx="2313432" cy="457200"/>
          </a:xfrm>
          <a:prstGeom prst="rect">
            <a:avLst/>
          </a:prstGeom>
          <a:noFill/>
          <a:ln/>
        </p:spPr>
        <p:txBody>
          <a:bodyPr wrap="square" lIns="0" tIns="0" rIns="0" bIns="0" rtlCol="0" anchor="ctr"/>
          <a:lstStyle/>
          <a:p>
            <a:pPr indent="0" marL="0">
              <a:buNone/>
            </a:pPr>
            <a:r>
              <a:rPr lang="en-US" sz="1500" b="1" dirty="0">
                <a:solidFill>
                  <a:srgbClr val="1B2335"/>
                </a:solidFill>
                <a:latin typeface="Bookman Old Style" pitchFamily="34" charset="0"/>
                <a:ea typeface="Bookman Old Style" pitchFamily="34" charset="-122"/>
                <a:cs typeface="Bookman Old Style" pitchFamily="34" charset="-120"/>
              </a:rPr>
              <a:t>Run Anywhere</a:t>
            </a:r>
            <a:endParaRPr lang="en-US" sz="1500" dirty="0"/>
          </a:p>
        </p:txBody>
      </p:sp>
      <p:sp>
        <p:nvSpPr>
          <p:cNvPr id="22" name="Text 17"/>
          <p:cNvSpPr/>
          <p:nvPr/>
        </p:nvSpPr>
        <p:spPr>
          <a:xfrm>
            <a:off x="8522208" y="2468880"/>
            <a:ext cx="3044952" cy="548640"/>
          </a:xfrm>
          <a:prstGeom prst="rect">
            <a:avLst/>
          </a:prstGeom>
          <a:noFill/>
          <a:ln/>
        </p:spPr>
        <p:txBody>
          <a:bodyPr wrap="square" lIns="0" tIns="0" rIns="0" bIns="0" rtlCol="0" anchor="ctr"/>
          <a:lstStyle/>
          <a:p>
            <a:pPr indent="0" marL="0">
              <a:buNone/>
            </a:pPr>
            <a:r>
              <a:rPr lang="en-US" sz="1130" dirty="0">
                <a:solidFill>
                  <a:srgbClr val="5A6B8C"/>
                </a:solidFill>
                <a:latin typeface="Arial" pitchFamily="34" charset="0"/>
                <a:ea typeface="Arial" pitchFamily="34" charset="-122"/>
                <a:cs typeface="Arial" pitchFamily="34" charset="-120"/>
              </a:rPr>
              <a:t>Same image across dev / staging / prod</a:t>
            </a:r>
            <a:endParaRPr lang="en-US" sz="1130" dirty="0"/>
          </a:p>
        </p:txBody>
      </p:sp>
      <p:sp>
        <p:nvSpPr>
          <p:cNvPr id="23" name="Shape 18"/>
          <p:cNvSpPr/>
          <p:nvPr/>
        </p:nvSpPr>
        <p:spPr>
          <a:xfrm>
            <a:off x="640080" y="3383280"/>
            <a:ext cx="6400800" cy="2423160"/>
          </a:xfrm>
          <a:prstGeom prst="roundRect">
            <a:avLst>
              <a:gd name="adj" fmla="val 3774"/>
            </a:avLst>
          </a:prstGeom>
          <a:solidFill>
            <a:srgbClr val="1E2761"/>
          </a:solidFill>
          <a:ln/>
          <a:effectLst>
            <a:outerShdw sx="100000" sy="100000" kx="0" ky="0" algn="bl" rotWithShape="0" blurRad="114300" dist="38100" dir="5400000">
              <a:srgbClr val="1A2440">
                <a:alpha val="16000"/>
              </a:srgbClr>
            </a:outerShdw>
          </a:effectLst>
        </p:spPr>
      </p:sp>
      <p:sp>
        <p:nvSpPr>
          <p:cNvPr id="24" name="Text 19"/>
          <p:cNvSpPr/>
          <p:nvPr/>
        </p:nvSpPr>
        <p:spPr>
          <a:xfrm>
            <a:off x="914400" y="3566160"/>
            <a:ext cx="5852160" cy="320040"/>
          </a:xfrm>
          <a:prstGeom prst="rect">
            <a:avLst/>
          </a:prstGeom>
          <a:noFill/>
          <a:ln/>
        </p:spPr>
        <p:txBody>
          <a:bodyPr wrap="square" lIns="0" tIns="0" rIns="0" bIns="0" rtlCol="0" anchor="ctr"/>
          <a:lstStyle/>
          <a:p>
            <a:pPr indent="0" marL="0">
              <a:buNone/>
            </a:pPr>
            <a:r>
              <a:rPr lang="en-US" sz="1100" b="1" spc="150" kern="0" dirty="0">
                <a:solidFill>
                  <a:srgbClr val="F2B441"/>
                </a:solidFill>
                <a:latin typeface="Arial" pitchFamily="34" charset="0"/>
                <a:ea typeface="Arial" pitchFamily="34" charset="-122"/>
                <a:cs typeface="Arial" pitchFamily="34" charset="-120"/>
              </a:rPr>
              <a:t>CONFIGURATION VIA ENVIRONMENT</a:t>
            </a:r>
            <a:endParaRPr lang="en-US" sz="1100" dirty="0"/>
          </a:p>
        </p:txBody>
      </p:sp>
      <p:sp>
        <p:nvSpPr>
          <p:cNvPr id="25" name="Text 20"/>
          <p:cNvSpPr/>
          <p:nvPr/>
        </p:nvSpPr>
        <p:spPr>
          <a:xfrm>
            <a:off x="914400" y="3977640"/>
            <a:ext cx="5852160" cy="365760"/>
          </a:xfrm>
          <a:prstGeom prst="rect">
            <a:avLst/>
          </a:prstGeom>
          <a:noFill/>
          <a:ln/>
        </p:spPr>
        <p:txBody>
          <a:bodyPr wrap="square" lIns="0" tIns="0" rIns="0" bIns="0" rtlCol="0" anchor="ctr"/>
          <a:lstStyle/>
          <a:p>
            <a:pPr indent="0" marL="0">
              <a:buNone/>
            </a:pPr>
            <a:r>
              <a:rPr lang="en-US" sz="1400" dirty="0">
                <a:solidFill>
                  <a:srgbClr val="FFFFFF"/>
                </a:solidFill>
                <a:latin typeface="Bookman Old Style" pitchFamily="34" charset="0"/>
                <a:ea typeface="Bookman Old Style" pitchFamily="34" charset="-122"/>
                <a:cs typeface="Bookman Old Style" pitchFamily="34" charset="-120"/>
              </a:rPr>
              <a:t>DB_HOST · DB_NAME · DB_USER · DB_PASSWORD</a:t>
            </a:r>
            <a:endParaRPr lang="en-US" sz="1400" dirty="0"/>
          </a:p>
        </p:txBody>
      </p:sp>
      <p:sp>
        <p:nvSpPr>
          <p:cNvPr id="26" name="Text 21"/>
          <p:cNvSpPr/>
          <p:nvPr/>
        </p:nvSpPr>
        <p:spPr>
          <a:xfrm>
            <a:off x="914400" y="4434840"/>
            <a:ext cx="5852160" cy="365760"/>
          </a:xfrm>
          <a:prstGeom prst="rect">
            <a:avLst/>
          </a:prstGeom>
          <a:noFill/>
          <a:ln/>
        </p:spPr>
        <p:txBody>
          <a:bodyPr wrap="square" lIns="0" tIns="0" rIns="0" bIns="0" rtlCol="0" anchor="ctr"/>
          <a:lstStyle/>
          <a:p>
            <a:pPr indent="0" marL="0">
              <a:buNone/>
            </a:pPr>
            <a:r>
              <a:rPr lang="en-US" sz="1400" dirty="0">
                <a:solidFill>
                  <a:srgbClr val="FFFFFF"/>
                </a:solidFill>
                <a:latin typeface="Bookman Old Style" pitchFamily="34" charset="0"/>
                <a:ea typeface="Bookman Old Style" pitchFamily="34" charset="-122"/>
                <a:cs typeface="Bookman Old Style" pitchFamily="34" charset="-120"/>
              </a:rPr>
              <a:t>JWT_SECRET · JWT_EXPIRY</a:t>
            </a:r>
            <a:endParaRPr lang="en-US" sz="1400" dirty="0"/>
          </a:p>
        </p:txBody>
      </p:sp>
      <p:sp>
        <p:nvSpPr>
          <p:cNvPr id="27" name="Text 22"/>
          <p:cNvSpPr/>
          <p:nvPr/>
        </p:nvSpPr>
        <p:spPr>
          <a:xfrm>
            <a:off x="914400" y="4892040"/>
            <a:ext cx="5852160" cy="365760"/>
          </a:xfrm>
          <a:prstGeom prst="rect">
            <a:avLst/>
          </a:prstGeom>
          <a:noFill/>
          <a:ln/>
        </p:spPr>
        <p:txBody>
          <a:bodyPr wrap="square" lIns="0" tIns="0" rIns="0" bIns="0" rtlCol="0" anchor="ctr"/>
          <a:lstStyle/>
          <a:p>
            <a:pPr indent="0" marL="0">
              <a:buNone/>
            </a:pPr>
            <a:r>
              <a:rPr lang="en-US" sz="1400" dirty="0">
                <a:solidFill>
                  <a:srgbClr val="FFFFFF"/>
                </a:solidFill>
                <a:latin typeface="Bookman Old Style" pitchFamily="34" charset="0"/>
                <a:ea typeface="Bookman Old Style" pitchFamily="34" charset="-122"/>
                <a:cs typeface="Bookman Old Style" pitchFamily="34" charset="-120"/>
              </a:rPr>
              <a:t>SERVER_PORT · SPRING_PROFILES_ACTIVE</a:t>
            </a:r>
            <a:endParaRPr lang="en-US" sz="1400" dirty="0"/>
          </a:p>
        </p:txBody>
      </p:sp>
      <p:sp>
        <p:nvSpPr>
          <p:cNvPr id="28" name="Text 23"/>
          <p:cNvSpPr/>
          <p:nvPr/>
        </p:nvSpPr>
        <p:spPr>
          <a:xfrm>
            <a:off x="914400" y="5367528"/>
            <a:ext cx="5852160" cy="365760"/>
          </a:xfrm>
          <a:prstGeom prst="rect">
            <a:avLst/>
          </a:prstGeom>
          <a:noFill/>
          <a:ln/>
        </p:spPr>
        <p:txBody>
          <a:bodyPr wrap="square" lIns="0" tIns="0" rIns="0" bIns="0" rtlCol="0" anchor="ctr"/>
          <a:lstStyle/>
          <a:p>
            <a:pPr indent="0" marL="0">
              <a:buNone/>
            </a:pPr>
            <a:r>
              <a:rPr lang="en-US" sz="1150" i="1" dirty="0">
                <a:solidFill>
                  <a:srgbClr val="CADCFC"/>
                </a:solidFill>
                <a:latin typeface="Arial" pitchFamily="34" charset="0"/>
                <a:ea typeface="Arial" pitchFamily="34" charset="-122"/>
                <a:cs typeface="Arial" pitchFamily="34" charset="-120"/>
              </a:rPr>
              <a:t>Secrets injected at runtime — never committed to source control.</a:t>
            </a:r>
            <a:endParaRPr lang="en-US" sz="1150" dirty="0"/>
          </a:p>
        </p:txBody>
      </p:sp>
      <p:sp>
        <p:nvSpPr>
          <p:cNvPr id="29" name="Shape 24"/>
          <p:cNvSpPr/>
          <p:nvPr/>
        </p:nvSpPr>
        <p:spPr>
          <a:xfrm>
            <a:off x="7269480" y="3383280"/>
            <a:ext cx="4343400" cy="2423160"/>
          </a:xfrm>
          <a:prstGeom prst="roundRect">
            <a:avLst>
              <a:gd name="adj" fmla="val 3774"/>
            </a:avLst>
          </a:prstGeom>
          <a:solidFill>
            <a:srgbClr val="F4F7FC"/>
          </a:solidFill>
          <a:ln/>
          <a:effectLst>
            <a:outerShdw sx="100000" sy="100000" kx="0" ky="0" algn="bl" rotWithShape="0" blurRad="114300" dist="38100" dir="5400000">
              <a:srgbClr val="1A2440">
                <a:alpha val="16000"/>
              </a:srgbClr>
            </a:outerShdw>
          </a:effectLst>
        </p:spPr>
      </p:sp>
      <p:sp>
        <p:nvSpPr>
          <p:cNvPr id="30" name="Shape 25"/>
          <p:cNvSpPr/>
          <p:nvPr/>
        </p:nvSpPr>
        <p:spPr>
          <a:xfrm>
            <a:off x="7498080" y="3611880"/>
            <a:ext cx="640080" cy="640080"/>
          </a:xfrm>
          <a:prstGeom prst="ellipse">
            <a:avLst/>
          </a:prstGeom>
          <a:solidFill>
            <a:srgbClr val="F2B441"/>
          </a:solidFill>
          <a:ln/>
          <a:effectLst>
            <a:outerShdw sx="100000" sy="100000" kx="0" ky="0" algn="bl" rotWithShape="0" blurRad="114300" dist="38100" dir="5400000">
              <a:srgbClr val="1A2440">
                <a:alpha val="16000"/>
              </a:srgbClr>
            </a:outerShdw>
          </a:effectLst>
        </p:spPr>
      </p:sp>
      <p:pic>
        <p:nvPicPr>
          <p:cNvPr id="31" name="Image 3" descr="/home/claude/build/icons/hourglass_white.png"/>
          <p:cNvPicPr>
            <a:picLocks noChangeAspect="1"/>
          </p:cNvPicPr>
          <p:nvPr/>
        </p:nvPicPr>
        <p:blipFill>
          <a:blip r:embed="rId4"/>
          <a:stretch>
            <a:fillRect/>
          </a:stretch>
        </p:blipFill>
        <p:spPr>
          <a:xfrm>
            <a:off x="7664501" y="3778301"/>
            <a:ext cx="307238" cy="307238"/>
          </a:xfrm>
          <a:prstGeom prst="rect">
            <a:avLst/>
          </a:prstGeom>
        </p:spPr>
      </p:pic>
      <p:sp>
        <p:nvSpPr>
          <p:cNvPr id="32" name="Text 26"/>
          <p:cNvSpPr/>
          <p:nvPr/>
        </p:nvSpPr>
        <p:spPr>
          <a:xfrm>
            <a:off x="8275320" y="3639312"/>
            <a:ext cx="3200400" cy="548640"/>
          </a:xfrm>
          <a:prstGeom prst="rect">
            <a:avLst/>
          </a:prstGeom>
          <a:noFill/>
          <a:ln/>
        </p:spPr>
        <p:txBody>
          <a:bodyPr wrap="square" lIns="0" tIns="0" rIns="0" bIns="0" rtlCol="0" anchor="ctr"/>
          <a:lstStyle/>
          <a:p>
            <a:pPr indent="0" marL="0">
              <a:buNone/>
            </a:pPr>
            <a:r>
              <a:rPr lang="en-US" sz="1550" b="1" dirty="0">
                <a:solidFill>
                  <a:srgbClr val="1B2335"/>
                </a:solidFill>
                <a:latin typeface="Bookman Old Style" pitchFamily="34" charset="0"/>
                <a:ea typeface="Bookman Old Style" pitchFamily="34" charset="-122"/>
                <a:cs typeface="Bookman Old Style" pitchFamily="34" charset="-120"/>
              </a:rPr>
              <a:t>Deterministic Rollback</a:t>
            </a:r>
            <a:endParaRPr lang="en-US" sz="1550" dirty="0"/>
          </a:p>
        </p:txBody>
      </p:sp>
      <p:sp>
        <p:nvSpPr>
          <p:cNvPr id="33" name="Text 27"/>
          <p:cNvSpPr/>
          <p:nvPr/>
        </p:nvSpPr>
        <p:spPr>
          <a:xfrm>
            <a:off x="7498080" y="4434840"/>
            <a:ext cx="3931920" cy="1280160"/>
          </a:xfrm>
          <a:prstGeom prst="rect">
            <a:avLst/>
          </a:prstGeom>
          <a:noFill/>
          <a:ln/>
        </p:spPr>
        <p:txBody>
          <a:bodyPr wrap="square" lIns="0" tIns="0" rIns="0" bIns="0" rtlCol="0" anchor="ctr"/>
          <a:lstStyle/>
          <a:p>
            <a:pPr indent="0" marL="0">
              <a:buNone/>
            </a:pPr>
            <a:r>
              <a:rPr lang="en-US" sz="1200" dirty="0">
                <a:solidFill>
                  <a:srgbClr val="5A6B8C"/>
                </a:solidFill>
                <a:latin typeface="Arial" pitchFamily="34" charset="0"/>
                <a:ea typeface="Arial" pitchFamily="34" charset="-122"/>
                <a:cs typeface="Arial" pitchFamily="34" charset="-120"/>
              </a:rPr>
              <a:t>Versioned image tags revert instantly to the last known-good build; additive forward-only migrations make DB recovery predictable via backup restore.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778240" y="-2194560"/>
            <a:ext cx="5852160" cy="5852160"/>
          </a:xfrm>
          <a:prstGeom prst="ellipse">
            <a:avLst/>
          </a:prstGeom>
          <a:solidFill>
            <a:srgbClr val="16203F"/>
          </a:solidFill>
          <a:ln/>
        </p:spPr>
      </p:sp>
      <p:sp>
        <p:nvSpPr>
          <p:cNvPr id="3" name="Shape 1"/>
          <p:cNvSpPr/>
          <p:nvPr/>
        </p:nvSpPr>
        <p:spPr>
          <a:xfrm>
            <a:off x="10058400" y="-1097280"/>
            <a:ext cx="3108960" cy="3108960"/>
          </a:xfrm>
          <a:prstGeom prst="ellipse">
            <a:avLst/>
          </a:prstGeom>
          <a:solidFill>
            <a:srgbClr val="1F2E55"/>
          </a:solidFill>
          <a:ln/>
        </p:spPr>
      </p:sp>
      <p:sp>
        <p:nvSpPr>
          <p:cNvPr id="4" name="Text 2"/>
          <p:cNvSpPr/>
          <p:nvPr/>
        </p:nvSpPr>
        <p:spPr>
          <a:xfrm>
            <a:off x="502920" y="384048"/>
            <a:ext cx="822960" cy="502920"/>
          </a:xfrm>
          <a:prstGeom prst="rect">
            <a:avLst/>
          </a:prstGeom>
          <a:noFill/>
          <a:ln/>
        </p:spPr>
        <p:txBody>
          <a:bodyPr wrap="square" lIns="0" tIns="0" rIns="0" bIns="0" rtlCol="0" anchor="ctr"/>
          <a:lstStyle/>
          <a:p>
            <a:pPr indent="0" marL="0">
              <a:buNone/>
            </a:pPr>
            <a:r>
              <a:rPr lang="en-US" sz="2600" b="1" dirty="0">
                <a:solidFill>
                  <a:srgbClr val="CADCFC"/>
                </a:solidFill>
                <a:latin typeface="Bookman Old Style" pitchFamily="34" charset="0"/>
                <a:ea typeface="Bookman Old Style" pitchFamily="34" charset="-122"/>
                <a:cs typeface="Bookman Old Style" pitchFamily="34" charset="-120"/>
              </a:rPr>
              <a:t>16</a:t>
            </a:r>
            <a:endParaRPr lang="en-US" sz="2600" dirty="0"/>
          </a:p>
        </p:txBody>
      </p:sp>
      <p:sp>
        <p:nvSpPr>
          <p:cNvPr id="5" name="Shape 3"/>
          <p:cNvSpPr/>
          <p:nvPr/>
        </p:nvSpPr>
        <p:spPr>
          <a:xfrm>
            <a:off x="1078992" y="457200"/>
            <a:ext cx="25603" cy="384048"/>
          </a:xfrm>
          <a:prstGeom prst="rect">
            <a:avLst/>
          </a:prstGeom>
          <a:solidFill>
            <a:srgbClr val="F2B441"/>
          </a:solidFill>
          <a:ln/>
        </p:spPr>
      </p:sp>
      <p:sp>
        <p:nvSpPr>
          <p:cNvPr id="6" name="Text 4"/>
          <p:cNvSpPr/>
          <p:nvPr/>
        </p:nvSpPr>
        <p:spPr>
          <a:xfrm>
            <a:off x="1225296" y="365760"/>
            <a:ext cx="9601200" cy="274320"/>
          </a:xfrm>
          <a:prstGeom prst="rect">
            <a:avLst/>
          </a:prstGeom>
          <a:noFill/>
          <a:ln/>
        </p:spPr>
        <p:txBody>
          <a:bodyPr wrap="square" lIns="0" tIns="0" rIns="0" bIns="0" rtlCol="0" anchor="ctr"/>
          <a:lstStyle/>
          <a:p>
            <a:pPr indent="0" marL="0">
              <a:buNone/>
            </a:pPr>
            <a:r>
              <a:rPr lang="en-US" sz="1150" b="1" spc="300" kern="0" dirty="0">
                <a:solidFill>
                  <a:srgbClr val="F2B441"/>
                </a:solidFill>
                <a:latin typeface="Arial" pitchFamily="34" charset="0"/>
                <a:ea typeface="Arial" pitchFamily="34" charset="-122"/>
                <a:cs typeface="Arial" pitchFamily="34" charset="-120"/>
              </a:rPr>
              <a:t>API SURFACE</a:t>
            </a:r>
            <a:endParaRPr lang="en-US" sz="1150" dirty="0"/>
          </a:p>
        </p:txBody>
      </p:sp>
      <p:sp>
        <p:nvSpPr>
          <p:cNvPr id="7" name="Text 5"/>
          <p:cNvSpPr/>
          <p:nvPr/>
        </p:nvSpPr>
        <p:spPr>
          <a:xfrm>
            <a:off x="1207008" y="603504"/>
            <a:ext cx="10424160" cy="566928"/>
          </a:xfrm>
          <a:prstGeom prst="rect">
            <a:avLst/>
          </a:prstGeom>
          <a:noFill/>
          <a:ln/>
        </p:spPr>
        <p:txBody>
          <a:bodyPr wrap="square" lIns="0" tIns="0" rIns="0" bIns="0" rtlCol="0" anchor="ctr"/>
          <a:lstStyle/>
          <a:p>
            <a:pPr indent="0" marL="0">
              <a:buNone/>
            </a:pPr>
            <a:r>
              <a:rPr lang="en-US" sz="2700" b="1" dirty="0">
                <a:solidFill>
                  <a:srgbClr val="FFFFFF"/>
                </a:solidFill>
                <a:latin typeface="Bookman Old Style" pitchFamily="34" charset="0"/>
                <a:ea typeface="Bookman Old Style" pitchFamily="34" charset="-122"/>
                <a:cs typeface="Bookman Old Style" pitchFamily="34" charset="-120"/>
              </a:rPr>
              <a:t>49 RESTful Endpoints · 14 Controllers</a:t>
            </a:r>
            <a:endParaRPr lang="en-US" sz="2700" dirty="0"/>
          </a:p>
        </p:txBody>
      </p:sp>
      <p:sp>
        <p:nvSpPr>
          <p:cNvPr id="8" name="Text 6"/>
          <p:cNvSpPr/>
          <p:nvPr/>
        </p:nvSpPr>
        <p:spPr>
          <a:xfrm>
            <a:off x="640080" y="1600200"/>
            <a:ext cx="4572000" cy="320040"/>
          </a:xfrm>
          <a:prstGeom prst="rect">
            <a:avLst/>
          </a:prstGeom>
          <a:noFill/>
          <a:ln/>
        </p:spPr>
        <p:txBody>
          <a:bodyPr wrap="square" lIns="0" tIns="0" rIns="0" bIns="0" rtlCol="0" anchor="ctr"/>
          <a:lstStyle/>
          <a:p>
            <a:pPr indent="0" marL="0">
              <a:buNone/>
            </a:pPr>
            <a:r>
              <a:rPr lang="en-US" sz="1100" b="1" spc="150" kern="0" dirty="0">
                <a:solidFill>
                  <a:srgbClr val="F2B441"/>
                </a:solidFill>
                <a:latin typeface="Arial" pitchFamily="34" charset="0"/>
                <a:ea typeface="Arial" pitchFamily="34" charset="-122"/>
                <a:cs typeface="Arial" pitchFamily="34" charset="-120"/>
              </a:rPr>
              <a:t>BY HTTP METHOD</a:t>
            </a:r>
            <a:endParaRPr lang="en-US" sz="1100" dirty="0"/>
          </a:p>
        </p:txBody>
      </p:sp>
      <p:graphicFrame>
        <p:nvGraphicFramePr>
          <p:cNvPr id="9" name="Chart 0" descr=""/>
          <p:cNvGraphicFramePr/>
          <p:nvPr/>
        </p:nvGraphicFramePr>
        <p:xfrm>
          <a:off x="457200" y="1874520"/>
          <a:ext cx="4937760" cy="374904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5852160" y="1783080"/>
            <a:ext cx="5760720" cy="749808"/>
          </a:xfrm>
          <a:prstGeom prst="roundRect">
            <a:avLst>
              <a:gd name="adj" fmla="val 8537"/>
            </a:avLst>
          </a:prstGeom>
          <a:solidFill>
            <a:srgbClr val="16203F"/>
          </a:solidFill>
          <a:ln w="12700">
            <a:solidFill>
              <a:srgbClr val="2C3A63"/>
            </a:solidFill>
            <a:prstDash val="solid"/>
          </a:ln>
        </p:spPr>
      </p:sp>
      <p:sp>
        <p:nvSpPr>
          <p:cNvPr id="11" name="Shape 8"/>
          <p:cNvSpPr/>
          <p:nvPr/>
        </p:nvSpPr>
        <p:spPr>
          <a:xfrm>
            <a:off x="6035040" y="1929384"/>
            <a:ext cx="457200" cy="457200"/>
          </a:xfrm>
          <a:prstGeom prst="ellipse">
            <a:avLst/>
          </a:prstGeom>
          <a:solidFill>
            <a:srgbClr val="F2B441"/>
          </a:solidFill>
          <a:ln/>
          <a:effectLst>
            <a:outerShdw sx="100000" sy="100000" kx="0" ky="0" algn="bl" rotWithShape="0" blurRad="114300" dist="38100" dir="5400000">
              <a:srgbClr val="1A2440">
                <a:alpha val="16000"/>
              </a:srgbClr>
            </a:outerShdw>
          </a:effectLst>
        </p:spPr>
      </p:sp>
      <p:pic>
        <p:nvPicPr>
          <p:cNvPr id="12" name="Image 0" descr="/home/claude/build/icons/user_navy.png"/>
          <p:cNvPicPr>
            <a:picLocks noChangeAspect="1"/>
          </p:cNvPicPr>
          <p:nvPr/>
        </p:nvPicPr>
        <p:blipFill>
          <a:blip r:embed="rId2"/>
          <a:stretch>
            <a:fillRect/>
          </a:stretch>
        </p:blipFill>
        <p:spPr>
          <a:xfrm>
            <a:off x="6153912" y="2048256"/>
            <a:ext cx="219456" cy="219456"/>
          </a:xfrm>
          <a:prstGeom prst="rect">
            <a:avLst/>
          </a:prstGeom>
        </p:spPr>
      </p:pic>
      <p:sp>
        <p:nvSpPr>
          <p:cNvPr id="13" name="Text 9"/>
          <p:cNvSpPr/>
          <p:nvPr/>
        </p:nvSpPr>
        <p:spPr>
          <a:xfrm>
            <a:off x="6675120" y="1837944"/>
            <a:ext cx="2011680" cy="640080"/>
          </a:xfrm>
          <a:prstGeom prst="rect">
            <a:avLst/>
          </a:prstGeom>
          <a:noFill/>
          <a:ln/>
        </p:spPr>
        <p:txBody>
          <a:bodyPr wrap="square" lIns="0" tIns="0" rIns="0" bIns="0" rtlCol="0" anchor="ctr"/>
          <a:lstStyle/>
          <a:p>
            <a:pPr indent="0" marL="0">
              <a:buNone/>
            </a:pPr>
            <a:r>
              <a:rPr lang="en-US" sz="1450" b="1" dirty="0">
                <a:solidFill>
                  <a:srgbClr val="FFFFFF"/>
                </a:solidFill>
                <a:latin typeface="Bookman Old Style" pitchFamily="34" charset="0"/>
                <a:ea typeface="Bookman Old Style" pitchFamily="34" charset="-122"/>
                <a:cs typeface="Bookman Old Style" pitchFamily="34" charset="-120"/>
              </a:rPr>
              <a:t>Auth</a:t>
            </a:r>
            <a:endParaRPr lang="en-US" sz="1450" dirty="0"/>
          </a:p>
        </p:txBody>
      </p:sp>
      <p:sp>
        <p:nvSpPr>
          <p:cNvPr id="14" name="Text 10"/>
          <p:cNvSpPr/>
          <p:nvPr/>
        </p:nvSpPr>
        <p:spPr>
          <a:xfrm>
            <a:off x="8595360" y="1837944"/>
            <a:ext cx="2926080" cy="640080"/>
          </a:xfrm>
          <a:prstGeom prst="rect">
            <a:avLst/>
          </a:prstGeom>
          <a:noFill/>
          <a:ln/>
        </p:spPr>
        <p:txBody>
          <a:bodyPr wrap="square" lIns="0" tIns="0" rIns="0" bIns="0" rtlCol="0" anchor="ctr"/>
          <a:lstStyle/>
          <a:p>
            <a:pPr indent="0" marL="0">
              <a:buNone/>
            </a:pPr>
            <a:r>
              <a:rPr lang="en-US" sz="1100" dirty="0">
                <a:solidFill>
                  <a:srgbClr val="CADCFC"/>
                </a:solidFill>
                <a:latin typeface="Arial" pitchFamily="34" charset="0"/>
                <a:ea typeface="Arial" pitchFamily="34" charset="-122"/>
                <a:cs typeface="Arial" pitchFamily="34" charset="-120"/>
              </a:rPr>
              <a:t>login · register · profile</a:t>
            </a:r>
            <a:endParaRPr lang="en-US" sz="1100" dirty="0"/>
          </a:p>
        </p:txBody>
      </p:sp>
      <p:sp>
        <p:nvSpPr>
          <p:cNvPr id="15" name="Shape 11"/>
          <p:cNvSpPr/>
          <p:nvPr/>
        </p:nvSpPr>
        <p:spPr>
          <a:xfrm>
            <a:off x="5852160" y="2642616"/>
            <a:ext cx="5760720" cy="749808"/>
          </a:xfrm>
          <a:prstGeom prst="roundRect">
            <a:avLst>
              <a:gd name="adj" fmla="val 8537"/>
            </a:avLst>
          </a:prstGeom>
          <a:solidFill>
            <a:srgbClr val="16203F"/>
          </a:solidFill>
          <a:ln w="12700">
            <a:solidFill>
              <a:srgbClr val="2C3A63"/>
            </a:solidFill>
            <a:prstDash val="solid"/>
          </a:ln>
        </p:spPr>
      </p:sp>
      <p:sp>
        <p:nvSpPr>
          <p:cNvPr id="16" name="Shape 12"/>
          <p:cNvSpPr/>
          <p:nvPr/>
        </p:nvSpPr>
        <p:spPr>
          <a:xfrm>
            <a:off x="6035040" y="2788920"/>
            <a:ext cx="457200" cy="457200"/>
          </a:xfrm>
          <a:prstGeom prst="ellipse">
            <a:avLst/>
          </a:prstGeom>
          <a:solidFill>
            <a:srgbClr val="F2B441"/>
          </a:solidFill>
          <a:ln/>
          <a:effectLst>
            <a:outerShdw sx="100000" sy="100000" kx="0" ky="0" algn="bl" rotWithShape="0" blurRad="114300" dist="38100" dir="5400000">
              <a:srgbClr val="1A2440">
                <a:alpha val="16000"/>
              </a:srgbClr>
            </a:outerShdw>
          </a:effectLst>
        </p:spPr>
      </p:sp>
      <p:pic>
        <p:nvPicPr>
          <p:cNvPr id="17" name="Image 1" descr="/home/claude/build/icons/bank_navy.png"/>
          <p:cNvPicPr>
            <a:picLocks noChangeAspect="1"/>
          </p:cNvPicPr>
          <p:nvPr/>
        </p:nvPicPr>
        <p:blipFill>
          <a:blip r:embed="rId3"/>
          <a:stretch>
            <a:fillRect/>
          </a:stretch>
        </p:blipFill>
        <p:spPr>
          <a:xfrm>
            <a:off x="6153912" y="2907792"/>
            <a:ext cx="219456" cy="219456"/>
          </a:xfrm>
          <a:prstGeom prst="rect">
            <a:avLst/>
          </a:prstGeom>
        </p:spPr>
      </p:pic>
      <p:sp>
        <p:nvSpPr>
          <p:cNvPr id="18" name="Text 13"/>
          <p:cNvSpPr/>
          <p:nvPr/>
        </p:nvSpPr>
        <p:spPr>
          <a:xfrm>
            <a:off x="6675120" y="2697480"/>
            <a:ext cx="2011680" cy="640080"/>
          </a:xfrm>
          <a:prstGeom prst="rect">
            <a:avLst/>
          </a:prstGeom>
          <a:noFill/>
          <a:ln/>
        </p:spPr>
        <p:txBody>
          <a:bodyPr wrap="square" lIns="0" tIns="0" rIns="0" bIns="0" rtlCol="0" anchor="ctr"/>
          <a:lstStyle/>
          <a:p>
            <a:pPr indent="0" marL="0">
              <a:buNone/>
            </a:pPr>
            <a:r>
              <a:rPr lang="en-US" sz="1450" b="1" dirty="0">
                <a:solidFill>
                  <a:srgbClr val="FFFFFF"/>
                </a:solidFill>
                <a:latin typeface="Bookman Old Style" pitchFamily="34" charset="0"/>
                <a:ea typeface="Bookman Old Style" pitchFamily="34" charset="-122"/>
                <a:cs typeface="Bookman Old Style" pitchFamily="34" charset="-120"/>
              </a:rPr>
              <a:t>Accounts &amp; Txns</a:t>
            </a:r>
            <a:endParaRPr lang="en-US" sz="1450" dirty="0"/>
          </a:p>
        </p:txBody>
      </p:sp>
      <p:sp>
        <p:nvSpPr>
          <p:cNvPr id="19" name="Text 14"/>
          <p:cNvSpPr/>
          <p:nvPr/>
        </p:nvSpPr>
        <p:spPr>
          <a:xfrm>
            <a:off x="8595360" y="2697480"/>
            <a:ext cx="2926080" cy="640080"/>
          </a:xfrm>
          <a:prstGeom prst="rect">
            <a:avLst/>
          </a:prstGeom>
          <a:noFill/>
          <a:ln/>
        </p:spPr>
        <p:txBody>
          <a:bodyPr wrap="square" lIns="0" tIns="0" rIns="0" bIns="0" rtlCol="0" anchor="ctr"/>
          <a:lstStyle/>
          <a:p>
            <a:pPr indent="0" marL="0">
              <a:buNone/>
            </a:pPr>
            <a:r>
              <a:rPr lang="en-US" sz="1100" dirty="0">
                <a:solidFill>
                  <a:srgbClr val="CADCFC"/>
                </a:solidFill>
                <a:latin typeface="Arial" pitchFamily="34" charset="0"/>
                <a:ea typeface="Arial" pitchFamily="34" charset="-122"/>
                <a:cs typeface="Arial" pitchFamily="34" charset="-120"/>
              </a:rPr>
              <a:t>accounts · transactions · transfers</a:t>
            </a:r>
            <a:endParaRPr lang="en-US" sz="1100" dirty="0"/>
          </a:p>
        </p:txBody>
      </p:sp>
      <p:sp>
        <p:nvSpPr>
          <p:cNvPr id="20" name="Shape 15"/>
          <p:cNvSpPr/>
          <p:nvPr/>
        </p:nvSpPr>
        <p:spPr>
          <a:xfrm>
            <a:off x="5852160" y="3502152"/>
            <a:ext cx="5760720" cy="749808"/>
          </a:xfrm>
          <a:prstGeom prst="roundRect">
            <a:avLst>
              <a:gd name="adj" fmla="val 8537"/>
            </a:avLst>
          </a:prstGeom>
          <a:solidFill>
            <a:srgbClr val="16203F"/>
          </a:solidFill>
          <a:ln w="12700">
            <a:solidFill>
              <a:srgbClr val="2C3A63"/>
            </a:solidFill>
            <a:prstDash val="solid"/>
          </a:ln>
        </p:spPr>
      </p:sp>
      <p:sp>
        <p:nvSpPr>
          <p:cNvPr id="21" name="Shape 16"/>
          <p:cNvSpPr/>
          <p:nvPr/>
        </p:nvSpPr>
        <p:spPr>
          <a:xfrm>
            <a:off x="6035040" y="3648456"/>
            <a:ext cx="457200" cy="457200"/>
          </a:xfrm>
          <a:prstGeom prst="ellipse">
            <a:avLst/>
          </a:prstGeom>
          <a:solidFill>
            <a:srgbClr val="F2B441"/>
          </a:solidFill>
          <a:ln/>
          <a:effectLst>
            <a:outerShdw sx="100000" sy="100000" kx="0" ky="0" algn="bl" rotWithShape="0" blurRad="114300" dist="38100" dir="5400000">
              <a:srgbClr val="1A2440">
                <a:alpha val="16000"/>
              </a:srgbClr>
            </a:outerShdw>
          </a:effectLst>
        </p:spPr>
      </p:sp>
      <p:pic>
        <p:nvPicPr>
          <p:cNvPr id="22" name="Image 2" descr="/home/claude/build/icons/wallet_navy.png"/>
          <p:cNvPicPr>
            <a:picLocks noChangeAspect="1"/>
          </p:cNvPicPr>
          <p:nvPr/>
        </p:nvPicPr>
        <p:blipFill>
          <a:blip r:embed="rId4"/>
          <a:stretch>
            <a:fillRect/>
          </a:stretch>
        </p:blipFill>
        <p:spPr>
          <a:xfrm>
            <a:off x="6153912" y="3767328"/>
            <a:ext cx="219456" cy="219456"/>
          </a:xfrm>
          <a:prstGeom prst="rect">
            <a:avLst/>
          </a:prstGeom>
        </p:spPr>
      </p:pic>
      <p:sp>
        <p:nvSpPr>
          <p:cNvPr id="23" name="Text 17"/>
          <p:cNvSpPr/>
          <p:nvPr/>
        </p:nvSpPr>
        <p:spPr>
          <a:xfrm>
            <a:off x="6675120" y="3557016"/>
            <a:ext cx="2011680" cy="640080"/>
          </a:xfrm>
          <a:prstGeom prst="rect">
            <a:avLst/>
          </a:prstGeom>
          <a:noFill/>
          <a:ln/>
        </p:spPr>
        <p:txBody>
          <a:bodyPr wrap="square" lIns="0" tIns="0" rIns="0" bIns="0" rtlCol="0" anchor="ctr"/>
          <a:lstStyle/>
          <a:p>
            <a:pPr indent="0" marL="0">
              <a:buNone/>
            </a:pPr>
            <a:r>
              <a:rPr lang="en-US" sz="1450" b="1" dirty="0">
                <a:solidFill>
                  <a:srgbClr val="FFFFFF"/>
                </a:solidFill>
                <a:latin typeface="Bookman Old Style" pitchFamily="34" charset="0"/>
                <a:ea typeface="Bookman Old Style" pitchFamily="34" charset="-122"/>
                <a:cs typeface="Bookman Old Style" pitchFamily="34" charset="-120"/>
              </a:rPr>
              <a:t>Budgets &amp; Bills</a:t>
            </a:r>
            <a:endParaRPr lang="en-US" sz="1450" dirty="0"/>
          </a:p>
        </p:txBody>
      </p:sp>
      <p:sp>
        <p:nvSpPr>
          <p:cNvPr id="24" name="Text 18"/>
          <p:cNvSpPr/>
          <p:nvPr/>
        </p:nvSpPr>
        <p:spPr>
          <a:xfrm>
            <a:off x="8595360" y="3557016"/>
            <a:ext cx="2926080" cy="640080"/>
          </a:xfrm>
          <a:prstGeom prst="rect">
            <a:avLst/>
          </a:prstGeom>
          <a:noFill/>
          <a:ln/>
        </p:spPr>
        <p:txBody>
          <a:bodyPr wrap="square" lIns="0" tIns="0" rIns="0" bIns="0" rtlCol="0" anchor="ctr"/>
          <a:lstStyle/>
          <a:p>
            <a:pPr indent="0" marL="0">
              <a:buNone/>
            </a:pPr>
            <a:r>
              <a:rPr lang="en-US" sz="1100" dirty="0">
                <a:solidFill>
                  <a:srgbClr val="CADCFC"/>
                </a:solidFill>
                <a:latin typeface="Arial" pitchFamily="34" charset="0"/>
                <a:ea typeface="Arial" pitchFamily="34" charset="-122"/>
                <a:cs typeface="Arial" pitchFamily="34" charset="-120"/>
              </a:rPr>
              <a:t>budgets · bills · rewards</a:t>
            </a:r>
            <a:endParaRPr lang="en-US" sz="1100" dirty="0"/>
          </a:p>
        </p:txBody>
      </p:sp>
      <p:sp>
        <p:nvSpPr>
          <p:cNvPr id="25" name="Shape 19"/>
          <p:cNvSpPr/>
          <p:nvPr/>
        </p:nvSpPr>
        <p:spPr>
          <a:xfrm>
            <a:off x="5852160" y="4361688"/>
            <a:ext cx="5760720" cy="749808"/>
          </a:xfrm>
          <a:prstGeom prst="roundRect">
            <a:avLst>
              <a:gd name="adj" fmla="val 8537"/>
            </a:avLst>
          </a:prstGeom>
          <a:solidFill>
            <a:srgbClr val="16203F"/>
          </a:solidFill>
          <a:ln w="12700">
            <a:solidFill>
              <a:srgbClr val="2C3A63"/>
            </a:solidFill>
            <a:prstDash val="solid"/>
          </a:ln>
        </p:spPr>
      </p:sp>
      <p:sp>
        <p:nvSpPr>
          <p:cNvPr id="26" name="Shape 20"/>
          <p:cNvSpPr/>
          <p:nvPr/>
        </p:nvSpPr>
        <p:spPr>
          <a:xfrm>
            <a:off x="6035040" y="4507992"/>
            <a:ext cx="457200" cy="457200"/>
          </a:xfrm>
          <a:prstGeom prst="ellipse">
            <a:avLst/>
          </a:prstGeom>
          <a:solidFill>
            <a:srgbClr val="F2B441"/>
          </a:solidFill>
          <a:ln/>
          <a:effectLst>
            <a:outerShdw sx="100000" sy="100000" kx="0" ky="0" algn="bl" rotWithShape="0" blurRad="114300" dist="38100" dir="5400000">
              <a:srgbClr val="1A2440">
                <a:alpha val="16000"/>
              </a:srgbClr>
            </a:outerShdw>
          </a:effectLst>
        </p:spPr>
      </p:sp>
      <p:pic>
        <p:nvPicPr>
          <p:cNvPr id="27" name="Image 3" descr="/home/claude/build/icons/money_navy.png"/>
          <p:cNvPicPr>
            <a:picLocks noChangeAspect="1"/>
          </p:cNvPicPr>
          <p:nvPr/>
        </p:nvPicPr>
        <p:blipFill>
          <a:blip r:embed="rId5"/>
          <a:stretch>
            <a:fillRect/>
          </a:stretch>
        </p:blipFill>
        <p:spPr>
          <a:xfrm>
            <a:off x="6153912" y="4626864"/>
            <a:ext cx="219456" cy="219456"/>
          </a:xfrm>
          <a:prstGeom prst="rect">
            <a:avLst/>
          </a:prstGeom>
        </p:spPr>
      </p:pic>
      <p:sp>
        <p:nvSpPr>
          <p:cNvPr id="28" name="Text 21"/>
          <p:cNvSpPr/>
          <p:nvPr/>
        </p:nvSpPr>
        <p:spPr>
          <a:xfrm>
            <a:off x="6675120" y="4416552"/>
            <a:ext cx="2011680" cy="640080"/>
          </a:xfrm>
          <a:prstGeom prst="rect">
            <a:avLst/>
          </a:prstGeom>
          <a:noFill/>
          <a:ln/>
        </p:spPr>
        <p:txBody>
          <a:bodyPr wrap="square" lIns="0" tIns="0" rIns="0" bIns="0" rtlCol="0" anchor="ctr"/>
          <a:lstStyle/>
          <a:p>
            <a:pPr indent="0" marL="0">
              <a:buNone/>
            </a:pPr>
            <a:r>
              <a:rPr lang="en-US" sz="1450" b="1" dirty="0">
                <a:solidFill>
                  <a:srgbClr val="FFFFFF"/>
                </a:solidFill>
                <a:latin typeface="Bookman Old Style" pitchFamily="34" charset="0"/>
                <a:ea typeface="Bookman Old Style" pitchFamily="34" charset="-122"/>
                <a:cs typeface="Bookman Old Style" pitchFamily="34" charset="-120"/>
              </a:rPr>
              <a:t>Loans</a:t>
            </a:r>
            <a:endParaRPr lang="en-US" sz="1450" dirty="0"/>
          </a:p>
        </p:txBody>
      </p:sp>
      <p:sp>
        <p:nvSpPr>
          <p:cNvPr id="29" name="Text 22"/>
          <p:cNvSpPr/>
          <p:nvPr/>
        </p:nvSpPr>
        <p:spPr>
          <a:xfrm>
            <a:off x="8595360" y="4416552"/>
            <a:ext cx="2926080" cy="640080"/>
          </a:xfrm>
          <a:prstGeom prst="rect">
            <a:avLst/>
          </a:prstGeom>
          <a:noFill/>
          <a:ln/>
        </p:spPr>
        <p:txBody>
          <a:bodyPr wrap="square" lIns="0" tIns="0" rIns="0" bIns="0" rtlCol="0" anchor="ctr"/>
          <a:lstStyle/>
          <a:p>
            <a:pPr indent="0" marL="0">
              <a:buNone/>
            </a:pPr>
            <a:r>
              <a:rPr lang="en-US" sz="1100" dirty="0">
                <a:solidFill>
                  <a:srgbClr val="CADCFC"/>
                </a:solidFill>
                <a:latin typeface="Arial" pitchFamily="34" charset="0"/>
                <a:ea typeface="Arial" pitchFamily="34" charset="-122"/>
                <a:cs typeface="Arial" pitchFamily="34" charset="-120"/>
              </a:rPr>
              <a:t>products · applications · accounts · repayments</a:t>
            </a:r>
            <a:endParaRPr lang="en-US" sz="1100" dirty="0"/>
          </a:p>
        </p:txBody>
      </p:sp>
      <p:sp>
        <p:nvSpPr>
          <p:cNvPr id="30" name="Shape 23"/>
          <p:cNvSpPr/>
          <p:nvPr/>
        </p:nvSpPr>
        <p:spPr>
          <a:xfrm>
            <a:off x="5852160" y="5221224"/>
            <a:ext cx="5760720" cy="749808"/>
          </a:xfrm>
          <a:prstGeom prst="roundRect">
            <a:avLst>
              <a:gd name="adj" fmla="val 8537"/>
            </a:avLst>
          </a:prstGeom>
          <a:solidFill>
            <a:srgbClr val="16203F"/>
          </a:solidFill>
          <a:ln w="12700">
            <a:solidFill>
              <a:srgbClr val="2C3A63"/>
            </a:solidFill>
            <a:prstDash val="solid"/>
          </a:ln>
        </p:spPr>
      </p:sp>
      <p:sp>
        <p:nvSpPr>
          <p:cNvPr id="31" name="Shape 24"/>
          <p:cNvSpPr/>
          <p:nvPr/>
        </p:nvSpPr>
        <p:spPr>
          <a:xfrm>
            <a:off x="6035040" y="5367528"/>
            <a:ext cx="457200" cy="457200"/>
          </a:xfrm>
          <a:prstGeom prst="ellipse">
            <a:avLst/>
          </a:prstGeom>
          <a:solidFill>
            <a:srgbClr val="F2B441"/>
          </a:solidFill>
          <a:ln/>
          <a:effectLst>
            <a:outerShdw sx="100000" sy="100000" kx="0" ky="0" algn="bl" rotWithShape="0" blurRad="114300" dist="38100" dir="5400000">
              <a:srgbClr val="1A2440">
                <a:alpha val="16000"/>
              </a:srgbClr>
            </a:outerShdw>
          </a:effectLst>
        </p:spPr>
      </p:sp>
      <p:pic>
        <p:nvPicPr>
          <p:cNvPr id="32" name="Image 4" descr="/home/claude/build/icons/pie_navy.png"/>
          <p:cNvPicPr>
            <a:picLocks noChangeAspect="1"/>
          </p:cNvPicPr>
          <p:nvPr/>
        </p:nvPicPr>
        <p:blipFill>
          <a:blip r:embed="rId6"/>
          <a:stretch>
            <a:fillRect/>
          </a:stretch>
        </p:blipFill>
        <p:spPr>
          <a:xfrm>
            <a:off x="6153912" y="5486400"/>
            <a:ext cx="219456" cy="219456"/>
          </a:xfrm>
          <a:prstGeom prst="rect">
            <a:avLst/>
          </a:prstGeom>
        </p:spPr>
      </p:pic>
      <p:sp>
        <p:nvSpPr>
          <p:cNvPr id="33" name="Text 25"/>
          <p:cNvSpPr/>
          <p:nvPr/>
        </p:nvSpPr>
        <p:spPr>
          <a:xfrm>
            <a:off x="6675120" y="5276088"/>
            <a:ext cx="2011680" cy="640080"/>
          </a:xfrm>
          <a:prstGeom prst="rect">
            <a:avLst/>
          </a:prstGeom>
          <a:noFill/>
          <a:ln/>
        </p:spPr>
        <p:txBody>
          <a:bodyPr wrap="square" lIns="0" tIns="0" rIns="0" bIns="0" rtlCol="0" anchor="ctr"/>
          <a:lstStyle/>
          <a:p>
            <a:pPr indent="0" marL="0">
              <a:buNone/>
            </a:pPr>
            <a:r>
              <a:rPr lang="en-US" sz="1450" b="1" dirty="0">
                <a:solidFill>
                  <a:srgbClr val="FFFFFF"/>
                </a:solidFill>
                <a:latin typeface="Bookman Old Style" pitchFamily="34" charset="0"/>
                <a:ea typeface="Bookman Old Style" pitchFamily="34" charset="-122"/>
                <a:cs typeface="Bookman Old Style" pitchFamily="34" charset="-120"/>
              </a:rPr>
              <a:t>Analytics</a:t>
            </a:r>
            <a:endParaRPr lang="en-US" sz="1450" dirty="0"/>
          </a:p>
        </p:txBody>
      </p:sp>
      <p:sp>
        <p:nvSpPr>
          <p:cNvPr id="34" name="Text 26"/>
          <p:cNvSpPr/>
          <p:nvPr/>
        </p:nvSpPr>
        <p:spPr>
          <a:xfrm>
            <a:off x="8595360" y="5276088"/>
            <a:ext cx="2926080" cy="640080"/>
          </a:xfrm>
          <a:prstGeom prst="rect">
            <a:avLst/>
          </a:prstGeom>
          <a:noFill/>
          <a:ln/>
        </p:spPr>
        <p:txBody>
          <a:bodyPr wrap="square" lIns="0" tIns="0" rIns="0" bIns="0" rtlCol="0" anchor="ctr"/>
          <a:lstStyle/>
          <a:p>
            <a:pPr indent="0" marL="0">
              <a:buNone/>
            </a:pPr>
            <a:r>
              <a:rPr lang="en-US" sz="1100" dirty="0">
                <a:solidFill>
                  <a:srgbClr val="CADCFC"/>
                </a:solidFill>
                <a:latin typeface="Arial" pitchFamily="34" charset="0"/>
                <a:ea typeface="Arial" pitchFamily="34" charset="-122"/>
                <a:cs typeface="Arial" pitchFamily="34" charset="-120"/>
              </a:rPr>
              <a:t>insights · admin · wealth dashboards</a:t>
            </a:r>
            <a:endParaRPr lang="en-US" sz="1100" dirty="0"/>
          </a:p>
        </p:txBody>
      </p:sp>
      <p:sp>
        <p:nvSpPr>
          <p:cNvPr id="35" name="Text 27"/>
          <p:cNvSpPr/>
          <p:nvPr/>
        </p:nvSpPr>
        <p:spPr>
          <a:xfrm>
            <a:off x="5852160" y="6099048"/>
            <a:ext cx="5760720" cy="365760"/>
          </a:xfrm>
          <a:prstGeom prst="rect">
            <a:avLst/>
          </a:prstGeom>
          <a:noFill/>
          <a:ln/>
        </p:spPr>
        <p:txBody>
          <a:bodyPr wrap="square" lIns="0" tIns="0" rIns="0" bIns="0" rtlCol="0" anchor="ctr"/>
          <a:lstStyle/>
          <a:p>
            <a:pPr indent="0" marL="0">
              <a:buNone/>
            </a:pPr>
            <a:r>
              <a:rPr lang="en-US" sz="1100" i="1" dirty="0">
                <a:solidFill>
                  <a:srgbClr val="F2B441"/>
                </a:solidFill>
                <a:latin typeface="Arial" pitchFamily="34" charset="0"/>
                <a:ea typeface="Arial" pitchFamily="34" charset="-122"/>
                <a:cs typeface="Arial" pitchFamily="34" charset="-120"/>
              </a:rPr>
              <a:t>Documented &amp; explorable via Swagger UI (springdoc OpenAPI) — /api/swagger-ui/index.html</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778240" y="-2194560"/>
            <a:ext cx="5852160" cy="5852160"/>
          </a:xfrm>
          <a:prstGeom prst="ellipse">
            <a:avLst/>
          </a:prstGeom>
          <a:solidFill>
            <a:srgbClr val="16203F"/>
          </a:solidFill>
          <a:ln/>
        </p:spPr>
      </p:sp>
      <p:sp>
        <p:nvSpPr>
          <p:cNvPr id="3" name="Shape 1"/>
          <p:cNvSpPr/>
          <p:nvPr/>
        </p:nvSpPr>
        <p:spPr>
          <a:xfrm>
            <a:off x="10058400" y="-1097280"/>
            <a:ext cx="3108960" cy="3108960"/>
          </a:xfrm>
          <a:prstGeom prst="ellipse">
            <a:avLst/>
          </a:prstGeom>
          <a:solidFill>
            <a:srgbClr val="1F2E55"/>
          </a:solidFill>
          <a:ln/>
        </p:spPr>
      </p:sp>
      <p:sp>
        <p:nvSpPr>
          <p:cNvPr id="4" name="Text 2"/>
          <p:cNvSpPr/>
          <p:nvPr/>
        </p:nvSpPr>
        <p:spPr>
          <a:xfrm>
            <a:off x="502920" y="384048"/>
            <a:ext cx="822960" cy="502920"/>
          </a:xfrm>
          <a:prstGeom prst="rect">
            <a:avLst/>
          </a:prstGeom>
          <a:noFill/>
          <a:ln/>
        </p:spPr>
        <p:txBody>
          <a:bodyPr wrap="square" lIns="0" tIns="0" rIns="0" bIns="0" rtlCol="0" anchor="ctr"/>
          <a:lstStyle/>
          <a:p>
            <a:pPr indent="0" marL="0">
              <a:buNone/>
            </a:pPr>
            <a:r>
              <a:rPr lang="en-US" sz="2600" b="1" dirty="0">
                <a:solidFill>
                  <a:srgbClr val="CADCFC"/>
                </a:solidFill>
                <a:latin typeface="Bookman Old Style" pitchFamily="34" charset="0"/>
                <a:ea typeface="Bookman Old Style" pitchFamily="34" charset="-122"/>
                <a:cs typeface="Bookman Old Style" pitchFamily="34" charset="-120"/>
              </a:rPr>
              <a:t>17</a:t>
            </a:r>
            <a:endParaRPr lang="en-US" sz="2600" dirty="0"/>
          </a:p>
        </p:txBody>
      </p:sp>
      <p:sp>
        <p:nvSpPr>
          <p:cNvPr id="5" name="Shape 3"/>
          <p:cNvSpPr/>
          <p:nvPr/>
        </p:nvSpPr>
        <p:spPr>
          <a:xfrm>
            <a:off x="1078992" y="457200"/>
            <a:ext cx="25603" cy="384048"/>
          </a:xfrm>
          <a:prstGeom prst="rect">
            <a:avLst/>
          </a:prstGeom>
          <a:solidFill>
            <a:srgbClr val="F2B441"/>
          </a:solidFill>
          <a:ln/>
        </p:spPr>
      </p:sp>
      <p:sp>
        <p:nvSpPr>
          <p:cNvPr id="6" name="Text 4"/>
          <p:cNvSpPr/>
          <p:nvPr/>
        </p:nvSpPr>
        <p:spPr>
          <a:xfrm>
            <a:off x="1225296" y="365760"/>
            <a:ext cx="9601200" cy="274320"/>
          </a:xfrm>
          <a:prstGeom prst="rect">
            <a:avLst/>
          </a:prstGeom>
          <a:noFill/>
          <a:ln/>
        </p:spPr>
        <p:txBody>
          <a:bodyPr wrap="square" lIns="0" tIns="0" rIns="0" bIns="0" rtlCol="0" anchor="ctr"/>
          <a:lstStyle/>
          <a:p>
            <a:pPr indent="0" marL="0">
              <a:buNone/>
            </a:pPr>
            <a:r>
              <a:rPr lang="en-US" sz="1150" b="1" spc="300" kern="0" dirty="0">
                <a:solidFill>
                  <a:srgbClr val="F2B441"/>
                </a:solidFill>
                <a:latin typeface="Arial" pitchFamily="34" charset="0"/>
                <a:ea typeface="Arial" pitchFamily="34" charset="-122"/>
                <a:cs typeface="Arial" pitchFamily="34" charset="-120"/>
              </a:rPr>
              <a:t>EXECUTION</a:t>
            </a:r>
            <a:endParaRPr lang="en-US" sz="1150" dirty="0"/>
          </a:p>
        </p:txBody>
      </p:sp>
      <p:sp>
        <p:nvSpPr>
          <p:cNvPr id="7" name="Text 5"/>
          <p:cNvSpPr/>
          <p:nvPr/>
        </p:nvSpPr>
        <p:spPr>
          <a:xfrm>
            <a:off x="1207008" y="603504"/>
            <a:ext cx="10424160" cy="566928"/>
          </a:xfrm>
          <a:prstGeom prst="rect">
            <a:avLst/>
          </a:prstGeom>
          <a:noFill/>
          <a:ln/>
        </p:spPr>
        <p:txBody>
          <a:bodyPr wrap="square" lIns="0" tIns="0" rIns="0" bIns="0" rtlCol="0" anchor="ctr"/>
          <a:lstStyle/>
          <a:p>
            <a:pPr indent="0" marL="0">
              <a:buNone/>
            </a:pPr>
            <a:r>
              <a:rPr lang="en-US" sz="2700" b="1" dirty="0">
                <a:solidFill>
                  <a:srgbClr val="FFFFFF"/>
                </a:solidFill>
                <a:latin typeface="Bookman Old Style" pitchFamily="34" charset="0"/>
                <a:ea typeface="Bookman Old Style" pitchFamily="34" charset="-122"/>
                <a:cs typeface="Bookman Old Style" pitchFamily="34" charset="-120"/>
              </a:rPr>
              <a:t>60-Day · 5-Sprint Delivery Roadmap</a:t>
            </a:r>
            <a:endParaRPr lang="en-US" sz="2700" dirty="0"/>
          </a:p>
        </p:txBody>
      </p:sp>
      <p:sp>
        <p:nvSpPr>
          <p:cNvPr id="8" name="Shape 6"/>
          <p:cNvSpPr/>
          <p:nvPr/>
        </p:nvSpPr>
        <p:spPr>
          <a:xfrm>
            <a:off x="868680" y="2331720"/>
            <a:ext cx="10561320" cy="0"/>
          </a:xfrm>
          <a:prstGeom prst="line">
            <a:avLst/>
          </a:prstGeom>
          <a:noFill/>
          <a:ln w="25400">
            <a:solidFill>
              <a:srgbClr val="33406A"/>
            </a:solidFill>
            <a:prstDash val="solid"/>
          </a:ln>
        </p:spPr>
      </p:sp>
      <p:sp>
        <p:nvSpPr>
          <p:cNvPr id="9" name="Shape 7"/>
          <p:cNvSpPr/>
          <p:nvPr/>
        </p:nvSpPr>
        <p:spPr>
          <a:xfrm>
            <a:off x="1623060" y="2029968"/>
            <a:ext cx="603504" cy="603504"/>
          </a:xfrm>
          <a:prstGeom prst="ellipse">
            <a:avLst/>
          </a:prstGeom>
          <a:solidFill>
            <a:srgbClr val="3FB984"/>
          </a:solidFill>
          <a:ln w="38100">
            <a:solidFill>
              <a:srgbClr val="1E2761"/>
            </a:solidFill>
            <a:prstDash val="solid"/>
          </a:ln>
          <a:effectLst>
            <a:outerShdw sx="100000" sy="100000" kx="0" ky="0" algn="bl" rotWithShape="0" blurRad="114300" dist="38100" dir="5400000">
              <a:srgbClr val="1A2440">
                <a:alpha val="16000"/>
              </a:srgbClr>
            </a:outerShdw>
          </a:effectLst>
        </p:spPr>
      </p:sp>
      <p:sp>
        <p:nvSpPr>
          <p:cNvPr id="10" name="Text 8"/>
          <p:cNvSpPr/>
          <p:nvPr/>
        </p:nvSpPr>
        <p:spPr>
          <a:xfrm>
            <a:off x="1623060" y="2029968"/>
            <a:ext cx="603504" cy="603504"/>
          </a:xfrm>
          <a:prstGeom prst="rect">
            <a:avLst/>
          </a:prstGeom>
          <a:noFill/>
          <a:ln/>
        </p:spPr>
        <p:txBody>
          <a:bodyPr wrap="square" lIns="0" tIns="0" rIns="0" bIns="0" rtlCol="0" anchor="ctr"/>
          <a:lstStyle/>
          <a:p>
            <a:pPr algn="ctr" indent="0" marL="0">
              <a:buNone/>
            </a:pPr>
            <a:r>
              <a:rPr lang="en-US" sz="1500" b="1" dirty="0">
                <a:solidFill>
                  <a:srgbClr val="1E2761"/>
                </a:solidFill>
                <a:latin typeface="Bookman Old Style" pitchFamily="34" charset="0"/>
                <a:ea typeface="Bookman Old Style" pitchFamily="34" charset="-122"/>
                <a:cs typeface="Bookman Old Style" pitchFamily="34" charset="-120"/>
              </a:rPr>
              <a:t>S1</a:t>
            </a:r>
            <a:endParaRPr lang="en-US" sz="1500" dirty="0"/>
          </a:p>
        </p:txBody>
      </p:sp>
      <p:sp>
        <p:nvSpPr>
          <p:cNvPr id="11" name="Shape 9"/>
          <p:cNvSpPr/>
          <p:nvPr/>
        </p:nvSpPr>
        <p:spPr>
          <a:xfrm>
            <a:off x="928116" y="2971800"/>
            <a:ext cx="1993392" cy="3063240"/>
          </a:xfrm>
          <a:prstGeom prst="roundRect">
            <a:avLst>
              <a:gd name="adj" fmla="val 3670"/>
            </a:avLst>
          </a:prstGeom>
          <a:solidFill>
            <a:srgbClr val="16203F"/>
          </a:solidFill>
          <a:ln w="12700">
            <a:solidFill>
              <a:srgbClr val="2C3A63"/>
            </a:solidFill>
            <a:prstDash val="solid"/>
          </a:ln>
        </p:spPr>
      </p:sp>
      <p:sp>
        <p:nvSpPr>
          <p:cNvPr id="12" name="Text 10"/>
          <p:cNvSpPr/>
          <p:nvPr/>
        </p:nvSpPr>
        <p:spPr>
          <a:xfrm>
            <a:off x="1074420" y="3136392"/>
            <a:ext cx="1719072" cy="274320"/>
          </a:xfrm>
          <a:prstGeom prst="rect">
            <a:avLst/>
          </a:prstGeom>
          <a:noFill/>
          <a:ln/>
        </p:spPr>
        <p:txBody>
          <a:bodyPr wrap="square" lIns="0" tIns="0" rIns="0" bIns="0" rtlCol="0" anchor="ctr"/>
          <a:lstStyle/>
          <a:p>
            <a:pPr indent="0" marL="0">
              <a:buNone/>
            </a:pPr>
            <a:r>
              <a:rPr lang="en-US" sz="1000" b="1" spc="100" kern="0" dirty="0">
                <a:solidFill>
                  <a:srgbClr val="3FB984"/>
                </a:solidFill>
                <a:latin typeface="Arial" pitchFamily="34" charset="0"/>
                <a:ea typeface="Arial" pitchFamily="34" charset="-122"/>
                <a:cs typeface="Arial" pitchFamily="34" charset="-120"/>
              </a:rPr>
              <a:t>DAYS 1–10</a:t>
            </a:r>
            <a:endParaRPr lang="en-US" sz="1000" dirty="0"/>
          </a:p>
        </p:txBody>
      </p:sp>
      <p:sp>
        <p:nvSpPr>
          <p:cNvPr id="13" name="Text 11"/>
          <p:cNvSpPr/>
          <p:nvPr/>
        </p:nvSpPr>
        <p:spPr>
          <a:xfrm>
            <a:off x="1074420" y="3429000"/>
            <a:ext cx="1719072" cy="914400"/>
          </a:xfrm>
          <a:prstGeom prst="rect">
            <a:avLst/>
          </a:prstGeom>
          <a:noFill/>
          <a:ln/>
        </p:spPr>
        <p:txBody>
          <a:bodyPr wrap="square" lIns="0" tIns="0" rIns="0" bIns="0" rtlCol="0" anchor="ctr"/>
          <a:lstStyle/>
          <a:p>
            <a:pPr indent="0" marL="0">
              <a:buNone/>
            </a:pPr>
            <a:r>
              <a:rPr lang="en-US" sz="1450" b="1" dirty="0">
                <a:solidFill>
                  <a:srgbClr val="FFFFFF"/>
                </a:solidFill>
                <a:latin typeface="Bookman Old Style" pitchFamily="34" charset="0"/>
                <a:ea typeface="Bookman Old Style" pitchFamily="34" charset="-122"/>
                <a:cs typeface="Bookman Old Style" pitchFamily="34" charset="-120"/>
              </a:rPr>
              <a:t>Foundation &amp; Core Banking</a:t>
            </a:r>
            <a:endParaRPr lang="en-US" sz="1450" dirty="0"/>
          </a:p>
        </p:txBody>
      </p:sp>
      <p:sp>
        <p:nvSpPr>
          <p:cNvPr id="14" name="Text 12"/>
          <p:cNvSpPr/>
          <p:nvPr/>
        </p:nvSpPr>
        <p:spPr>
          <a:xfrm>
            <a:off x="1074420" y="4389120"/>
            <a:ext cx="1719072" cy="1554480"/>
          </a:xfrm>
          <a:prstGeom prst="rect">
            <a:avLst/>
          </a:prstGeom>
          <a:noFill/>
          <a:ln/>
        </p:spPr>
        <p:txBody>
          <a:bodyPr wrap="square" lIns="0" tIns="0" rIns="0" bIns="0" rtlCol="0" anchor="ctr"/>
          <a:lstStyle/>
          <a:p>
            <a:pPr indent="0" marL="0">
              <a:buNone/>
            </a:pPr>
            <a:r>
              <a:rPr lang="en-US" sz="1150" dirty="0">
                <a:solidFill>
                  <a:srgbClr val="CADCFC"/>
                </a:solidFill>
                <a:latin typeface="Arial" pitchFamily="34" charset="0"/>
                <a:ea typeface="Arial" pitchFamily="34" charset="-122"/>
                <a:cs typeface="Arial" pitchFamily="34" charset="-120"/>
              </a:rPr>
              <a:t>Auth, JWT, accounts, transactions, transfers</a:t>
            </a:r>
            <a:endParaRPr lang="en-US" sz="1150" dirty="0"/>
          </a:p>
        </p:txBody>
      </p:sp>
      <p:sp>
        <p:nvSpPr>
          <p:cNvPr id="15" name="Shape 13"/>
          <p:cNvSpPr/>
          <p:nvPr/>
        </p:nvSpPr>
        <p:spPr>
          <a:xfrm>
            <a:off x="3735324" y="2029968"/>
            <a:ext cx="603504" cy="603504"/>
          </a:xfrm>
          <a:prstGeom prst="ellipse">
            <a:avLst/>
          </a:prstGeom>
          <a:solidFill>
            <a:srgbClr val="2C8DD6"/>
          </a:solidFill>
          <a:ln w="38100">
            <a:solidFill>
              <a:srgbClr val="1E2761"/>
            </a:solidFill>
            <a:prstDash val="solid"/>
          </a:ln>
          <a:effectLst>
            <a:outerShdw sx="100000" sy="100000" kx="0" ky="0" algn="bl" rotWithShape="0" blurRad="114300" dist="38100" dir="5400000">
              <a:srgbClr val="1A2440">
                <a:alpha val="16000"/>
              </a:srgbClr>
            </a:outerShdw>
          </a:effectLst>
        </p:spPr>
      </p:sp>
      <p:sp>
        <p:nvSpPr>
          <p:cNvPr id="16" name="Text 14"/>
          <p:cNvSpPr/>
          <p:nvPr/>
        </p:nvSpPr>
        <p:spPr>
          <a:xfrm>
            <a:off x="3735324" y="2029968"/>
            <a:ext cx="603504" cy="603504"/>
          </a:xfrm>
          <a:prstGeom prst="rect">
            <a:avLst/>
          </a:prstGeom>
          <a:noFill/>
          <a:ln/>
        </p:spPr>
        <p:txBody>
          <a:bodyPr wrap="square" lIns="0" tIns="0" rIns="0" bIns="0" rtlCol="0" anchor="ctr"/>
          <a:lstStyle/>
          <a:p>
            <a:pPr algn="ctr" indent="0" marL="0">
              <a:buNone/>
            </a:pPr>
            <a:r>
              <a:rPr lang="en-US" sz="1500" b="1" dirty="0">
                <a:solidFill>
                  <a:srgbClr val="1E2761"/>
                </a:solidFill>
                <a:latin typeface="Bookman Old Style" pitchFamily="34" charset="0"/>
                <a:ea typeface="Bookman Old Style" pitchFamily="34" charset="-122"/>
                <a:cs typeface="Bookman Old Style" pitchFamily="34" charset="-120"/>
              </a:rPr>
              <a:t>S2</a:t>
            </a:r>
            <a:endParaRPr lang="en-US" sz="1500" dirty="0"/>
          </a:p>
        </p:txBody>
      </p:sp>
      <p:sp>
        <p:nvSpPr>
          <p:cNvPr id="17" name="Shape 15"/>
          <p:cNvSpPr/>
          <p:nvPr/>
        </p:nvSpPr>
        <p:spPr>
          <a:xfrm>
            <a:off x="3040380" y="2971800"/>
            <a:ext cx="1993392" cy="3063240"/>
          </a:xfrm>
          <a:prstGeom prst="roundRect">
            <a:avLst>
              <a:gd name="adj" fmla="val 3670"/>
            </a:avLst>
          </a:prstGeom>
          <a:solidFill>
            <a:srgbClr val="16203F"/>
          </a:solidFill>
          <a:ln w="12700">
            <a:solidFill>
              <a:srgbClr val="2C3A63"/>
            </a:solidFill>
            <a:prstDash val="solid"/>
          </a:ln>
        </p:spPr>
      </p:sp>
      <p:sp>
        <p:nvSpPr>
          <p:cNvPr id="18" name="Text 16"/>
          <p:cNvSpPr/>
          <p:nvPr/>
        </p:nvSpPr>
        <p:spPr>
          <a:xfrm>
            <a:off x="3186684" y="3136392"/>
            <a:ext cx="1719072" cy="274320"/>
          </a:xfrm>
          <a:prstGeom prst="rect">
            <a:avLst/>
          </a:prstGeom>
          <a:noFill/>
          <a:ln/>
        </p:spPr>
        <p:txBody>
          <a:bodyPr wrap="square" lIns="0" tIns="0" rIns="0" bIns="0" rtlCol="0" anchor="ctr"/>
          <a:lstStyle/>
          <a:p>
            <a:pPr indent="0" marL="0">
              <a:buNone/>
            </a:pPr>
            <a:r>
              <a:rPr lang="en-US" sz="1000" b="1" spc="100" kern="0" dirty="0">
                <a:solidFill>
                  <a:srgbClr val="2C8DD6"/>
                </a:solidFill>
                <a:latin typeface="Arial" pitchFamily="34" charset="0"/>
                <a:ea typeface="Arial" pitchFamily="34" charset="-122"/>
                <a:cs typeface="Arial" pitchFamily="34" charset="-120"/>
              </a:rPr>
              <a:t>DAYS 11–20</a:t>
            </a:r>
            <a:endParaRPr lang="en-US" sz="1000" dirty="0"/>
          </a:p>
        </p:txBody>
      </p:sp>
      <p:sp>
        <p:nvSpPr>
          <p:cNvPr id="19" name="Text 17"/>
          <p:cNvSpPr/>
          <p:nvPr/>
        </p:nvSpPr>
        <p:spPr>
          <a:xfrm>
            <a:off x="3186684" y="3429000"/>
            <a:ext cx="1719072" cy="914400"/>
          </a:xfrm>
          <a:prstGeom prst="rect">
            <a:avLst/>
          </a:prstGeom>
          <a:noFill/>
          <a:ln/>
        </p:spPr>
        <p:txBody>
          <a:bodyPr wrap="square" lIns="0" tIns="0" rIns="0" bIns="0" rtlCol="0" anchor="ctr"/>
          <a:lstStyle/>
          <a:p>
            <a:pPr indent="0" marL="0">
              <a:buNone/>
            </a:pPr>
            <a:r>
              <a:rPr lang="en-US" sz="1450" b="1" dirty="0">
                <a:solidFill>
                  <a:srgbClr val="FFFFFF"/>
                </a:solidFill>
                <a:latin typeface="Bookman Old Style" pitchFamily="34" charset="0"/>
                <a:ea typeface="Bookman Old Style" pitchFamily="34" charset="-122"/>
                <a:cs typeface="Bookman Old Style" pitchFamily="34" charset="-120"/>
              </a:rPr>
              <a:t>Budgets, Bills &amp; Rewards</a:t>
            </a:r>
            <a:endParaRPr lang="en-US" sz="1450" dirty="0"/>
          </a:p>
        </p:txBody>
      </p:sp>
      <p:sp>
        <p:nvSpPr>
          <p:cNvPr id="20" name="Text 18"/>
          <p:cNvSpPr/>
          <p:nvPr/>
        </p:nvSpPr>
        <p:spPr>
          <a:xfrm>
            <a:off x="3186684" y="4389120"/>
            <a:ext cx="1719072" cy="1554480"/>
          </a:xfrm>
          <a:prstGeom prst="rect">
            <a:avLst/>
          </a:prstGeom>
          <a:noFill/>
          <a:ln/>
        </p:spPr>
        <p:txBody>
          <a:bodyPr wrap="square" lIns="0" tIns="0" rIns="0" bIns="0" rtlCol="0" anchor="ctr"/>
          <a:lstStyle/>
          <a:p>
            <a:pPr indent="0" marL="0">
              <a:buNone/>
            </a:pPr>
            <a:r>
              <a:rPr lang="en-US" sz="1150" dirty="0">
                <a:solidFill>
                  <a:srgbClr val="CADCFC"/>
                </a:solidFill>
                <a:latin typeface="Arial" pitchFamily="34" charset="0"/>
                <a:ea typeface="Arial" pitchFamily="34" charset="-122"/>
                <a:cs typeface="Arial" pitchFamily="34" charset="-120"/>
              </a:rPr>
              <a:t>Category budgets, bill lifecycle, loyalty points</a:t>
            </a:r>
            <a:endParaRPr lang="en-US" sz="1150" dirty="0"/>
          </a:p>
        </p:txBody>
      </p:sp>
      <p:sp>
        <p:nvSpPr>
          <p:cNvPr id="21" name="Shape 19"/>
          <p:cNvSpPr/>
          <p:nvPr/>
        </p:nvSpPr>
        <p:spPr>
          <a:xfrm>
            <a:off x="5847588" y="2029968"/>
            <a:ext cx="603504" cy="603504"/>
          </a:xfrm>
          <a:prstGeom prst="ellipse">
            <a:avLst/>
          </a:prstGeom>
          <a:solidFill>
            <a:srgbClr val="F2B441"/>
          </a:solidFill>
          <a:ln w="38100">
            <a:solidFill>
              <a:srgbClr val="1E2761"/>
            </a:solidFill>
            <a:prstDash val="solid"/>
          </a:ln>
          <a:effectLst>
            <a:outerShdw sx="100000" sy="100000" kx="0" ky="0" algn="bl" rotWithShape="0" blurRad="114300" dist="38100" dir="5400000">
              <a:srgbClr val="1A2440">
                <a:alpha val="16000"/>
              </a:srgbClr>
            </a:outerShdw>
          </a:effectLst>
        </p:spPr>
      </p:sp>
      <p:sp>
        <p:nvSpPr>
          <p:cNvPr id="22" name="Text 20"/>
          <p:cNvSpPr/>
          <p:nvPr/>
        </p:nvSpPr>
        <p:spPr>
          <a:xfrm>
            <a:off x="5847588" y="2029968"/>
            <a:ext cx="603504" cy="603504"/>
          </a:xfrm>
          <a:prstGeom prst="rect">
            <a:avLst/>
          </a:prstGeom>
          <a:noFill/>
          <a:ln/>
        </p:spPr>
        <p:txBody>
          <a:bodyPr wrap="square" lIns="0" tIns="0" rIns="0" bIns="0" rtlCol="0" anchor="ctr"/>
          <a:lstStyle/>
          <a:p>
            <a:pPr algn="ctr" indent="0" marL="0">
              <a:buNone/>
            </a:pPr>
            <a:r>
              <a:rPr lang="en-US" sz="1500" b="1" dirty="0">
                <a:solidFill>
                  <a:srgbClr val="1E2761"/>
                </a:solidFill>
                <a:latin typeface="Bookman Old Style" pitchFamily="34" charset="0"/>
                <a:ea typeface="Bookman Old Style" pitchFamily="34" charset="-122"/>
                <a:cs typeface="Bookman Old Style" pitchFamily="34" charset="-120"/>
              </a:rPr>
              <a:t>S3</a:t>
            </a:r>
            <a:endParaRPr lang="en-US" sz="1500" dirty="0"/>
          </a:p>
        </p:txBody>
      </p:sp>
      <p:sp>
        <p:nvSpPr>
          <p:cNvPr id="23" name="Shape 21"/>
          <p:cNvSpPr/>
          <p:nvPr/>
        </p:nvSpPr>
        <p:spPr>
          <a:xfrm>
            <a:off x="5152644" y="2971800"/>
            <a:ext cx="1993392" cy="3063240"/>
          </a:xfrm>
          <a:prstGeom prst="roundRect">
            <a:avLst>
              <a:gd name="adj" fmla="val 3670"/>
            </a:avLst>
          </a:prstGeom>
          <a:solidFill>
            <a:srgbClr val="16203F"/>
          </a:solidFill>
          <a:ln w="12700">
            <a:solidFill>
              <a:srgbClr val="2C3A63"/>
            </a:solidFill>
            <a:prstDash val="solid"/>
          </a:ln>
        </p:spPr>
      </p:sp>
      <p:sp>
        <p:nvSpPr>
          <p:cNvPr id="24" name="Text 22"/>
          <p:cNvSpPr/>
          <p:nvPr/>
        </p:nvSpPr>
        <p:spPr>
          <a:xfrm>
            <a:off x="5298948" y="3136392"/>
            <a:ext cx="1719072" cy="274320"/>
          </a:xfrm>
          <a:prstGeom prst="rect">
            <a:avLst/>
          </a:prstGeom>
          <a:noFill/>
          <a:ln/>
        </p:spPr>
        <p:txBody>
          <a:bodyPr wrap="square" lIns="0" tIns="0" rIns="0" bIns="0" rtlCol="0" anchor="ctr"/>
          <a:lstStyle/>
          <a:p>
            <a:pPr indent="0" marL="0">
              <a:buNone/>
            </a:pPr>
            <a:r>
              <a:rPr lang="en-US" sz="1000" b="1" spc="100" kern="0" dirty="0">
                <a:solidFill>
                  <a:srgbClr val="F2B441"/>
                </a:solidFill>
                <a:latin typeface="Arial" pitchFamily="34" charset="0"/>
                <a:ea typeface="Arial" pitchFamily="34" charset="-122"/>
                <a:cs typeface="Arial" pitchFamily="34" charset="-120"/>
              </a:rPr>
              <a:t>DAYS 21–30</a:t>
            </a:r>
            <a:endParaRPr lang="en-US" sz="1000" dirty="0"/>
          </a:p>
        </p:txBody>
      </p:sp>
      <p:sp>
        <p:nvSpPr>
          <p:cNvPr id="25" name="Text 23"/>
          <p:cNvSpPr/>
          <p:nvPr/>
        </p:nvSpPr>
        <p:spPr>
          <a:xfrm>
            <a:off x="5298948" y="3429000"/>
            <a:ext cx="1719072" cy="914400"/>
          </a:xfrm>
          <a:prstGeom prst="rect">
            <a:avLst/>
          </a:prstGeom>
          <a:noFill/>
          <a:ln/>
        </p:spPr>
        <p:txBody>
          <a:bodyPr wrap="square" lIns="0" tIns="0" rIns="0" bIns="0" rtlCol="0" anchor="ctr"/>
          <a:lstStyle/>
          <a:p>
            <a:pPr indent="0" marL="0">
              <a:buNone/>
            </a:pPr>
            <a:r>
              <a:rPr lang="en-US" sz="1450" b="1" dirty="0">
                <a:solidFill>
                  <a:srgbClr val="FFFFFF"/>
                </a:solidFill>
                <a:latin typeface="Bookman Old Style" pitchFamily="34" charset="0"/>
                <a:ea typeface="Bookman Old Style" pitchFamily="34" charset="-122"/>
                <a:cs typeface="Bookman Old Style" pitchFamily="34" charset="-120"/>
              </a:rPr>
              <a:t>Loan Management</a:t>
            </a:r>
            <a:endParaRPr lang="en-US" sz="1450" dirty="0"/>
          </a:p>
        </p:txBody>
      </p:sp>
      <p:sp>
        <p:nvSpPr>
          <p:cNvPr id="26" name="Text 24"/>
          <p:cNvSpPr/>
          <p:nvPr/>
        </p:nvSpPr>
        <p:spPr>
          <a:xfrm>
            <a:off x="5298948" y="4389120"/>
            <a:ext cx="1719072" cy="1554480"/>
          </a:xfrm>
          <a:prstGeom prst="rect">
            <a:avLst/>
          </a:prstGeom>
          <a:noFill/>
          <a:ln/>
        </p:spPr>
        <p:txBody>
          <a:bodyPr wrap="square" lIns="0" tIns="0" rIns="0" bIns="0" rtlCol="0" anchor="ctr"/>
          <a:lstStyle/>
          <a:p>
            <a:pPr indent="0" marL="0">
              <a:buNone/>
            </a:pPr>
            <a:r>
              <a:rPr lang="en-US" sz="1150" dirty="0">
                <a:solidFill>
                  <a:srgbClr val="CADCFC"/>
                </a:solidFill>
                <a:latin typeface="Arial" pitchFamily="34" charset="0"/>
                <a:ea typeface="Arial" pitchFamily="34" charset="-122"/>
                <a:cs typeface="Arial" pitchFamily="34" charset="-120"/>
              </a:rPr>
              <a:t>Products, applications, EMI engine, schedules</a:t>
            </a:r>
            <a:endParaRPr lang="en-US" sz="1150" dirty="0"/>
          </a:p>
        </p:txBody>
      </p:sp>
      <p:sp>
        <p:nvSpPr>
          <p:cNvPr id="27" name="Shape 25"/>
          <p:cNvSpPr/>
          <p:nvPr/>
        </p:nvSpPr>
        <p:spPr>
          <a:xfrm>
            <a:off x="7959852" y="2029968"/>
            <a:ext cx="603504" cy="603504"/>
          </a:xfrm>
          <a:prstGeom prst="ellipse">
            <a:avLst/>
          </a:prstGeom>
          <a:solidFill>
            <a:srgbClr val="9B6BD8"/>
          </a:solidFill>
          <a:ln w="38100">
            <a:solidFill>
              <a:srgbClr val="1E2761"/>
            </a:solidFill>
            <a:prstDash val="solid"/>
          </a:ln>
          <a:effectLst>
            <a:outerShdw sx="100000" sy="100000" kx="0" ky="0" algn="bl" rotWithShape="0" blurRad="114300" dist="38100" dir="5400000">
              <a:srgbClr val="1A2440">
                <a:alpha val="16000"/>
              </a:srgbClr>
            </a:outerShdw>
          </a:effectLst>
        </p:spPr>
      </p:sp>
      <p:sp>
        <p:nvSpPr>
          <p:cNvPr id="28" name="Text 26"/>
          <p:cNvSpPr/>
          <p:nvPr/>
        </p:nvSpPr>
        <p:spPr>
          <a:xfrm>
            <a:off x="7959852" y="2029968"/>
            <a:ext cx="603504" cy="603504"/>
          </a:xfrm>
          <a:prstGeom prst="rect">
            <a:avLst/>
          </a:prstGeom>
          <a:noFill/>
          <a:ln/>
        </p:spPr>
        <p:txBody>
          <a:bodyPr wrap="square" lIns="0" tIns="0" rIns="0" bIns="0" rtlCol="0" anchor="ctr"/>
          <a:lstStyle/>
          <a:p>
            <a:pPr algn="ctr" indent="0" marL="0">
              <a:buNone/>
            </a:pPr>
            <a:r>
              <a:rPr lang="en-US" sz="1500" b="1" dirty="0">
                <a:solidFill>
                  <a:srgbClr val="1E2761"/>
                </a:solidFill>
                <a:latin typeface="Bookman Old Style" pitchFamily="34" charset="0"/>
                <a:ea typeface="Bookman Old Style" pitchFamily="34" charset="-122"/>
                <a:cs typeface="Bookman Old Style" pitchFamily="34" charset="-120"/>
              </a:rPr>
              <a:t>S4</a:t>
            </a:r>
            <a:endParaRPr lang="en-US" sz="1500" dirty="0"/>
          </a:p>
        </p:txBody>
      </p:sp>
      <p:sp>
        <p:nvSpPr>
          <p:cNvPr id="29" name="Shape 27"/>
          <p:cNvSpPr/>
          <p:nvPr/>
        </p:nvSpPr>
        <p:spPr>
          <a:xfrm>
            <a:off x="7264908" y="2971800"/>
            <a:ext cx="1993392" cy="3063240"/>
          </a:xfrm>
          <a:prstGeom prst="roundRect">
            <a:avLst>
              <a:gd name="adj" fmla="val 3670"/>
            </a:avLst>
          </a:prstGeom>
          <a:solidFill>
            <a:srgbClr val="16203F"/>
          </a:solidFill>
          <a:ln w="12700">
            <a:solidFill>
              <a:srgbClr val="2C3A63"/>
            </a:solidFill>
            <a:prstDash val="solid"/>
          </a:ln>
        </p:spPr>
      </p:sp>
      <p:sp>
        <p:nvSpPr>
          <p:cNvPr id="30" name="Text 28"/>
          <p:cNvSpPr/>
          <p:nvPr/>
        </p:nvSpPr>
        <p:spPr>
          <a:xfrm>
            <a:off x="7411212" y="3136392"/>
            <a:ext cx="1719072" cy="274320"/>
          </a:xfrm>
          <a:prstGeom prst="rect">
            <a:avLst/>
          </a:prstGeom>
          <a:noFill/>
          <a:ln/>
        </p:spPr>
        <p:txBody>
          <a:bodyPr wrap="square" lIns="0" tIns="0" rIns="0" bIns="0" rtlCol="0" anchor="ctr"/>
          <a:lstStyle/>
          <a:p>
            <a:pPr indent="0" marL="0">
              <a:buNone/>
            </a:pPr>
            <a:r>
              <a:rPr lang="en-US" sz="1000" b="1" spc="100" kern="0" dirty="0">
                <a:solidFill>
                  <a:srgbClr val="9B6BD8"/>
                </a:solidFill>
                <a:latin typeface="Arial" pitchFamily="34" charset="0"/>
                <a:ea typeface="Arial" pitchFamily="34" charset="-122"/>
                <a:cs typeface="Arial" pitchFamily="34" charset="-120"/>
              </a:rPr>
              <a:t>DAYS 31–40</a:t>
            </a:r>
            <a:endParaRPr lang="en-US" sz="1000" dirty="0"/>
          </a:p>
        </p:txBody>
      </p:sp>
      <p:sp>
        <p:nvSpPr>
          <p:cNvPr id="31" name="Text 29"/>
          <p:cNvSpPr/>
          <p:nvPr/>
        </p:nvSpPr>
        <p:spPr>
          <a:xfrm>
            <a:off x="7411212" y="3429000"/>
            <a:ext cx="1719072" cy="914400"/>
          </a:xfrm>
          <a:prstGeom prst="rect">
            <a:avLst/>
          </a:prstGeom>
          <a:noFill/>
          <a:ln/>
        </p:spPr>
        <p:txBody>
          <a:bodyPr wrap="square" lIns="0" tIns="0" rIns="0" bIns="0" rtlCol="0" anchor="ctr"/>
          <a:lstStyle/>
          <a:p>
            <a:pPr indent="0" marL="0">
              <a:buNone/>
            </a:pPr>
            <a:r>
              <a:rPr lang="en-US" sz="1450" b="1" dirty="0">
                <a:solidFill>
                  <a:srgbClr val="FFFFFF"/>
                </a:solidFill>
                <a:latin typeface="Bookman Old Style" pitchFamily="34" charset="0"/>
                <a:ea typeface="Bookman Old Style" pitchFamily="34" charset="-122"/>
                <a:cs typeface="Bookman Old Style" pitchFamily="34" charset="-120"/>
              </a:rPr>
              <a:t>Insights &amp; Admin Controls</a:t>
            </a:r>
            <a:endParaRPr lang="en-US" sz="1450" dirty="0"/>
          </a:p>
        </p:txBody>
      </p:sp>
      <p:sp>
        <p:nvSpPr>
          <p:cNvPr id="32" name="Text 30"/>
          <p:cNvSpPr/>
          <p:nvPr/>
        </p:nvSpPr>
        <p:spPr>
          <a:xfrm>
            <a:off x="7411212" y="4389120"/>
            <a:ext cx="1719072" cy="1554480"/>
          </a:xfrm>
          <a:prstGeom prst="rect">
            <a:avLst/>
          </a:prstGeom>
          <a:noFill/>
          <a:ln/>
        </p:spPr>
        <p:txBody>
          <a:bodyPr wrap="square" lIns="0" tIns="0" rIns="0" bIns="0" rtlCol="0" anchor="ctr"/>
          <a:lstStyle/>
          <a:p>
            <a:pPr indent="0" marL="0">
              <a:buNone/>
            </a:pPr>
            <a:r>
              <a:rPr lang="en-US" sz="1150" dirty="0">
                <a:solidFill>
                  <a:srgbClr val="CADCFC"/>
                </a:solidFill>
                <a:latin typeface="Arial" pitchFamily="34" charset="0"/>
                <a:ea typeface="Arial" pitchFamily="34" charset="-122"/>
                <a:cs typeface="Arial" pitchFamily="34" charset="-120"/>
              </a:rPr>
              <a:t>Net-worth, admin dashboards, approvals</a:t>
            </a:r>
            <a:endParaRPr lang="en-US" sz="1150" dirty="0"/>
          </a:p>
        </p:txBody>
      </p:sp>
      <p:sp>
        <p:nvSpPr>
          <p:cNvPr id="33" name="Shape 31"/>
          <p:cNvSpPr/>
          <p:nvPr/>
        </p:nvSpPr>
        <p:spPr>
          <a:xfrm>
            <a:off x="10072116" y="2029968"/>
            <a:ext cx="603504" cy="603504"/>
          </a:xfrm>
          <a:prstGeom prst="ellipse">
            <a:avLst/>
          </a:prstGeom>
          <a:solidFill>
            <a:srgbClr val="E8654F"/>
          </a:solidFill>
          <a:ln w="38100">
            <a:solidFill>
              <a:srgbClr val="1E2761"/>
            </a:solidFill>
            <a:prstDash val="solid"/>
          </a:ln>
          <a:effectLst>
            <a:outerShdw sx="100000" sy="100000" kx="0" ky="0" algn="bl" rotWithShape="0" blurRad="114300" dist="38100" dir="5400000">
              <a:srgbClr val="1A2440">
                <a:alpha val="16000"/>
              </a:srgbClr>
            </a:outerShdw>
          </a:effectLst>
        </p:spPr>
      </p:sp>
      <p:sp>
        <p:nvSpPr>
          <p:cNvPr id="34" name="Text 32"/>
          <p:cNvSpPr/>
          <p:nvPr/>
        </p:nvSpPr>
        <p:spPr>
          <a:xfrm>
            <a:off x="10072116" y="2029968"/>
            <a:ext cx="603504" cy="603504"/>
          </a:xfrm>
          <a:prstGeom prst="rect">
            <a:avLst/>
          </a:prstGeom>
          <a:noFill/>
          <a:ln/>
        </p:spPr>
        <p:txBody>
          <a:bodyPr wrap="square" lIns="0" tIns="0" rIns="0" bIns="0" rtlCol="0" anchor="ctr"/>
          <a:lstStyle/>
          <a:p>
            <a:pPr algn="ctr" indent="0" marL="0">
              <a:buNone/>
            </a:pPr>
            <a:r>
              <a:rPr lang="en-US" sz="1500" b="1" dirty="0">
                <a:solidFill>
                  <a:srgbClr val="1E2761"/>
                </a:solidFill>
                <a:latin typeface="Bookman Old Style" pitchFamily="34" charset="0"/>
                <a:ea typeface="Bookman Old Style" pitchFamily="34" charset="-122"/>
                <a:cs typeface="Bookman Old Style" pitchFamily="34" charset="-120"/>
              </a:rPr>
              <a:t>S5</a:t>
            </a:r>
            <a:endParaRPr lang="en-US" sz="1500" dirty="0"/>
          </a:p>
        </p:txBody>
      </p:sp>
      <p:sp>
        <p:nvSpPr>
          <p:cNvPr id="35" name="Shape 33"/>
          <p:cNvSpPr/>
          <p:nvPr/>
        </p:nvSpPr>
        <p:spPr>
          <a:xfrm>
            <a:off x="9377172" y="2971800"/>
            <a:ext cx="1993392" cy="3063240"/>
          </a:xfrm>
          <a:prstGeom prst="roundRect">
            <a:avLst>
              <a:gd name="adj" fmla="val 3670"/>
            </a:avLst>
          </a:prstGeom>
          <a:solidFill>
            <a:srgbClr val="16203F"/>
          </a:solidFill>
          <a:ln w="12700">
            <a:solidFill>
              <a:srgbClr val="2C3A63"/>
            </a:solidFill>
            <a:prstDash val="solid"/>
          </a:ln>
        </p:spPr>
      </p:sp>
      <p:sp>
        <p:nvSpPr>
          <p:cNvPr id="36" name="Text 34"/>
          <p:cNvSpPr/>
          <p:nvPr/>
        </p:nvSpPr>
        <p:spPr>
          <a:xfrm>
            <a:off x="9523476" y="3136392"/>
            <a:ext cx="1719072" cy="274320"/>
          </a:xfrm>
          <a:prstGeom prst="rect">
            <a:avLst/>
          </a:prstGeom>
          <a:noFill/>
          <a:ln/>
        </p:spPr>
        <p:txBody>
          <a:bodyPr wrap="square" lIns="0" tIns="0" rIns="0" bIns="0" rtlCol="0" anchor="ctr"/>
          <a:lstStyle/>
          <a:p>
            <a:pPr indent="0" marL="0">
              <a:buNone/>
            </a:pPr>
            <a:r>
              <a:rPr lang="en-US" sz="1000" b="1" spc="100" kern="0" dirty="0">
                <a:solidFill>
                  <a:srgbClr val="E8654F"/>
                </a:solidFill>
                <a:latin typeface="Arial" pitchFamily="34" charset="0"/>
                <a:ea typeface="Arial" pitchFamily="34" charset="-122"/>
                <a:cs typeface="Arial" pitchFamily="34" charset="-120"/>
              </a:rPr>
              <a:t>DAYS 41–60</a:t>
            </a:r>
            <a:endParaRPr lang="en-US" sz="1000" dirty="0"/>
          </a:p>
        </p:txBody>
      </p:sp>
      <p:sp>
        <p:nvSpPr>
          <p:cNvPr id="37" name="Text 35"/>
          <p:cNvSpPr/>
          <p:nvPr/>
        </p:nvSpPr>
        <p:spPr>
          <a:xfrm>
            <a:off x="9523476" y="3429000"/>
            <a:ext cx="1719072" cy="914400"/>
          </a:xfrm>
          <a:prstGeom prst="rect">
            <a:avLst/>
          </a:prstGeom>
          <a:noFill/>
          <a:ln/>
        </p:spPr>
        <p:txBody>
          <a:bodyPr wrap="square" lIns="0" tIns="0" rIns="0" bIns="0" rtlCol="0" anchor="ctr"/>
          <a:lstStyle/>
          <a:p>
            <a:pPr indent="0" marL="0">
              <a:buNone/>
            </a:pPr>
            <a:r>
              <a:rPr lang="en-US" sz="1450" b="1" dirty="0">
                <a:solidFill>
                  <a:srgbClr val="FFFFFF"/>
                </a:solidFill>
                <a:latin typeface="Bookman Old Style" pitchFamily="34" charset="0"/>
                <a:ea typeface="Bookman Old Style" pitchFamily="34" charset="-122"/>
                <a:cs typeface="Bookman Old Style" pitchFamily="34" charset="-120"/>
              </a:rPr>
              <a:t>Analytics, Deploy &amp; Handover</a:t>
            </a:r>
            <a:endParaRPr lang="en-US" sz="1450" dirty="0"/>
          </a:p>
        </p:txBody>
      </p:sp>
      <p:sp>
        <p:nvSpPr>
          <p:cNvPr id="38" name="Text 36"/>
          <p:cNvSpPr/>
          <p:nvPr/>
        </p:nvSpPr>
        <p:spPr>
          <a:xfrm>
            <a:off x="9523476" y="4389120"/>
            <a:ext cx="1719072" cy="1554480"/>
          </a:xfrm>
          <a:prstGeom prst="rect">
            <a:avLst/>
          </a:prstGeom>
          <a:noFill/>
          <a:ln/>
        </p:spPr>
        <p:txBody>
          <a:bodyPr wrap="square" lIns="0" tIns="0" rIns="0" bIns="0" rtlCol="0" anchor="ctr"/>
          <a:lstStyle/>
          <a:p>
            <a:pPr indent="0" marL="0">
              <a:buNone/>
            </a:pPr>
            <a:r>
              <a:rPr lang="en-US" sz="1150" dirty="0">
                <a:solidFill>
                  <a:srgbClr val="CADCFC"/>
                </a:solidFill>
                <a:latin typeface="Arial" pitchFamily="34" charset="0"/>
                <a:ea typeface="Arial" pitchFamily="34" charset="-122"/>
                <a:cs typeface="Arial" pitchFamily="34" charset="-120"/>
              </a:rPr>
              <a:t>Charts, audit log, caching, Docker, docs</a:t>
            </a:r>
            <a:endParaRPr lang="en-US" sz="1150" dirty="0"/>
          </a:p>
        </p:txBody>
      </p:sp>
      <p:sp>
        <p:nvSpPr>
          <p:cNvPr id="39" name="Text 37"/>
          <p:cNvSpPr/>
          <p:nvPr/>
        </p:nvSpPr>
        <p:spPr>
          <a:xfrm>
            <a:off x="640080" y="6172200"/>
            <a:ext cx="10972800" cy="365760"/>
          </a:xfrm>
          <a:prstGeom prst="rect">
            <a:avLst/>
          </a:prstGeom>
          <a:noFill/>
          <a:ln/>
        </p:spPr>
        <p:txBody>
          <a:bodyPr wrap="square" lIns="0" tIns="0" rIns="0" bIns="0" rtlCol="0" anchor="ctr"/>
          <a:lstStyle/>
          <a:p>
            <a:pPr algn="ctr" indent="0" marL="0">
              <a:buNone/>
            </a:pPr>
            <a:r>
              <a:rPr lang="en-US" sz="1250" i="1" dirty="0">
                <a:solidFill>
                  <a:srgbClr val="CADCFC"/>
                </a:solidFill>
                <a:latin typeface="Arial" pitchFamily="34" charset="0"/>
                <a:ea typeface="Arial" pitchFamily="34" charset="-122"/>
                <a:cs typeface="Arial" pitchFamily="34" charset="-120"/>
              </a:rPr>
              <a:t>Integration was continuous — each feature wired end-to-end within the sprint it was built.</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822960" cy="502920"/>
          </a:xfrm>
          <a:prstGeom prst="rect">
            <a:avLst/>
          </a:prstGeom>
          <a:noFill/>
          <a:ln/>
        </p:spPr>
        <p:txBody>
          <a:bodyPr wrap="square" lIns="0" tIns="0" rIns="0" bIns="0" rtlCol="0" anchor="ctr"/>
          <a:lstStyle/>
          <a:p>
            <a:pPr indent="0" marL="0">
              <a:buNone/>
            </a:pPr>
            <a:r>
              <a:rPr lang="en-US" sz="2600" b="1" dirty="0">
                <a:solidFill>
                  <a:srgbClr val="CADCFC"/>
                </a:solidFill>
                <a:latin typeface="Bookman Old Style" pitchFamily="34" charset="0"/>
                <a:ea typeface="Bookman Old Style" pitchFamily="34" charset="-122"/>
                <a:cs typeface="Bookman Old Style" pitchFamily="34" charset="-120"/>
              </a:rPr>
              <a:t>18</a:t>
            </a:r>
            <a:endParaRPr lang="en-US" sz="2600" dirty="0"/>
          </a:p>
        </p:txBody>
      </p:sp>
      <p:sp>
        <p:nvSpPr>
          <p:cNvPr id="3" name="Shape 1"/>
          <p:cNvSpPr/>
          <p:nvPr/>
        </p:nvSpPr>
        <p:spPr>
          <a:xfrm>
            <a:off x="1078992" y="457200"/>
            <a:ext cx="25603" cy="384048"/>
          </a:xfrm>
          <a:prstGeom prst="rect">
            <a:avLst/>
          </a:prstGeom>
          <a:solidFill>
            <a:srgbClr val="1E2761"/>
          </a:solidFill>
          <a:ln/>
        </p:spPr>
      </p:sp>
      <p:sp>
        <p:nvSpPr>
          <p:cNvPr id="4" name="Text 2"/>
          <p:cNvSpPr/>
          <p:nvPr/>
        </p:nvSpPr>
        <p:spPr>
          <a:xfrm>
            <a:off x="1225296" y="365760"/>
            <a:ext cx="9601200" cy="274320"/>
          </a:xfrm>
          <a:prstGeom prst="rect">
            <a:avLst/>
          </a:prstGeom>
          <a:noFill/>
          <a:ln/>
        </p:spPr>
        <p:txBody>
          <a:bodyPr wrap="square" lIns="0" tIns="0" rIns="0" bIns="0" rtlCol="0" anchor="ctr"/>
          <a:lstStyle/>
          <a:p>
            <a:pPr indent="0" marL="0">
              <a:buNone/>
            </a:pPr>
            <a:r>
              <a:rPr lang="en-US" sz="1150" b="1" spc="300" kern="0" dirty="0">
                <a:solidFill>
                  <a:srgbClr val="1E2761"/>
                </a:solidFill>
                <a:latin typeface="Arial" pitchFamily="34" charset="0"/>
                <a:ea typeface="Arial" pitchFamily="34" charset="-122"/>
                <a:cs typeface="Arial" pitchFamily="34" charset="-120"/>
              </a:rPr>
              <a:t>SOLO DELIVERY</a:t>
            </a:r>
            <a:endParaRPr lang="en-US" sz="1150" dirty="0"/>
          </a:p>
        </p:txBody>
      </p:sp>
      <p:sp>
        <p:nvSpPr>
          <p:cNvPr id="5" name="Text 3"/>
          <p:cNvSpPr/>
          <p:nvPr/>
        </p:nvSpPr>
        <p:spPr>
          <a:xfrm>
            <a:off x="1207008" y="603504"/>
            <a:ext cx="10424160" cy="566928"/>
          </a:xfrm>
          <a:prstGeom prst="rect">
            <a:avLst/>
          </a:prstGeom>
          <a:noFill/>
          <a:ln/>
        </p:spPr>
        <p:txBody>
          <a:bodyPr wrap="square" lIns="0" tIns="0" rIns="0" bIns="0" rtlCol="0" anchor="ctr"/>
          <a:lstStyle/>
          <a:p>
            <a:pPr indent="0" marL="0">
              <a:buNone/>
            </a:pPr>
            <a:r>
              <a:rPr lang="en-US" sz="2700" b="1" dirty="0">
                <a:solidFill>
                  <a:srgbClr val="1B2335"/>
                </a:solidFill>
                <a:latin typeface="Bookman Old Style" pitchFamily="34" charset="0"/>
                <a:ea typeface="Bookman Old Style" pitchFamily="34" charset="-122"/>
                <a:cs typeface="Bookman Old Style" pitchFamily="34" charset="-120"/>
              </a:rPr>
              <a:t>Contributions &amp; Module Ownership</a:t>
            </a:r>
            <a:endParaRPr lang="en-US" sz="2700" dirty="0"/>
          </a:p>
        </p:txBody>
      </p:sp>
      <p:sp>
        <p:nvSpPr>
          <p:cNvPr id="6" name="Shape 4"/>
          <p:cNvSpPr/>
          <p:nvPr/>
        </p:nvSpPr>
        <p:spPr>
          <a:xfrm>
            <a:off x="548640" y="1572768"/>
            <a:ext cx="3529584" cy="1783080"/>
          </a:xfrm>
          <a:prstGeom prst="roundRect">
            <a:avLst>
              <a:gd name="adj" fmla="val 4615"/>
            </a:avLst>
          </a:prstGeom>
          <a:solidFill>
            <a:srgbClr val="F4F7FC"/>
          </a:solidFill>
          <a:ln/>
          <a:effectLst>
            <a:outerShdw sx="100000" sy="100000" kx="0" ky="0" algn="bl" rotWithShape="0" blurRad="114300" dist="38100" dir="5400000">
              <a:srgbClr val="1A2440">
                <a:alpha val="16000"/>
              </a:srgbClr>
            </a:outerShdw>
          </a:effectLst>
        </p:spPr>
      </p:sp>
      <p:sp>
        <p:nvSpPr>
          <p:cNvPr id="7" name="Shape 5"/>
          <p:cNvSpPr/>
          <p:nvPr/>
        </p:nvSpPr>
        <p:spPr>
          <a:xfrm>
            <a:off x="786384" y="1810512"/>
            <a:ext cx="731520" cy="731520"/>
          </a:xfrm>
          <a:prstGeom prst="ellipse">
            <a:avLst/>
          </a:prstGeom>
          <a:solidFill>
            <a:srgbClr val="E8654F"/>
          </a:solidFill>
          <a:ln/>
          <a:effectLst>
            <a:outerShdw sx="100000" sy="100000" kx="0" ky="0" algn="bl" rotWithShape="0" blurRad="114300" dist="38100" dir="5400000">
              <a:srgbClr val="1A2440">
                <a:alpha val="16000"/>
              </a:srgbClr>
            </a:outerShdw>
          </a:effectLst>
        </p:spPr>
      </p:sp>
      <p:pic>
        <p:nvPicPr>
          <p:cNvPr id="8" name="Image 0" descr="/home/claude/build/icons/user_white.png"/>
          <p:cNvPicPr>
            <a:picLocks noChangeAspect="1"/>
          </p:cNvPicPr>
          <p:nvPr/>
        </p:nvPicPr>
        <p:blipFill>
          <a:blip r:embed="rId1"/>
          <a:stretch>
            <a:fillRect/>
          </a:stretch>
        </p:blipFill>
        <p:spPr>
          <a:xfrm>
            <a:off x="976579" y="2000707"/>
            <a:ext cx="351130" cy="351130"/>
          </a:xfrm>
          <a:prstGeom prst="rect">
            <a:avLst/>
          </a:prstGeom>
        </p:spPr>
      </p:pic>
      <p:sp>
        <p:nvSpPr>
          <p:cNvPr id="9" name="Text 6"/>
          <p:cNvSpPr/>
          <p:nvPr/>
        </p:nvSpPr>
        <p:spPr>
          <a:xfrm>
            <a:off x="1645920" y="1810512"/>
            <a:ext cx="2249424" cy="365760"/>
          </a:xfrm>
          <a:prstGeom prst="rect">
            <a:avLst/>
          </a:prstGeom>
          <a:noFill/>
          <a:ln/>
        </p:spPr>
        <p:txBody>
          <a:bodyPr wrap="square" lIns="0" tIns="0" rIns="0" bIns="0" rtlCol="0" anchor="ctr"/>
          <a:lstStyle/>
          <a:p>
            <a:pPr indent="0" marL="0">
              <a:buNone/>
            </a:pPr>
            <a:r>
              <a:rPr lang="en-US" sz="1700" b="1" dirty="0">
                <a:solidFill>
                  <a:srgbClr val="1B2335"/>
                </a:solidFill>
                <a:latin typeface="Bookman Old Style" pitchFamily="34" charset="0"/>
                <a:ea typeface="Bookman Old Style" pitchFamily="34" charset="-122"/>
                <a:cs typeface="Bookman Old Style" pitchFamily="34" charset="-120"/>
              </a:rPr>
              <a:t>Phase 1</a:t>
            </a:r>
            <a:endParaRPr lang="en-US" sz="1700" dirty="0"/>
          </a:p>
        </p:txBody>
      </p:sp>
      <p:sp>
        <p:nvSpPr>
          <p:cNvPr id="10" name="Text 7"/>
          <p:cNvSpPr/>
          <p:nvPr/>
        </p:nvSpPr>
        <p:spPr>
          <a:xfrm>
            <a:off x="1645920" y="2231136"/>
            <a:ext cx="2295144" cy="411480"/>
          </a:xfrm>
          <a:prstGeom prst="rect">
            <a:avLst/>
          </a:prstGeom>
          <a:noFill/>
          <a:ln/>
        </p:spPr>
        <p:txBody>
          <a:bodyPr wrap="square" lIns="0" tIns="0" rIns="0" bIns="0" rtlCol="0" anchor="ctr"/>
          <a:lstStyle/>
          <a:p>
            <a:pPr indent="0" marL="0">
              <a:buNone/>
            </a:pPr>
            <a:r>
              <a:rPr lang="en-US" sz="1050" b="1" spc="80" kern="0" dirty="0">
                <a:solidFill>
                  <a:srgbClr val="E8654F"/>
                </a:solidFill>
                <a:latin typeface="Arial" pitchFamily="34" charset="0"/>
                <a:ea typeface="Arial" pitchFamily="34" charset="-122"/>
                <a:cs typeface="Arial" pitchFamily="34" charset="-120"/>
              </a:rPr>
              <a:t>AUTHENTICATION &amp; ACCOUNTS</a:t>
            </a:r>
            <a:endParaRPr lang="en-US" sz="1050" dirty="0"/>
          </a:p>
        </p:txBody>
      </p:sp>
      <p:sp>
        <p:nvSpPr>
          <p:cNvPr id="11" name="Text 8"/>
          <p:cNvSpPr/>
          <p:nvPr/>
        </p:nvSpPr>
        <p:spPr>
          <a:xfrm>
            <a:off x="804672" y="2670048"/>
            <a:ext cx="3026664" cy="603504"/>
          </a:xfrm>
          <a:prstGeom prst="rect">
            <a:avLst/>
          </a:prstGeom>
          <a:noFill/>
          <a:ln/>
        </p:spPr>
        <p:txBody>
          <a:bodyPr wrap="square" lIns="0" tIns="0" rIns="0" bIns="0" rtlCol="0" anchor="ctr"/>
          <a:lstStyle/>
          <a:p>
            <a:pPr indent="0" marL="0">
              <a:buNone/>
            </a:pPr>
            <a:r>
              <a:rPr lang="en-US" sz="1180" dirty="0">
                <a:solidFill>
                  <a:srgbClr val="5A6B8C"/>
                </a:solidFill>
                <a:latin typeface="Arial" pitchFamily="34" charset="0"/>
                <a:ea typeface="Arial" pitchFamily="34" charset="-122"/>
                <a:cs typeface="Arial" pitchFamily="34" charset="-120"/>
              </a:rPr>
              <a:t>JWT security chain, BCrypt, account lifecycle &amp; approval</a:t>
            </a:r>
            <a:endParaRPr lang="en-US" sz="1180" dirty="0"/>
          </a:p>
        </p:txBody>
      </p:sp>
      <p:sp>
        <p:nvSpPr>
          <p:cNvPr id="12" name="Shape 9"/>
          <p:cNvSpPr/>
          <p:nvPr/>
        </p:nvSpPr>
        <p:spPr>
          <a:xfrm>
            <a:off x="4325112" y="1572768"/>
            <a:ext cx="3529584" cy="1783080"/>
          </a:xfrm>
          <a:prstGeom prst="roundRect">
            <a:avLst>
              <a:gd name="adj" fmla="val 4615"/>
            </a:avLst>
          </a:prstGeom>
          <a:solidFill>
            <a:srgbClr val="F4F7FC"/>
          </a:solidFill>
          <a:ln/>
          <a:effectLst>
            <a:outerShdw sx="100000" sy="100000" kx="0" ky="0" algn="bl" rotWithShape="0" blurRad="114300" dist="38100" dir="5400000">
              <a:srgbClr val="1A2440">
                <a:alpha val="16000"/>
              </a:srgbClr>
            </a:outerShdw>
          </a:effectLst>
        </p:spPr>
      </p:sp>
      <p:sp>
        <p:nvSpPr>
          <p:cNvPr id="13" name="Shape 10"/>
          <p:cNvSpPr/>
          <p:nvPr/>
        </p:nvSpPr>
        <p:spPr>
          <a:xfrm>
            <a:off x="4562856" y="1810512"/>
            <a:ext cx="731520" cy="731520"/>
          </a:xfrm>
          <a:prstGeom prst="ellipse">
            <a:avLst/>
          </a:prstGeom>
          <a:solidFill>
            <a:srgbClr val="3FB984"/>
          </a:solidFill>
          <a:ln/>
          <a:effectLst>
            <a:outerShdw sx="100000" sy="100000" kx="0" ky="0" algn="bl" rotWithShape="0" blurRad="114300" dist="38100" dir="5400000">
              <a:srgbClr val="1A2440">
                <a:alpha val="16000"/>
              </a:srgbClr>
            </a:outerShdw>
          </a:effectLst>
        </p:spPr>
      </p:sp>
      <p:pic>
        <p:nvPicPr>
          <p:cNvPr id="14" name="Image 1" descr="/home/claude/build/icons/exchange_white.png"/>
          <p:cNvPicPr>
            <a:picLocks noChangeAspect="1"/>
          </p:cNvPicPr>
          <p:nvPr/>
        </p:nvPicPr>
        <p:blipFill>
          <a:blip r:embed="rId2"/>
          <a:stretch>
            <a:fillRect/>
          </a:stretch>
        </p:blipFill>
        <p:spPr>
          <a:xfrm>
            <a:off x="4753051" y="2000707"/>
            <a:ext cx="351130" cy="351130"/>
          </a:xfrm>
          <a:prstGeom prst="rect">
            <a:avLst/>
          </a:prstGeom>
        </p:spPr>
      </p:pic>
      <p:sp>
        <p:nvSpPr>
          <p:cNvPr id="15" name="Text 11"/>
          <p:cNvSpPr/>
          <p:nvPr/>
        </p:nvSpPr>
        <p:spPr>
          <a:xfrm>
            <a:off x="5422392" y="1810512"/>
            <a:ext cx="2249424" cy="365760"/>
          </a:xfrm>
          <a:prstGeom prst="rect">
            <a:avLst/>
          </a:prstGeom>
          <a:noFill/>
          <a:ln/>
        </p:spPr>
        <p:txBody>
          <a:bodyPr wrap="square" lIns="0" tIns="0" rIns="0" bIns="0" rtlCol="0" anchor="ctr"/>
          <a:lstStyle/>
          <a:p>
            <a:pPr indent="0" marL="0">
              <a:buNone/>
            </a:pPr>
            <a:r>
              <a:rPr lang="en-US" sz="1700" b="1" dirty="0">
                <a:solidFill>
                  <a:srgbClr val="1B2335"/>
                </a:solidFill>
                <a:latin typeface="Bookman Old Style" pitchFamily="34" charset="0"/>
                <a:ea typeface="Bookman Old Style" pitchFamily="34" charset="-122"/>
                <a:cs typeface="Bookman Old Style" pitchFamily="34" charset="-120"/>
              </a:rPr>
              <a:t>Phase 2</a:t>
            </a:r>
            <a:endParaRPr lang="en-US" sz="1700" dirty="0"/>
          </a:p>
        </p:txBody>
      </p:sp>
      <p:sp>
        <p:nvSpPr>
          <p:cNvPr id="16" name="Text 12"/>
          <p:cNvSpPr/>
          <p:nvPr/>
        </p:nvSpPr>
        <p:spPr>
          <a:xfrm>
            <a:off x="5422392" y="2231136"/>
            <a:ext cx="2295144" cy="411480"/>
          </a:xfrm>
          <a:prstGeom prst="rect">
            <a:avLst/>
          </a:prstGeom>
          <a:noFill/>
          <a:ln/>
        </p:spPr>
        <p:txBody>
          <a:bodyPr wrap="square" lIns="0" tIns="0" rIns="0" bIns="0" rtlCol="0" anchor="ctr"/>
          <a:lstStyle/>
          <a:p>
            <a:pPr indent="0" marL="0">
              <a:buNone/>
            </a:pPr>
            <a:r>
              <a:rPr lang="en-US" sz="1050" b="1" spc="80" kern="0" dirty="0">
                <a:solidFill>
                  <a:srgbClr val="3FB984"/>
                </a:solidFill>
                <a:latin typeface="Arial" pitchFamily="34" charset="0"/>
                <a:ea typeface="Arial" pitchFamily="34" charset="-122"/>
                <a:cs typeface="Arial" pitchFamily="34" charset="-120"/>
              </a:rPr>
              <a:t>TRANSACTIONS &amp; TRANSFERS</a:t>
            </a:r>
            <a:endParaRPr lang="en-US" sz="1050" dirty="0"/>
          </a:p>
        </p:txBody>
      </p:sp>
      <p:sp>
        <p:nvSpPr>
          <p:cNvPr id="17" name="Text 13"/>
          <p:cNvSpPr/>
          <p:nvPr/>
        </p:nvSpPr>
        <p:spPr>
          <a:xfrm>
            <a:off x="4581144" y="2670048"/>
            <a:ext cx="3026664" cy="603504"/>
          </a:xfrm>
          <a:prstGeom prst="rect">
            <a:avLst/>
          </a:prstGeom>
          <a:noFill/>
          <a:ln/>
        </p:spPr>
        <p:txBody>
          <a:bodyPr wrap="square" lIns="0" tIns="0" rIns="0" bIns="0" rtlCol="0" anchor="ctr"/>
          <a:lstStyle/>
          <a:p>
            <a:pPr indent="0" marL="0">
              <a:buNone/>
            </a:pPr>
            <a:r>
              <a:rPr lang="en-US" sz="1180" dirty="0">
                <a:solidFill>
                  <a:srgbClr val="5A6B8C"/>
                </a:solidFill>
                <a:latin typeface="Arial" pitchFamily="34" charset="0"/>
                <a:ea typeface="Arial" pitchFamily="34" charset="-122"/>
                <a:cs typeface="Arial" pitchFamily="34" charset="-120"/>
              </a:rPr>
              <a:t>Atomic transfers, debit/credit ledger, balance tracking</a:t>
            </a:r>
            <a:endParaRPr lang="en-US" sz="1180" dirty="0"/>
          </a:p>
        </p:txBody>
      </p:sp>
      <p:sp>
        <p:nvSpPr>
          <p:cNvPr id="18" name="Shape 14"/>
          <p:cNvSpPr/>
          <p:nvPr/>
        </p:nvSpPr>
        <p:spPr>
          <a:xfrm>
            <a:off x="8101584" y="1572768"/>
            <a:ext cx="3529584" cy="1783080"/>
          </a:xfrm>
          <a:prstGeom prst="roundRect">
            <a:avLst>
              <a:gd name="adj" fmla="val 4615"/>
            </a:avLst>
          </a:prstGeom>
          <a:solidFill>
            <a:srgbClr val="F4F7FC"/>
          </a:solidFill>
          <a:ln/>
          <a:effectLst>
            <a:outerShdw sx="100000" sy="100000" kx="0" ky="0" algn="bl" rotWithShape="0" blurRad="114300" dist="38100" dir="5400000">
              <a:srgbClr val="1A2440">
                <a:alpha val="16000"/>
              </a:srgbClr>
            </a:outerShdw>
          </a:effectLst>
        </p:spPr>
      </p:sp>
      <p:sp>
        <p:nvSpPr>
          <p:cNvPr id="19" name="Shape 15"/>
          <p:cNvSpPr/>
          <p:nvPr/>
        </p:nvSpPr>
        <p:spPr>
          <a:xfrm>
            <a:off x="8339328" y="1810512"/>
            <a:ext cx="731520" cy="731520"/>
          </a:xfrm>
          <a:prstGeom prst="ellipse">
            <a:avLst/>
          </a:prstGeom>
          <a:solidFill>
            <a:srgbClr val="9B6BD8"/>
          </a:solidFill>
          <a:ln/>
          <a:effectLst>
            <a:outerShdw sx="100000" sy="100000" kx="0" ky="0" algn="bl" rotWithShape="0" blurRad="114300" dist="38100" dir="5400000">
              <a:srgbClr val="1A2440">
                <a:alpha val="16000"/>
              </a:srgbClr>
            </a:outerShdw>
          </a:effectLst>
        </p:spPr>
      </p:sp>
      <p:pic>
        <p:nvPicPr>
          <p:cNvPr id="20" name="Image 2" descr="/home/claude/build/icons/wallet_white.png"/>
          <p:cNvPicPr>
            <a:picLocks noChangeAspect="1"/>
          </p:cNvPicPr>
          <p:nvPr/>
        </p:nvPicPr>
        <p:blipFill>
          <a:blip r:embed="rId3"/>
          <a:stretch>
            <a:fillRect/>
          </a:stretch>
        </p:blipFill>
        <p:spPr>
          <a:xfrm>
            <a:off x="8529523" y="2000707"/>
            <a:ext cx="351130" cy="351130"/>
          </a:xfrm>
          <a:prstGeom prst="rect">
            <a:avLst/>
          </a:prstGeom>
        </p:spPr>
      </p:pic>
      <p:sp>
        <p:nvSpPr>
          <p:cNvPr id="21" name="Text 16"/>
          <p:cNvSpPr/>
          <p:nvPr/>
        </p:nvSpPr>
        <p:spPr>
          <a:xfrm>
            <a:off x="9198864" y="1810512"/>
            <a:ext cx="2249424" cy="365760"/>
          </a:xfrm>
          <a:prstGeom prst="rect">
            <a:avLst/>
          </a:prstGeom>
          <a:noFill/>
          <a:ln/>
        </p:spPr>
        <p:txBody>
          <a:bodyPr wrap="square" lIns="0" tIns="0" rIns="0" bIns="0" rtlCol="0" anchor="ctr"/>
          <a:lstStyle/>
          <a:p>
            <a:pPr indent="0" marL="0">
              <a:buNone/>
            </a:pPr>
            <a:r>
              <a:rPr lang="en-US" sz="1700" b="1" dirty="0">
                <a:solidFill>
                  <a:srgbClr val="1B2335"/>
                </a:solidFill>
                <a:latin typeface="Bookman Old Style" pitchFamily="34" charset="0"/>
                <a:ea typeface="Bookman Old Style" pitchFamily="34" charset="-122"/>
                <a:cs typeface="Bookman Old Style" pitchFamily="34" charset="-120"/>
              </a:rPr>
              <a:t>Phase 3</a:t>
            </a:r>
            <a:endParaRPr lang="en-US" sz="1700" dirty="0"/>
          </a:p>
        </p:txBody>
      </p:sp>
      <p:sp>
        <p:nvSpPr>
          <p:cNvPr id="22" name="Text 17"/>
          <p:cNvSpPr/>
          <p:nvPr/>
        </p:nvSpPr>
        <p:spPr>
          <a:xfrm>
            <a:off x="9198864" y="2231136"/>
            <a:ext cx="2295144" cy="411480"/>
          </a:xfrm>
          <a:prstGeom prst="rect">
            <a:avLst/>
          </a:prstGeom>
          <a:noFill/>
          <a:ln/>
        </p:spPr>
        <p:txBody>
          <a:bodyPr wrap="square" lIns="0" tIns="0" rIns="0" bIns="0" rtlCol="0" anchor="ctr"/>
          <a:lstStyle/>
          <a:p>
            <a:pPr indent="0" marL="0">
              <a:buNone/>
            </a:pPr>
            <a:r>
              <a:rPr lang="en-US" sz="1050" b="1" spc="80" kern="0" dirty="0">
                <a:solidFill>
                  <a:srgbClr val="9B6BD8"/>
                </a:solidFill>
                <a:latin typeface="Arial" pitchFamily="34" charset="0"/>
                <a:ea typeface="Arial" pitchFamily="34" charset="-122"/>
                <a:cs typeface="Arial" pitchFamily="34" charset="-120"/>
              </a:rPr>
              <a:t>BUDGETS, BILLS &amp; REWARDS</a:t>
            </a:r>
            <a:endParaRPr lang="en-US" sz="1050" dirty="0"/>
          </a:p>
        </p:txBody>
      </p:sp>
      <p:sp>
        <p:nvSpPr>
          <p:cNvPr id="23" name="Text 18"/>
          <p:cNvSpPr/>
          <p:nvPr/>
        </p:nvSpPr>
        <p:spPr>
          <a:xfrm>
            <a:off x="8357616" y="2670048"/>
            <a:ext cx="3026664" cy="603504"/>
          </a:xfrm>
          <a:prstGeom prst="rect">
            <a:avLst/>
          </a:prstGeom>
          <a:noFill/>
          <a:ln/>
        </p:spPr>
        <p:txBody>
          <a:bodyPr wrap="square" lIns="0" tIns="0" rIns="0" bIns="0" rtlCol="0" anchor="ctr"/>
          <a:lstStyle/>
          <a:p>
            <a:pPr indent="0" marL="0">
              <a:buNone/>
            </a:pPr>
            <a:r>
              <a:rPr lang="en-US" sz="1180" dirty="0">
                <a:solidFill>
                  <a:srgbClr val="5A6B8C"/>
                </a:solidFill>
                <a:latin typeface="Arial" pitchFamily="34" charset="0"/>
                <a:ea typeface="Arial" pitchFamily="34" charset="-122"/>
                <a:cs typeface="Arial" pitchFamily="34" charset="-120"/>
              </a:rPr>
              <a:t>Budget limits, bill states, loyalty-points accrual</a:t>
            </a:r>
            <a:endParaRPr lang="en-US" sz="1180" dirty="0"/>
          </a:p>
        </p:txBody>
      </p:sp>
      <p:sp>
        <p:nvSpPr>
          <p:cNvPr id="24" name="Shape 19"/>
          <p:cNvSpPr/>
          <p:nvPr/>
        </p:nvSpPr>
        <p:spPr>
          <a:xfrm>
            <a:off x="548640" y="3611880"/>
            <a:ext cx="3529584" cy="1783080"/>
          </a:xfrm>
          <a:prstGeom prst="roundRect">
            <a:avLst>
              <a:gd name="adj" fmla="val 4615"/>
            </a:avLst>
          </a:prstGeom>
          <a:solidFill>
            <a:srgbClr val="F4F7FC"/>
          </a:solidFill>
          <a:ln/>
          <a:effectLst>
            <a:outerShdw sx="100000" sy="100000" kx="0" ky="0" algn="bl" rotWithShape="0" blurRad="114300" dist="38100" dir="5400000">
              <a:srgbClr val="1A2440">
                <a:alpha val="16000"/>
              </a:srgbClr>
            </a:outerShdw>
          </a:effectLst>
        </p:spPr>
      </p:sp>
      <p:sp>
        <p:nvSpPr>
          <p:cNvPr id="25" name="Shape 20"/>
          <p:cNvSpPr/>
          <p:nvPr/>
        </p:nvSpPr>
        <p:spPr>
          <a:xfrm>
            <a:off x="786384" y="3849624"/>
            <a:ext cx="731520" cy="731520"/>
          </a:xfrm>
          <a:prstGeom prst="ellipse">
            <a:avLst/>
          </a:prstGeom>
          <a:solidFill>
            <a:srgbClr val="F2B441"/>
          </a:solidFill>
          <a:ln/>
          <a:effectLst>
            <a:outerShdw sx="100000" sy="100000" kx="0" ky="0" algn="bl" rotWithShape="0" blurRad="114300" dist="38100" dir="5400000">
              <a:srgbClr val="1A2440">
                <a:alpha val="16000"/>
              </a:srgbClr>
            </a:outerShdw>
          </a:effectLst>
        </p:spPr>
      </p:sp>
      <p:pic>
        <p:nvPicPr>
          <p:cNvPr id="26" name="Image 3" descr="/home/claude/build/icons/money_white.png"/>
          <p:cNvPicPr>
            <a:picLocks noChangeAspect="1"/>
          </p:cNvPicPr>
          <p:nvPr/>
        </p:nvPicPr>
        <p:blipFill>
          <a:blip r:embed="rId4"/>
          <a:stretch>
            <a:fillRect/>
          </a:stretch>
        </p:blipFill>
        <p:spPr>
          <a:xfrm>
            <a:off x="976579" y="4039819"/>
            <a:ext cx="351130" cy="351130"/>
          </a:xfrm>
          <a:prstGeom prst="rect">
            <a:avLst/>
          </a:prstGeom>
        </p:spPr>
      </p:pic>
      <p:sp>
        <p:nvSpPr>
          <p:cNvPr id="27" name="Text 21"/>
          <p:cNvSpPr/>
          <p:nvPr/>
        </p:nvSpPr>
        <p:spPr>
          <a:xfrm>
            <a:off x="1645920" y="3849624"/>
            <a:ext cx="2249424" cy="365760"/>
          </a:xfrm>
          <a:prstGeom prst="rect">
            <a:avLst/>
          </a:prstGeom>
          <a:noFill/>
          <a:ln/>
        </p:spPr>
        <p:txBody>
          <a:bodyPr wrap="square" lIns="0" tIns="0" rIns="0" bIns="0" rtlCol="0" anchor="ctr"/>
          <a:lstStyle/>
          <a:p>
            <a:pPr indent="0" marL="0">
              <a:buNone/>
            </a:pPr>
            <a:r>
              <a:rPr lang="en-US" sz="1700" b="1" dirty="0">
                <a:solidFill>
                  <a:srgbClr val="1B2335"/>
                </a:solidFill>
                <a:latin typeface="Bookman Old Style" pitchFamily="34" charset="0"/>
                <a:ea typeface="Bookman Old Style" pitchFamily="34" charset="-122"/>
                <a:cs typeface="Bookman Old Style" pitchFamily="34" charset="-120"/>
              </a:rPr>
              <a:t>Phase 4</a:t>
            </a:r>
            <a:endParaRPr lang="en-US" sz="1700" dirty="0"/>
          </a:p>
        </p:txBody>
      </p:sp>
      <p:sp>
        <p:nvSpPr>
          <p:cNvPr id="28" name="Text 22"/>
          <p:cNvSpPr/>
          <p:nvPr/>
        </p:nvSpPr>
        <p:spPr>
          <a:xfrm>
            <a:off x="1645920" y="4270248"/>
            <a:ext cx="2295144" cy="411480"/>
          </a:xfrm>
          <a:prstGeom prst="rect">
            <a:avLst/>
          </a:prstGeom>
          <a:noFill/>
          <a:ln/>
        </p:spPr>
        <p:txBody>
          <a:bodyPr wrap="square" lIns="0" tIns="0" rIns="0" bIns="0" rtlCol="0" anchor="ctr"/>
          <a:lstStyle/>
          <a:p>
            <a:pPr indent="0" marL="0">
              <a:buNone/>
            </a:pPr>
            <a:r>
              <a:rPr lang="en-US" sz="1050" b="1" spc="80" kern="0" dirty="0">
                <a:solidFill>
                  <a:srgbClr val="F2B441"/>
                </a:solidFill>
                <a:latin typeface="Arial" pitchFamily="34" charset="0"/>
                <a:ea typeface="Arial" pitchFamily="34" charset="-122"/>
                <a:cs typeface="Arial" pitchFamily="34" charset="-120"/>
              </a:rPr>
              <a:t>LOANS &amp; EMI ENGINE</a:t>
            </a:r>
            <a:endParaRPr lang="en-US" sz="1050" dirty="0"/>
          </a:p>
        </p:txBody>
      </p:sp>
      <p:sp>
        <p:nvSpPr>
          <p:cNvPr id="29" name="Text 23"/>
          <p:cNvSpPr/>
          <p:nvPr/>
        </p:nvSpPr>
        <p:spPr>
          <a:xfrm>
            <a:off x="804672" y="4709160"/>
            <a:ext cx="3026664" cy="603504"/>
          </a:xfrm>
          <a:prstGeom prst="rect">
            <a:avLst/>
          </a:prstGeom>
          <a:noFill/>
          <a:ln/>
        </p:spPr>
        <p:txBody>
          <a:bodyPr wrap="square" lIns="0" tIns="0" rIns="0" bIns="0" rtlCol="0" anchor="ctr"/>
          <a:lstStyle/>
          <a:p>
            <a:pPr indent="0" marL="0">
              <a:buNone/>
            </a:pPr>
            <a:r>
              <a:rPr lang="en-US" sz="1180" dirty="0">
                <a:solidFill>
                  <a:srgbClr val="5A6B8C"/>
                </a:solidFill>
                <a:latin typeface="Arial" pitchFamily="34" charset="0"/>
                <a:ea typeface="Arial" pitchFamily="34" charset="-122"/>
                <a:cs typeface="Arial" pitchFamily="34" charset="-120"/>
              </a:rPr>
              <a:t>Loan workflow, EMI math, amortisation scheduling</a:t>
            </a:r>
            <a:endParaRPr lang="en-US" sz="1180" dirty="0"/>
          </a:p>
        </p:txBody>
      </p:sp>
      <p:sp>
        <p:nvSpPr>
          <p:cNvPr id="30" name="Shape 24"/>
          <p:cNvSpPr/>
          <p:nvPr/>
        </p:nvSpPr>
        <p:spPr>
          <a:xfrm>
            <a:off x="4325112" y="3611880"/>
            <a:ext cx="3529584" cy="1783080"/>
          </a:xfrm>
          <a:prstGeom prst="roundRect">
            <a:avLst>
              <a:gd name="adj" fmla="val 4615"/>
            </a:avLst>
          </a:prstGeom>
          <a:solidFill>
            <a:srgbClr val="F4F7FC"/>
          </a:solidFill>
          <a:ln/>
          <a:effectLst>
            <a:outerShdw sx="100000" sy="100000" kx="0" ky="0" algn="bl" rotWithShape="0" blurRad="114300" dist="38100" dir="5400000">
              <a:srgbClr val="1A2440">
                <a:alpha val="16000"/>
              </a:srgbClr>
            </a:outerShdw>
          </a:effectLst>
        </p:spPr>
      </p:sp>
      <p:sp>
        <p:nvSpPr>
          <p:cNvPr id="31" name="Shape 25"/>
          <p:cNvSpPr/>
          <p:nvPr/>
        </p:nvSpPr>
        <p:spPr>
          <a:xfrm>
            <a:off x="4562856" y="3849624"/>
            <a:ext cx="731520" cy="731520"/>
          </a:xfrm>
          <a:prstGeom prst="ellipse">
            <a:avLst/>
          </a:prstGeom>
          <a:solidFill>
            <a:srgbClr val="2C8DD6"/>
          </a:solidFill>
          <a:ln/>
          <a:effectLst>
            <a:outerShdw sx="100000" sy="100000" kx="0" ky="0" algn="bl" rotWithShape="0" blurRad="114300" dist="38100" dir="5400000">
              <a:srgbClr val="1A2440">
                <a:alpha val="16000"/>
              </a:srgbClr>
            </a:outerShdw>
          </a:effectLst>
        </p:spPr>
      </p:sp>
      <p:pic>
        <p:nvPicPr>
          <p:cNvPr id="32" name="Image 4" descr="/home/claude/build/icons/pie_white.png"/>
          <p:cNvPicPr>
            <a:picLocks noChangeAspect="1"/>
          </p:cNvPicPr>
          <p:nvPr/>
        </p:nvPicPr>
        <p:blipFill>
          <a:blip r:embed="rId5"/>
          <a:stretch>
            <a:fillRect/>
          </a:stretch>
        </p:blipFill>
        <p:spPr>
          <a:xfrm>
            <a:off x="4753051" y="4039819"/>
            <a:ext cx="351130" cy="351130"/>
          </a:xfrm>
          <a:prstGeom prst="rect">
            <a:avLst/>
          </a:prstGeom>
        </p:spPr>
      </p:pic>
      <p:sp>
        <p:nvSpPr>
          <p:cNvPr id="33" name="Text 26"/>
          <p:cNvSpPr/>
          <p:nvPr/>
        </p:nvSpPr>
        <p:spPr>
          <a:xfrm>
            <a:off x="5422392" y="3849624"/>
            <a:ext cx="2249424" cy="365760"/>
          </a:xfrm>
          <a:prstGeom prst="rect">
            <a:avLst/>
          </a:prstGeom>
          <a:noFill/>
          <a:ln/>
        </p:spPr>
        <p:txBody>
          <a:bodyPr wrap="square" lIns="0" tIns="0" rIns="0" bIns="0" rtlCol="0" anchor="ctr"/>
          <a:lstStyle/>
          <a:p>
            <a:pPr indent="0" marL="0">
              <a:buNone/>
            </a:pPr>
            <a:r>
              <a:rPr lang="en-US" sz="1700" b="1" dirty="0">
                <a:solidFill>
                  <a:srgbClr val="1B2335"/>
                </a:solidFill>
                <a:latin typeface="Bookman Old Style" pitchFamily="34" charset="0"/>
                <a:ea typeface="Bookman Old Style" pitchFamily="34" charset="-122"/>
                <a:cs typeface="Bookman Old Style" pitchFamily="34" charset="-120"/>
              </a:rPr>
              <a:t>Phase 5</a:t>
            </a:r>
            <a:endParaRPr lang="en-US" sz="1700" dirty="0"/>
          </a:p>
        </p:txBody>
      </p:sp>
      <p:sp>
        <p:nvSpPr>
          <p:cNvPr id="34" name="Text 27"/>
          <p:cNvSpPr/>
          <p:nvPr/>
        </p:nvSpPr>
        <p:spPr>
          <a:xfrm>
            <a:off x="5422392" y="4270248"/>
            <a:ext cx="2295144" cy="411480"/>
          </a:xfrm>
          <a:prstGeom prst="rect">
            <a:avLst/>
          </a:prstGeom>
          <a:noFill/>
          <a:ln/>
        </p:spPr>
        <p:txBody>
          <a:bodyPr wrap="square" lIns="0" tIns="0" rIns="0" bIns="0" rtlCol="0" anchor="ctr"/>
          <a:lstStyle/>
          <a:p>
            <a:pPr indent="0" marL="0">
              <a:buNone/>
            </a:pPr>
            <a:r>
              <a:rPr lang="en-US" sz="1050" b="1" spc="80" kern="0" dirty="0">
                <a:solidFill>
                  <a:srgbClr val="2C8DD6"/>
                </a:solidFill>
                <a:latin typeface="Arial" pitchFamily="34" charset="0"/>
                <a:ea typeface="Arial" pitchFamily="34" charset="-122"/>
                <a:cs typeface="Arial" pitchFamily="34" charset="-120"/>
              </a:rPr>
              <a:t>ANALYTICS &amp; AUDIT LOG</a:t>
            </a:r>
            <a:endParaRPr lang="en-US" sz="1050" dirty="0"/>
          </a:p>
        </p:txBody>
      </p:sp>
      <p:sp>
        <p:nvSpPr>
          <p:cNvPr id="35" name="Text 28"/>
          <p:cNvSpPr/>
          <p:nvPr/>
        </p:nvSpPr>
        <p:spPr>
          <a:xfrm>
            <a:off x="4581144" y="4709160"/>
            <a:ext cx="3026664" cy="603504"/>
          </a:xfrm>
          <a:prstGeom prst="rect">
            <a:avLst/>
          </a:prstGeom>
          <a:noFill/>
          <a:ln/>
        </p:spPr>
        <p:txBody>
          <a:bodyPr wrap="square" lIns="0" tIns="0" rIns="0" bIns="0" rtlCol="0" anchor="ctr"/>
          <a:lstStyle/>
          <a:p>
            <a:pPr indent="0" marL="0">
              <a:buNone/>
            </a:pPr>
            <a:r>
              <a:rPr lang="en-US" sz="1180" dirty="0">
                <a:solidFill>
                  <a:srgbClr val="5A6B8C"/>
                </a:solidFill>
                <a:latin typeface="Arial" pitchFamily="34" charset="0"/>
                <a:ea typeface="Arial" pitchFamily="34" charset="-122"/>
                <a:cs typeface="Arial" pitchFamily="34" charset="-120"/>
              </a:rPr>
              <a:t>Admin &amp; user dashboards, AOP audit, Chart.js views</a:t>
            </a:r>
            <a:endParaRPr lang="en-US" sz="1180" dirty="0"/>
          </a:p>
        </p:txBody>
      </p:sp>
      <p:sp>
        <p:nvSpPr>
          <p:cNvPr id="36" name="Shape 29"/>
          <p:cNvSpPr/>
          <p:nvPr/>
        </p:nvSpPr>
        <p:spPr>
          <a:xfrm>
            <a:off x="8101584" y="3611880"/>
            <a:ext cx="3529584" cy="1783080"/>
          </a:xfrm>
          <a:prstGeom prst="roundRect">
            <a:avLst>
              <a:gd name="adj" fmla="val 4615"/>
            </a:avLst>
          </a:prstGeom>
          <a:solidFill>
            <a:srgbClr val="1E2761"/>
          </a:solidFill>
          <a:ln/>
          <a:effectLst>
            <a:outerShdw sx="100000" sy="100000" kx="0" ky="0" algn="bl" rotWithShape="0" blurRad="114300" dist="38100" dir="5400000">
              <a:srgbClr val="1A2440">
                <a:alpha val="16000"/>
              </a:srgbClr>
            </a:outerShdw>
          </a:effectLst>
        </p:spPr>
      </p:sp>
      <p:sp>
        <p:nvSpPr>
          <p:cNvPr id="37" name="Shape 30"/>
          <p:cNvSpPr/>
          <p:nvPr/>
        </p:nvSpPr>
        <p:spPr>
          <a:xfrm>
            <a:off x="8339328" y="3849624"/>
            <a:ext cx="731520" cy="731520"/>
          </a:xfrm>
          <a:prstGeom prst="ellipse">
            <a:avLst/>
          </a:prstGeom>
          <a:solidFill>
            <a:srgbClr val="F2B441"/>
          </a:solidFill>
          <a:ln/>
          <a:effectLst>
            <a:outerShdw sx="100000" sy="100000" kx="0" ky="0" algn="bl" rotWithShape="0" blurRad="114300" dist="38100" dir="5400000">
              <a:srgbClr val="1A2440">
                <a:alpha val="16000"/>
              </a:srgbClr>
            </a:outerShdw>
          </a:effectLst>
        </p:spPr>
      </p:sp>
      <p:pic>
        <p:nvPicPr>
          <p:cNvPr id="38" name="Image 5" descr="/home/claude/build/icons/handshake_navy.png"/>
          <p:cNvPicPr>
            <a:picLocks noChangeAspect="1"/>
          </p:cNvPicPr>
          <p:nvPr/>
        </p:nvPicPr>
        <p:blipFill>
          <a:blip r:embed="rId6"/>
          <a:stretch>
            <a:fillRect/>
          </a:stretch>
        </p:blipFill>
        <p:spPr>
          <a:xfrm>
            <a:off x="8529523" y="4039819"/>
            <a:ext cx="351130" cy="351130"/>
          </a:xfrm>
          <a:prstGeom prst="rect">
            <a:avLst/>
          </a:prstGeom>
        </p:spPr>
      </p:pic>
      <p:sp>
        <p:nvSpPr>
          <p:cNvPr id="39" name="Text 31"/>
          <p:cNvSpPr/>
          <p:nvPr/>
        </p:nvSpPr>
        <p:spPr>
          <a:xfrm>
            <a:off x="9198864" y="3922776"/>
            <a:ext cx="2249424" cy="457200"/>
          </a:xfrm>
          <a:prstGeom prst="rect">
            <a:avLst/>
          </a:prstGeom>
          <a:noFill/>
          <a:ln/>
        </p:spPr>
        <p:txBody>
          <a:bodyPr wrap="square" lIns="0" tIns="0" rIns="0" bIns="0" rtlCol="0" anchor="ctr"/>
          <a:lstStyle/>
          <a:p>
            <a:pPr indent="0" marL="0">
              <a:buNone/>
            </a:pPr>
            <a:r>
              <a:rPr lang="en-US" sz="1700" b="1" dirty="0">
                <a:solidFill>
                  <a:srgbClr val="FFFFFF"/>
                </a:solidFill>
                <a:latin typeface="Bookman Old Style" pitchFamily="34" charset="0"/>
                <a:ea typeface="Bookman Old Style" pitchFamily="34" charset="-122"/>
                <a:cs typeface="Bookman Old Style" pitchFamily="34" charset="-120"/>
              </a:rPr>
              <a:t>Built Individually</a:t>
            </a:r>
            <a:endParaRPr lang="en-US" sz="1700" dirty="0"/>
          </a:p>
        </p:txBody>
      </p:sp>
      <p:sp>
        <p:nvSpPr>
          <p:cNvPr id="40" name="Text 32"/>
          <p:cNvSpPr/>
          <p:nvPr/>
        </p:nvSpPr>
        <p:spPr>
          <a:xfrm>
            <a:off x="8357616" y="4526280"/>
            <a:ext cx="3026664" cy="777240"/>
          </a:xfrm>
          <a:prstGeom prst="rect">
            <a:avLst/>
          </a:prstGeom>
          <a:noFill/>
          <a:ln/>
        </p:spPr>
        <p:txBody>
          <a:bodyPr wrap="square" lIns="0" tIns="0" rIns="0" bIns="0" rtlCol="0" anchor="ctr"/>
          <a:lstStyle/>
          <a:p>
            <a:pPr indent="0" marL="0">
              <a:buNone/>
            </a:pPr>
            <a:r>
              <a:rPr lang="en-US" sz="1180" dirty="0">
                <a:solidFill>
                  <a:srgbClr val="CADCFC"/>
                </a:solidFill>
                <a:latin typeface="Arial" pitchFamily="34" charset="0"/>
                <a:ea typeface="Arial" pitchFamily="34" charset="-122"/>
                <a:cs typeface="Arial" pitchFamily="34" charset="-120"/>
              </a:rPr>
              <a:t>All modules were independently designed, implemented, and integrated by Ritik Shekhar Parida (Intern ID: 584355).</a:t>
            </a:r>
            <a:endParaRPr lang="en-US" sz="118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822960" cy="502920"/>
          </a:xfrm>
          <a:prstGeom prst="rect">
            <a:avLst/>
          </a:prstGeom>
          <a:noFill/>
          <a:ln/>
        </p:spPr>
        <p:txBody>
          <a:bodyPr wrap="square" lIns="0" tIns="0" rIns="0" bIns="0" rtlCol="0" anchor="ctr"/>
          <a:lstStyle/>
          <a:p>
            <a:pPr indent="0" marL="0">
              <a:buNone/>
            </a:pPr>
            <a:r>
              <a:rPr lang="en-US" sz="2600" b="1" dirty="0">
                <a:solidFill>
                  <a:srgbClr val="CADCFC"/>
                </a:solidFill>
                <a:latin typeface="Bookman Old Style" pitchFamily="34" charset="0"/>
                <a:ea typeface="Bookman Old Style" pitchFamily="34" charset="-122"/>
                <a:cs typeface="Bookman Old Style" pitchFamily="34" charset="-120"/>
              </a:rPr>
              <a:t>19</a:t>
            </a:r>
            <a:endParaRPr lang="en-US" sz="2600" dirty="0"/>
          </a:p>
        </p:txBody>
      </p:sp>
      <p:sp>
        <p:nvSpPr>
          <p:cNvPr id="3" name="Shape 1"/>
          <p:cNvSpPr/>
          <p:nvPr/>
        </p:nvSpPr>
        <p:spPr>
          <a:xfrm>
            <a:off x="1078992" y="457200"/>
            <a:ext cx="25603" cy="384048"/>
          </a:xfrm>
          <a:prstGeom prst="rect">
            <a:avLst/>
          </a:prstGeom>
          <a:solidFill>
            <a:srgbClr val="E8654F"/>
          </a:solidFill>
          <a:ln/>
        </p:spPr>
      </p:sp>
      <p:sp>
        <p:nvSpPr>
          <p:cNvPr id="4" name="Text 2"/>
          <p:cNvSpPr/>
          <p:nvPr/>
        </p:nvSpPr>
        <p:spPr>
          <a:xfrm>
            <a:off x="1225296" y="365760"/>
            <a:ext cx="9601200" cy="274320"/>
          </a:xfrm>
          <a:prstGeom prst="rect">
            <a:avLst/>
          </a:prstGeom>
          <a:noFill/>
          <a:ln/>
        </p:spPr>
        <p:txBody>
          <a:bodyPr wrap="square" lIns="0" tIns="0" rIns="0" bIns="0" rtlCol="0" anchor="ctr"/>
          <a:lstStyle/>
          <a:p>
            <a:pPr indent="0" marL="0">
              <a:buNone/>
            </a:pPr>
            <a:r>
              <a:rPr lang="en-US" sz="1150" b="1" spc="300" kern="0" dirty="0">
                <a:solidFill>
                  <a:srgbClr val="E8654F"/>
                </a:solidFill>
                <a:latin typeface="Arial" pitchFamily="34" charset="0"/>
                <a:ea typeface="Arial" pitchFamily="34" charset="-122"/>
                <a:cs typeface="Arial" pitchFamily="34" charset="-120"/>
              </a:rPr>
              <a:t>REFLECTION</a:t>
            </a:r>
            <a:endParaRPr lang="en-US" sz="1150" dirty="0"/>
          </a:p>
        </p:txBody>
      </p:sp>
      <p:sp>
        <p:nvSpPr>
          <p:cNvPr id="5" name="Text 3"/>
          <p:cNvSpPr/>
          <p:nvPr/>
        </p:nvSpPr>
        <p:spPr>
          <a:xfrm>
            <a:off x="1207008" y="603504"/>
            <a:ext cx="10424160" cy="566928"/>
          </a:xfrm>
          <a:prstGeom prst="rect">
            <a:avLst/>
          </a:prstGeom>
          <a:noFill/>
          <a:ln/>
        </p:spPr>
        <p:txBody>
          <a:bodyPr wrap="square" lIns="0" tIns="0" rIns="0" bIns="0" rtlCol="0" anchor="ctr"/>
          <a:lstStyle/>
          <a:p>
            <a:pPr indent="0" marL="0">
              <a:buNone/>
            </a:pPr>
            <a:r>
              <a:rPr lang="en-US" sz="2700" b="1" dirty="0">
                <a:solidFill>
                  <a:srgbClr val="1B2335"/>
                </a:solidFill>
                <a:latin typeface="Bookman Old Style" pitchFamily="34" charset="0"/>
                <a:ea typeface="Bookman Old Style" pitchFamily="34" charset="-122"/>
                <a:cs typeface="Bookman Old Style" pitchFamily="34" charset="-120"/>
              </a:rPr>
              <a:t>Technical Challenges &amp; Learnings</a:t>
            </a:r>
            <a:endParaRPr lang="en-US" sz="2700" dirty="0"/>
          </a:p>
        </p:txBody>
      </p:sp>
      <p:sp>
        <p:nvSpPr>
          <p:cNvPr id="6" name="Shape 4"/>
          <p:cNvSpPr/>
          <p:nvPr/>
        </p:nvSpPr>
        <p:spPr>
          <a:xfrm>
            <a:off x="548640" y="1572768"/>
            <a:ext cx="5349240" cy="2121408"/>
          </a:xfrm>
          <a:prstGeom prst="roundRect">
            <a:avLst>
              <a:gd name="adj" fmla="val 3879"/>
            </a:avLst>
          </a:prstGeom>
          <a:solidFill>
            <a:srgbClr val="F4F7FC"/>
          </a:solidFill>
          <a:ln/>
          <a:effectLst>
            <a:outerShdw sx="100000" sy="100000" kx="0" ky="0" algn="bl" rotWithShape="0" blurRad="114300" dist="38100" dir="5400000">
              <a:srgbClr val="1A2440">
                <a:alpha val="16000"/>
              </a:srgbClr>
            </a:outerShdw>
          </a:effectLst>
        </p:spPr>
      </p:sp>
      <p:sp>
        <p:nvSpPr>
          <p:cNvPr id="7" name="Shape 5"/>
          <p:cNvSpPr/>
          <p:nvPr/>
        </p:nvSpPr>
        <p:spPr>
          <a:xfrm>
            <a:off x="804672" y="1828800"/>
            <a:ext cx="658368" cy="658368"/>
          </a:xfrm>
          <a:prstGeom prst="ellipse">
            <a:avLst/>
          </a:prstGeom>
          <a:solidFill>
            <a:srgbClr val="F2B441"/>
          </a:solidFill>
          <a:ln/>
          <a:effectLst>
            <a:outerShdw sx="100000" sy="100000" kx="0" ky="0" algn="bl" rotWithShape="0" blurRad="114300" dist="38100" dir="5400000">
              <a:srgbClr val="1A2440">
                <a:alpha val="16000"/>
              </a:srgbClr>
            </a:outerShdw>
          </a:effectLst>
        </p:spPr>
      </p:sp>
      <p:pic>
        <p:nvPicPr>
          <p:cNvPr id="8" name="Image 0" descr="/home/claude/build/icons/calc_white.png"/>
          <p:cNvPicPr>
            <a:picLocks noChangeAspect="1"/>
          </p:cNvPicPr>
          <p:nvPr/>
        </p:nvPicPr>
        <p:blipFill>
          <a:blip r:embed="rId1"/>
          <a:stretch>
            <a:fillRect/>
          </a:stretch>
        </p:blipFill>
        <p:spPr>
          <a:xfrm>
            <a:off x="975848" y="1999976"/>
            <a:ext cx="316017" cy="316017"/>
          </a:xfrm>
          <a:prstGeom prst="rect">
            <a:avLst/>
          </a:prstGeom>
        </p:spPr>
      </p:pic>
      <p:sp>
        <p:nvSpPr>
          <p:cNvPr id="9" name="Text 6"/>
          <p:cNvSpPr/>
          <p:nvPr/>
        </p:nvSpPr>
        <p:spPr>
          <a:xfrm>
            <a:off x="1627632" y="1828800"/>
            <a:ext cx="4069080" cy="384048"/>
          </a:xfrm>
          <a:prstGeom prst="rect">
            <a:avLst/>
          </a:prstGeom>
          <a:noFill/>
          <a:ln/>
        </p:spPr>
        <p:txBody>
          <a:bodyPr wrap="square" lIns="0" tIns="0" rIns="0" bIns="0" rtlCol="0" anchor="ctr"/>
          <a:lstStyle/>
          <a:p>
            <a:pPr indent="0" marL="0">
              <a:buNone/>
            </a:pPr>
            <a:r>
              <a:rPr lang="en-US" sz="1700" b="1" dirty="0">
                <a:solidFill>
                  <a:srgbClr val="1B2335"/>
                </a:solidFill>
                <a:latin typeface="Bookman Old Style" pitchFamily="34" charset="0"/>
                <a:ea typeface="Bookman Old Style" pitchFamily="34" charset="-122"/>
                <a:cs typeface="Bookman Old Style" pitchFamily="34" charset="-120"/>
              </a:rPr>
              <a:t>EMI Decimal Drift</a:t>
            </a:r>
            <a:endParaRPr lang="en-US" sz="1700" dirty="0"/>
          </a:p>
        </p:txBody>
      </p:sp>
      <p:sp>
        <p:nvSpPr>
          <p:cNvPr id="10" name="Text 7"/>
          <p:cNvSpPr/>
          <p:nvPr/>
        </p:nvSpPr>
        <p:spPr>
          <a:xfrm>
            <a:off x="1627632" y="2231136"/>
            <a:ext cx="4069080" cy="365760"/>
          </a:xfrm>
          <a:prstGeom prst="rect">
            <a:avLst/>
          </a:prstGeom>
          <a:noFill/>
          <a:ln/>
        </p:spPr>
        <p:txBody>
          <a:bodyPr wrap="square" lIns="0" tIns="0" rIns="0" bIns="0" rtlCol="0" anchor="ctr"/>
          <a:lstStyle/>
          <a:p>
            <a:pPr indent="0" marL="0">
              <a:buNone/>
            </a:pPr>
            <a:r>
              <a:rPr lang="en-US" sz="1180" b="1" dirty="0">
                <a:solidFill>
                  <a:srgbClr val="E8654F"/>
                </a:solidFill>
                <a:latin typeface="Arial" pitchFamily="34" charset="0"/>
                <a:ea typeface="Arial" pitchFamily="34" charset="-122"/>
                <a:cs typeface="Arial" pitchFamily="34" charset="-120"/>
              </a:rPr>
              <a:t xml:space="preserve">Challenge:  </a:t>
            </a:r>
            <a:pPr indent="0" marL="0">
              <a:buNone/>
            </a:pPr>
            <a:r>
              <a:rPr lang="en-US" sz="1180" dirty="0">
                <a:solidFill>
                  <a:srgbClr val="5A6B8C"/>
                </a:solidFill>
                <a:latin typeface="Arial" pitchFamily="34" charset="0"/>
                <a:ea typeface="Arial" pitchFamily="34" charset="-122"/>
                <a:cs typeface="Arial" pitchFamily="34" charset="-120"/>
              </a:rPr>
              <a:t>Rounding each instalment left a residual.</a:t>
            </a:r>
            <a:endParaRPr lang="en-US" sz="1180" dirty="0"/>
          </a:p>
        </p:txBody>
      </p:sp>
      <p:sp>
        <p:nvSpPr>
          <p:cNvPr id="11" name="Shape 8"/>
          <p:cNvSpPr/>
          <p:nvPr/>
        </p:nvSpPr>
        <p:spPr>
          <a:xfrm>
            <a:off x="822960" y="2743200"/>
            <a:ext cx="4800600" cy="0"/>
          </a:xfrm>
          <a:prstGeom prst="line">
            <a:avLst/>
          </a:prstGeom>
          <a:noFill/>
          <a:ln w="12700">
            <a:solidFill>
              <a:srgbClr val="DBE2EE"/>
            </a:solidFill>
            <a:prstDash val="solid"/>
          </a:ln>
        </p:spPr>
      </p:sp>
      <p:sp>
        <p:nvSpPr>
          <p:cNvPr id="12" name="Text 9"/>
          <p:cNvSpPr/>
          <p:nvPr/>
        </p:nvSpPr>
        <p:spPr>
          <a:xfrm>
            <a:off x="822960" y="2852928"/>
            <a:ext cx="4800600" cy="777240"/>
          </a:xfrm>
          <a:prstGeom prst="rect">
            <a:avLst/>
          </a:prstGeom>
          <a:noFill/>
          <a:ln/>
        </p:spPr>
        <p:txBody>
          <a:bodyPr wrap="square" lIns="0" tIns="0" rIns="0" bIns="0" rtlCol="0" anchor="ctr"/>
          <a:lstStyle/>
          <a:p>
            <a:pPr indent="0" marL="0">
              <a:buNone/>
            </a:pPr>
            <a:r>
              <a:rPr lang="en-US" sz="1200" b="1" dirty="0">
                <a:solidFill>
                  <a:srgbClr val="F2B441"/>
                </a:solidFill>
                <a:latin typeface="Arial" pitchFamily="34" charset="0"/>
                <a:ea typeface="Arial" pitchFamily="34" charset="-122"/>
                <a:cs typeface="Arial" pitchFamily="34" charset="-120"/>
              </a:rPr>
              <a:t xml:space="preserve">Solution:  </a:t>
            </a:r>
            <a:pPr indent="0" marL="0">
              <a:buNone/>
            </a:pPr>
            <a:r>
              <a:rPr lang="en-US" sz="1200" dirty="0">
                <a:solidFill>
                  <a:srgbClr val="1B2335"/>
                </a:solidFill>
                <a:latin typeface="Arial" pitchFamily="34" charset="0"/>
                <a:ea typeface="Arial" pitchFamily="34" charset="-122"/>
                <a:cs typeface="Arial" pitchFamily="34" charset="-120"/>
              </a:rPr>
              <a:t>Compute interest on the live balance; absorb the residual in the final instalment → clean zero payoff.</a:t>
            </a:r>
            <a:endParaRPr lang="en-US" sz="1200" dirty="0"/>
          </a:p>
        </p:txBody>
      </p:sp>
      <p:sp>
        <p:nvSpPr>
          <p:cNvPr id="13" name="Shape 10"/>
          <p:cNvSpPr/>
          <p:nvPr/>
        </p:nvSpPr>
        <p:spPr>
          <a:xfrm>
            <a:off x="6263640" y="1572768"/>
            <a:ext cx="5349240" cy="2121408"/>
          </a:xfrm>
          <a:prstGeom prst="roundRect">
            <a:avLst>
              <a:gd name="adj" fmla="val 3879"/>
            </a:avLst>
          </a:prstGeom>
          <a:solidFill>
            <a:srgbClr val="F4F7FC"/>
          </a:solidFill>
          <a:ln/>
          <a:effectLst>
            <a:outerShdw sx="100000" sy="100000" kx="0" ky="0" algn="bl" rotWithShape="0" blurRad="114300" dist="38100" dir="5400000">
              <a:srgbClr val="1A2440">
                <a:alpha val="16000"/>
              </a:srgbClr>
            </a:outerShdw>
          </a:effectLst>
        </p:spPr>
      </p:sp>
      <p:sp>
        <p:nvSpPr>
          <p:cNvPr id="14" name="Shape 11"/>
          <p:cNvSpPr/>
          <p:nvPr/>
        </p:nvSpPr>
        <p:spPr>
          <a:xfrm>
            <a:off x="6519672" y="1828800"/>
            <a:ext cx="658368" cy="658368"/>
          </a:xfrm>
          <a:prstGeom prst="ellipse">
            <a:avLst/>
          </a:prstGeom>
          <a:solidFill>
            <a:srgbClr val="3FB984"/>
          </a:solidFill>
          <a:ln/>
          <a:effectLst>
            <a:outerShdw sx="100000" sy="100000" kx="0" ky="0" algn="bl" rotWithShape="0" blurRad="114300" dist="38100" dir="5400000">
              <a:srgbClr val="1A2440">
                <a:alpha val="16000"/>
              </a:srgbClr>
            </a:outerShdw>
          </a:effectLst>
        </p:spPr>
      </p:sp>
      <p:pic>
        <p:nvPicPr>
          <p:cNvPr id="15" name="Image 1" descr="/home/claude/build/icons/bolt_white.png"/>
          <p:cNvPicPr>
            <a:picLocks noChangeAspect="1"/>
          </p:cNvPicPr>
          <p:nvPr/>
        </p:nvPicPr>
        <p:blipFill>
          <a:blip r:embed="rId2"/>
          <a:stretch>
            <a:fillRect/>
          </a:stretch>
        </p:blipFill>
        <p:spPr>
          <a:xfrm>
            <a:off x="6690848" y="1999976"/>
            <a:ext cx="316017" cy="316017"/>
          </a:xfrm>
          <a:prstGeom prst="rect">
            <a:avLst/>
          </a:prstGeom>
        </p:spPr>
      </p:pic>
      <p:sp>
        <p:nvSpPr>
          <p:cNvPr id="16" name="Text 12"/>
          <p:cNvSpPr/>
          <p:nvPr/>
        </p:nvSpPr>
        <p:spPr>
          <a:xfrm>
            <a:off x="7342632" y="1828800"/>
            <a:ext cx="4069080" cy="384048"/>
          </a:xfrm>
          <a:prstGeom prst="rect">
            <a:avLst/>
          </a:prstGeom>
          <a:noFill/>
          <a:ln/>
        </p:spPr>
        <p:txBody>
          <a:bodyPr wrap="square" lIns="0" tIns="0" rIns="0" bIns="0" rtlCol="0" anchor="ctr"/>
          <a:lstStyle/>
          <a:p>
            <a:pPr indent="0" marL="0">
              <a:buNone/>
            </a:pPr>
            <a:r>
              <a:rPr lang="en-US" sz="1700" b="1" dirty="0">
                <a:solidFill>
                  <a:srgbClr val="1B2335"/>
                </a:solidFill>
                <a:latin typeface="Bookman Old Style" pitchFamily="34" charset="0"/>
                <a:ea typeface="Bookman Old Style" pitchFamily="34" charset="-122"/>
                <a:cs typeface="Bookman Old Style" pitchFamily="34" charset="-120"/>
              </a:rPr>
              <a:t>N+1 Query Slowdown</a:t>
            </a:r>
            <a:endParaRPr lang="en-US" sz="1700" dirty="0"/>
          </a:p>
        </p:txBody>
      </p:sp>
      <p:sp>
        <p:nvSpPr>
          <p:cNvPr id="17" name="Text 13"/>
          <p:cNvSpPr/>
          <p:nvPr/>
        </p:nvSpPr>
        <p:spPr>
          <a:xfrm>
            <a:off x="7342632" y="2231136"/>
            <a:ext cx="4069080" cy="365760"/>
          </a:xfrm>
          <a:prstGeom prst="rect">
            <a:avLst/>
          </a:prstGeom>
          <a:noFill/>
          <a:ln/>
        </p:spPr>
        <p:txBody>
          <a:bodyPr wrap="square" lIns="0" tIns="0" rIns="0" bIns="0" rtlCol="0" anchor="ctr"/>
          <a:lstStyle/>
          <a:p>
            <a:pPr indent="0" marL="0">
              <a:buNone/>
            </a:pPr>
            <a:r>
              <a:rPr lang="en-US" sz="1180" b="1" dirty="0">
                <a:solidFill>
                  <a:srgbClr val="E8654F"/>
                </a:solidFill>
                <a:latin typeface="Arial" pitchFamily="34" charset="0"/>
                <a:ea typeface="Arial" pitchFamily="34" charset="-122"/>
                <a:cs typeface="Arial" pitchFamily="34" charset="-120"/>
              </a:rPr>
              <a:t xml:space="preserve">Challenge:  </a:t>
            </a:r>
            <a:pPr indent="0" marL="0">
              <a:buNone/>
            </a:pPr>
            <a:r>
              <a:rPr lang="en-US" sz="1180" dirty="0">
                <a:solidFill>
                  <a:srgbClr val="5A6B8C"/>
                </a:solidFill>
                <a:latin typeface="Arial" pitchFamily="34" charset="0"/>
                <a:ea typeface="Arial" pitchFamily="34" charset="-122"/>
                <a:cs typeface="Arial" pitchFamily="34" charset="-120"/>
              </a:rPr>
              <a:t>Dashboards issued a query per row.</a:t>
            </a:r>
            <a:endParaRPr lang="en-US" sz="1180" dirty="0"/>
          </a:p>
        </p:txBody>
      </p:sp>
      <p:sp>
        <p:nvSpPr>
          <p:cNvPr id="18" name="Shape 14"/>
          <p:cNvSpPr/>
          <p:nvPr/>
        </p:nvSpPr>
        <p:spPr>
          <a:xfrm>
            <a:off x="6537960" y="2743200"/>
            <a:ext cx="4800600" cy="0"/>
          </a:xfrm>
          <a:prstGeom prst="line">
            <a:avLst/>
          </a:prstGeom>
          <a:noFill/>
          <a:ln w="12700">
            <a:solidFill>
              <a:srgbClr val="DBE2EE"/>
            </a:solidFill>
            <a:prstDash val="solid"/>
          </a:ln>
        </p:spPr>
      </p:sp>
      <p:sp>
        <p:nvSpPr>
          <p:cNvPr id="19" name="Text 15"/>
          <p:cNvSpPr/>
          <p:nvPr/>
        </p:nvSpPr>
        <p:spPr>
          <a:xfrm>
            <a:off x="6537960" y="2852928"/>
            <a:ext cx="4800600" cy="777240"/>
          </a:xfrm>
          <a:prstGeom prst="rect">
            <a:avLst/>
          </a:prstGeom>
          <a:noFill/>
          <a:ln/>
        </p:spPr>
        <p:txBody>
          <a:bodyPr wrap="square" lIns="0" tIns="0" rIns="0" bIns="0" rtlCol="0" anchor="ctr"/>
          <a:lstStyle/>
          <a:p>
            <a:pPr indent="0" marL="0">
              <a:buNone/>
            </a:pPr>
            <a:r>
              <a:rPr lang="en-US" sz="1200" b="1" dirty="0">
                <a:solidFill>
                  <a:srgbClr val="3FB984"/>
                </a:solidFill>
                <a:latin typeface="Arial" pitchFamily="34" charset="0"/>
                <a:ea typeface="Arial" pitchFamily="34" charset="-122"/>
                <a:cs typeface="Arial" pitchFamily="34" charset="-120"/>
              </a:rPr>
              <a:t xml:space="preserve">Solution:  </a:t>
            </a:r>
            <a:pPr indent="0" marL="0">
              <a:buNone/>
            </a:pPr>
            <a:r>
              <a:rPr lang="en-US" sz="1200" dirty="0">
                <a:solidFill>
                  <a:srgbClr val="1B2335"/>
                </a:solidFill>
                <a:latin typeface="Arial" pitchFamily="34" charset="0"/>
                <a:ea typeface="Arial" pitchFamily="34" charset="-122"/>
                <a:cs typeface="Arial" pitchFamily="34" charset="-120"/>
              </a:rPr>
              <a:t>Rewrote as single JPQL aggregates (COUNT / SUM / COALESCE) + composite indexes on transactions.</a:t>
            </a:r>
            <a:endParaRPr lang="en-US" sz="1200" dirty="0"/>
          </a:p>
        </p:txBody>
      </p:sp>
      <p:sp>
        <p:nvSpPr>
          <p:cNvPr id="20" name="Shape 16"/>
          <p:cNvSpPr/>
          <p:nvPr/>
        </p:nvSpPr>
        <p:spPr>
          <a:xfrm>
            <a:off x="548640" y="3968496"/>
            <a:ext cx="5349240" cy="2121408"/>
          </a:xfrm>
          <a:prstGeom prst="roundRect">
            <a:avLst>
              <a:gd name="adj" fmla="val 3879"/>
            </a:avLst>
          </a:prstGeom>
          <a:solidFill>
            <a:srgbClr val="F4F7FC"/>
          </a:solidFill>
          <a:ln/>
          <a:effectLst>
            <a:outerShdw sx="100000" sy="100000" kx="0" ky="0" algn="bl" rotWithShape="0" blurRad="114300" dist="38100" dir="5400000">
              <a:srgbClr val="1A2440">
                <a:alpha val="16000"/>
              </a:srgbClr>
            </a:outerShdw>
          </a:effectLst>
        </p:spPr>
      </p:sp>
      <p:sp>
        <p:nvSpPr>
          <p:cNvPr id="21" name="Shape 17"/>
          <p:cNvSpPr/>
          <p:nvPr/>
        </p:nvSpPr>
        <p:spPr>
          <a:xfrm>
            <a:off x="804672" y="4224528"/>
            <a:ext cx="658368" cy="658368"/>
          </a:xfrm>
          <a:prstGeom prst="ellipse">
            <a:avLst/>
          </a:prstGeom>
          <a:solidFill>
            <a:srgbClr val="2C8DD6"/>
          </a:solidFill>
          <a:ln/>
          <a:effectLst>
            <a:outerShdw sx="100000" sy="100000" kx="0" ky="0" algn="bl" rotWithShape="0" blurRad="114300" dist="38100" dir="5400000">
              <a:srgbClr val="1A2440">
                <a:alpha val="16000"/>
              </a:srgbClr>
            </a:outerShdw>
          </a:effectLst>
        </p:spPr>
      </p:sp>
      <p:pic>
        <p:nvPicPr>
          <p:cNvPr id="22" name="Image 2" descr="/home/claude/build/icons/eye_white.png"/>
          <p:cNvPicPr>
            <a:picLocks noChangeAspect="1"/>
          </p:cNvPicPr>
          <p:nvPr/>
        </p:nvPicPr>
        <p:blipFill>
          <a:blip r:embed="rId3"/>
          <a:stretch>
            <a:fillRect/>
          </a:stretch>
        </p:blipFill>
        <p:spPr>
          <a:xfrm>
            <a:off x="975848" y="4395704"/>
            <a:ext cx="316017" cy="316017"/>
          </a:xfrm>
          <a:prstGeom prst="rect">
            <a:avLst/>
          </a:prstGeom>
        </p:spPr>
      </p:pic>
      <p:sp>
        <p:nvSpPr>
          <p:cNvPr id="23" name="Text 18"/>
          <p:cNvSpPr/>
          <p:nvPr/>
        </p:nvSpPr>
        <p:spPr>
          <a:xfrm>
            <a:off x="1627632" y="4224528"/>
            <a:ext cx="4069080" cy="384048"/>
          </a:xfrm>
          <a:prstGeom prst="rect">
            <a:avLst/>
          </a:prstGeom>
          <a:noFill/>
          <a:ln/>
        </p:spPr>
        <p:txBody>
          <a:bodyPr wrap="square" lIns="0" tIns="0" rIns="0" bIns="0" rtlCol="0" anchor="ctr"/>
          <a:lstStyle/>
          <a:p>
            <a:pPr indent="0" marL="0">
              <a:buNone/>
            </a:pPr>
            <a:r>
              <a:rPr lang="en-US" sz="1700" b="1" dirty="0">
                <a:solidFill>
                  <a:srgbClr val="1B2335"/>
                </a:solidFill>
                <a:latin typeface="Bookman Old Style" pitchFamily="34" charset="0"/>
                <a:ea typeface="Bookman Old Style" pitchFamily="34" charset="-122"/>
                <a:cs typeface="Bookman Old Style" pitchFamily="34" charset="-120"/>
              </a:rPr>
              <a:t>Audit Without Clutter</a:t>
            </a:r>
            <a:endParaRPr lang="en-US" sz="1700" dirty="0"/>
          </a:p>
        </p:txBody>
      </p:sp>
      <p:sp>
        <p:nvSpPr>
          <p:cNvPr id="24" name="Text 19"/>
          <p:cNvSpPr/>
          <p:nvPr/>
        </p:nvSpPr>
        <p:spPr>
          <a:xfrm>
            <a:off x="1627632" y="4626864"/>
            <a:ext cx="4069080" cy="365760"/>
          </a:xfrm>
          <a:prstGeom prst="rect">
            <a:avLst/>
          </a:prstGeom>
          <a:noFill/>
          <a:ln/>
        </p:spPr>
        <p:txBody>
          <a:bodyPr wrap="square" lIns="0" tIns="0" rIns="0" bIns="0" rtlCol="0" anchor="ctr"/>
          <a:lstStyle/>
          <a:p>
            <a:pPr indent="0" marL="0">
              <a:buNone/>
            </a:pPr>
            <a:r>
              <a:rPr lang="en-US" sz="1180" b="1" dirty="0">
                <a:solidFill>
                  <a:srgbClr val="E8654F"/>
                </a:solidFill>
                <a:latin typeface="Arial" pitchFamily="34" charset="0"/>
                <a:ea typeface="Arial" pitchFamily="34" charset="-122"/>
                <a:cs typeface="Arial" pitchFamily="34" charset="-120"/>
              </a:rPr>
              <a:t xml:space="preserve">Challenge:  </a:t>
            </a:r>
            <a:pPr indent="0" marL="0">
              <a:buNone/>
            </a:pPr>
            <a:r>
              <a:rPr lang="en-US" sz="1180" dirty="0">
                <a:solidFill>
                  <a:srgbClr val="5A6B8C"/>
                </a:solidFill>
                <a:latin typeface="Arial" pitchFamily="34" charset="0"/>
                <a:ea typeface="Arial" pitchFamily="34" charset="-122"/>
                <a:cs typeface="Arial" pitchFamily="34" charset="-120"/>
              </a:rPr>
              <a:t>Logging risked touching all 14 controllers.</a:t>
            </a:r>
            <a:endParaRPr lang="en-US" sz="1180" dirty="0"/>
          </a:p>
        </p:txBody>
      </p:sp>
      <p:sp>
        <p:nvSpPr>
          <p:cNvPr id="25" name="Shape 20"/>
          <p:cNvSpPr/>
          <p:nvPr/>
        </p:nvSpPr>
        <p:spPr>
          <a:xfrm>
            <a:off x="822960" y="5138928"/>
            <a:ext cx="4800600" cy="0"/>
          </a:xfrm>
          <a:prstGeom prst="line">
            <a:avLst/>
          </a:prstGeom>
          <a:noFill/>
          <a:ln w="12700">
            <a:solidFill>
              <a:srgbClr val="DBE2EE"/>
            </a:solidFill>
            <a:prstDash val="solid"/>
          </a:ln>
        </p:spPr>
      </p:sp>
      <p:sp>
        <p:nvSpPr>
          <p:cNvPr id="26" name="Text 21"/>
          <p:cNvSpPr/>
          <p:nvPr/>
        </p:nvSpPr>
        <p:spPr>
          <a:xfrm>
            <a:off x="822960" y="5248656"/>
            <a:ext cx="4800600" cy="777240"/>
          </a:xfrm>
          <a:prstGeom prst="rect">
            <a:avLst/>
          </a:prstGeom>
          <a:noFill/>
          <a:ln/>
        </p:spPr>
        <p:txBody>
          <a:bodyPr wrap="square" lIns="0" tIns="0" rIns="0" bIns="0" rtlCol="0" anchor="ctr"/>
          <a:lstStyle/>
          <a:p>
            <a:pPr indent="0" marL="0">
              <a:buNone/>
            </a:pPr>
            <a:r>
              <a:rPr lang="en-US" sz="1200" b="1" dirty="0">
                <a:solidFill>
                  <a:srgbClr val="2C8DD6"/>
                </a:solidFill>
                <a:latin typeface="Arial" pitchFamily="34" charset="0"/>
                <a:ea typeface="Arial" pitchFamily="34" charset="-122"/>
                <a:cs typeface="Arial" pitchFamily="34" charset="-120"/>
              </a:rPr>
              <a:t xml:space="preserve">Solution:  </a:t>
            </a:r>
            <a:pPr indent="0" marL="0">
              <a:buNone/>
            </a:pPr>
            <a:r>
              <a:rPr lang="en-US" sz="1200" dirty="0">
                <a:solidFill>
                  <a:srgbClr val="1B2335"/>
                </a:solidFill>
                <a:latin typeface="Arial" pitchFamily="34" charset="0"/>
                <a:ea typeface="Arial" pitchFamily="34" charset="-122"/>
                <a:cs typeface="Arial" pitchFamily="34" charset="-120"/>
              </a:rPr>
              <a:t>One AOP @Around aspect logs every endpoint in a finally block — zero controller changes.</a:t>
            </a:r>
            <a:endParaRPr lang="en-US" sz="1200" dirty="0"/>
          </a:p>
        </p:txBody>
      </p:sp>
      <p:sp>
        <p:nvSpPr>
          <p:cNvPr id="27" name="Shape 22"/>
          <p:cNvSpPr/>
          <p:nvPr/>
        </p:nvSpPr>
        <p:spPr>
          <a:xfrm>
            <a:off x="6263640" y="3968496"/>
            <a:ext cx="5349240" cy="2121408"/>
          </a:xfrm>
          <a:prstGeom prst="roundRect">
            <a:avLst>
              <a:gd name="adj" fmla="val 3879"/>
            </a:avLst>
          </a:prstGeom>
          <a:solidFill>
            <a:srgbClr val="F4F7FC"/>
          </a:solidFill>
          <a:ln/>
          <a:effectLst>
            <a:outerShdw sx="100000" sy="100000" kx="0" ky="0" algn="bl" rotWithShape="0" blurRad="114300" dist="38100" dir="5400000">
              <a:srgbClr val="1A2440">
                <a:alpha val="16000"/>
              </a:srgbClr>
            </a:outerShdw>
          </a:effectLst>
        </p:spPr>
      </p:sp>
      <p:sp>
        <p:nvSpPr>
          <p:cNvPr id="28" name="Shape 23"/>
          <p:cNvSpPr/>
          <p:nvPr/>
        </p:nvSpPr>
        <p:spPr>
          <a:xfrm>
            <a:off x="6519672" y="4224528"/>
            <a:ext cx="658368" cy="658368"/>
          </a:xfrm>
          <a:prstGeom prst="ellipse">
            <a:avLst/>
          </a:prstGeom>
          <a:solidFill>
            <a:srgbClr val="9B6BD8"/>
          </a:solidFill>
          <a:ln/>
          <a:effectLst>
            <a:outerShdw sx="100000" sy="100000" kx="0" ky="0" algn="bl" rotWithShape="0" blurRad="114300" dist="38100" dir="5400000">
              <a:srgbClr val="1A2440">
                <a:alpha val="16000"/>
              </a:srgbClr>
            </a:outerShdw>
          </a:effectLst>
        </p:spPr>
      </p:sp>
      <p:pic>
        <p:nvPicPr>
          <p:cNvPr id="29" name="Image 3" descr="/home/claude/build/icons/shield_white.png"/>
          <p:cNvPicPr>
            <a:picLocks noChangeAspect="1"/>
          </p:cNvPicPr>
          <p:nvPr/>
        </p:nvPicPr>
        <p:blipFill>
          <a:blip r:embed="rId4"/>
          <a:stretch>
            <a:fillRect/>
          </a:stretch>
        </p:blipFill>
        <p:spPr>
          <a:xfrm>
            <a:off x="6690848" y="4395704"/>
            <a:ext cx="316017" cy="316017"/>
          </a:xfrm>
          <a:prstGeom prst="rect">
            <a:avLst/>
          </a:prstGeom>
        </p:spPr>
      </p:pic>
      <p:sp>
        <p:nvSpPr>
          <p:cNvPr id="30" name="Text 24"/>
          <p:cNvSpPr/>
          <p:nvPr/>
        </p:nvSpPr>
        <p:spPr>
          <a:xfrm>
            <a:off x="7342632" y="4224528"/>
            <a:ext cx="4069080" cy="384048"/>
          </a:xfrm>
          <a:prstGeom prst="rect">
            <a:avLst/>
          </a:prstGeom>
          <a:noFill/>
          <a:ln/>
        </p:spPr>
        <p:txBody>
          <a:bodyPr wrap="square" lIns="0" tIns="0" rIns="0" bIns="0" rtlCol="0" anchor="ctr"/>
          <a:lstStyle/>
          <a:p>
            <a:pPr indent="0" marL="0">
              <a:buNone/>
            </a:pPr>
            <a:r>
              <a:rPr lang="en-US" sz="1700" b="1" dirty="0">
                <a:solidFill>
                  <a:srgbClr val="1B2335"/>
                </a:solidFill>
                <a:latin typeface="Bookman Old Style" pitchFamily="34" charset="0"/>
                <a:ea typeface="Bookman Old Style" pitchFamily="34" charset="-122"/>
                <a:cs typeface="Bookman Old Style" pitchFamily="34" charset="-120"/>
              </a:rPr>
              <a:t>Stateless Multi-Tenant Auth</a:t>
            </a:r>
            <a:endParaRPr lang="en-US" sz="1700" dirty="0"/>
          </a:p>
        </p:txBody>
      </p:sp>
      <p:sp>
        <p:nvSpPr>
          <p:cNvPr id="31" name="Text 25"/>
          <p:cNvSpPr/>
          <p:nvPr/>
        </p:nvSpPr>
        <p:spPr>
          <a:xfrm>
            <a:off x="7342632" y="4626864"/>
            <a:ext cx="4069080" cy="365760"/>
          </a:xfrm>
          <a:prstGeom prst="rect">
            <a:avLst/>
          </a:prstGeom>
          <a:noFill/>
          <a:ln/>
        </p:spPr>
        <p:txBody>
          <a:bodyPr wrap="square" lIns="0" tIns="0" rIns="0" bIns="0" rtlCol="0" anchor="ctr"/>
          <a:lstStyle/>
          <a:p>
            <a:pPr indent="0" marL="0">
              <a:buNone/>
            </a:pPr>
            <a:r>
              <a:rPr lang="en-US" sz="1180" b="1" dirty="0">
                <a:solidFill>
                  <a:srgbClr val="E8654F"/>
                </a:solidFill>
                <a:latin typeface="Arial" pitchFamily="34" charset="0"/>
                <a:ea typeface="Arial" pitchFamily="34" charset="-122"/>
                <a:cs typeface="Arial" pitchFamily="34" charset="-120"/>
              </a:rPr>
              <a:t xml:space="preserve">Challenge:  </a:t>
            </a:r>
            <a:pPr indent="0" marL="0">
              <a:buNone/>
            </a:pPr>
            <a:r>
              <a:rPr lang="en-US" sz="1180" dirty="0">
                <a:solidFill>
                  <a:srgbClr val="5A6B8C"/>
                </a:solidFill>
                <a:latin typeface="Arial" pitchFamily="34" charset="0"/>
                <a:ea typeface="Arial" pitchFamily="34" charset="-122"/>
                <a:cs typeface="Arial" pitchFamily="34" charset="-120"/>
              </a:rPr>
              <a:t>Cross-user data exposure risk.</a:t>
            </a:r>
            <a:endParaRPr lang="en-US" sz="1180" dirty="0"/>
          </a:p>
        </p:txBody>
      </p:sp>
      <p:sp>
        <p:nvSpPr>
          <p:cNvPr id="32" name="Shape 26"/>
          <p:cNvSpPr/>
          <p:nvPr/>
        </p:nvSpPr>
        <p:spPr>
          <a:xfrm>
            <a:off x="6537960" y="5138928"/>
            <a:ext cx="4800600" cy="0"/>
          </a:xfrm>
          <a:prstGeom prst="line">
            <a:avLst/>
          </a:prstGeom>
          <a:noFill/>
          <a:ln w="12700">
            <a:solidFill>
              <a:srgbClr val="DBE2EE"/>
            </a:solidFill>
            <a:prstDash val="solid"/>
          </a:ln>
        </p:spPr>
      </p:sp>
      <p:sp>
        <p:nvSpPr>
          <p:cNvPr id="33" name="Text 27"/>
          <p:cNvSpPr/>
          <p:nvPr/>
        </p:nvSpPr>
        <p:spPr>
          <a:xfrm>
            <a:off x="6537960" y="5248656"/>
            <a:ext cx="4800600" cy="777240"/>
          </a:xfrm>
          <a:prstGeom prst="rect">
            <a:avLst/>
          </a:prstGeom>
          <a:noFill/>
          <a:ln/>
        </p:spPr>
        <p:txBody>
          <a:bodyPr wrap="square" lIns="0" tIns="0" rIns="0" bIns="0" rtlCol="0" anchor="ctr"/>
          <a:lstStyle/>
          <a:p>
            <a:pPr indent="0" marL="0">
              <a:buNone/>
            </a:pPr>
            <a:r>
              <a:rPr lang="en-US" sz="1200" b="1" dirty="0">
                <a:solidFill>
                  <a:srgbClr val="9B6BD8"/>
                </a:solidFill>
                <a:latin typeface="Arial" pitchFamily="34" charset="0"/>
                <a:ea typeface="Arial" pitchFamily="34" charset="-122"/>
                <a:cs typeface="Arial" pitchFamily="34" charset="-120"/>
              </a:rPr>
              <a:t xml:space="preserve">Solution:  </a:t>
            </a:r>
            <a:pPr indent="0" marL="0">
              <a:buNone/>
            </a:pPr>
            <a:r>
              <a:rPr lang="en-US" sz="1200" dirty="0">
                <a:solidFill>
                  <a:srgbClr val="1B2335"/>
                </a:solidFill>
                <a:latin typeface="Arial" pitchFamily="34" charset="0"/>
                <a:ea typeface="Arial" pitchFamily="34" charset="-122"/>
                <a:cs typeface="Arial" pitchFamily="34" charset="-120"/>
              </a:rPr>
              <a:t>Self-contained JWTs + service-level ownership checks returning 403 on mismatch.</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778240" y="-2194560"/>
            <a:ext cx="5852160" cy="5852160"/>
          </a:xfrm>
          <a:prstGeom prst="ellipse">
            <a:avLst/>
          </a:prstGeom>
          <a:solidFill>
            <a:srgbClr val="16203F"/>
          </a:solidFill>
          <a:ln/>
        </p:spPr>
      </p:sp>
      <p:sp>
        <p:nvSpPr>
          <p:cNvPr id="3" name="Shape 1"/>
          <p:cNvSpPr/>
          <p:nvPr/>
        </p:nvSpPr>
        <p:spPr>
          <a:xfrm>
            <a:off x="10058400" y="-1097280"/>
            <a:ext cx="3108960" cy="3108960"/>
          </a:xfrm>
          <a:prstGeom prst="ellipse">
            <a:avLst/>
          </a:prstGeom>
          <a:solidFill>
            <a:srgbClr val="1F2E55"/>
          </a:solidFill>
          <a:ln/>
        </p:spPr>
      </p:sp>
      <p:sp>
        <p:nvSpPr>
          <p:cNvPr id="4" name="Shape 2"/>
          <p:cNvSpPr/>
          <p:nvPr/>
        </p:nvSpPr>
        <p:spPr>
          <a:xfrm>
            <a:off x="5440680" y="1417320"/>
            <a:ext cx="1280160" cy="1280160"/>
          </a:xfrm>
          <a:prstGeom prst="ellipse">
            <a:avLst/>
          </a:prstGeom>
          <a:solidFill>
            <a:srgbClr val="F2B441"/>
          </a:solidFill>
          <a:ln/>
          <a:effectLst>
            <a:outerShdw sx="100000" sy="100000" kx="0" ky="0" algn="bl" rotWithShape="0" blurRad="114300" dist="38100" dir="5400000">
              <a:srgbClr val="1A2440">
                <a:alpha val="16000"/>
              </a:srgbClr>
            </a:outerShdw>
          </a:effectLst>
        </p:spPr>
      </p:sp>
      <p:pic>
        <p:nvPicPr>
          <p:cNvPr id="5" name="Image 0" descr="/home/claude/build/icons/play_navy.png"/>
          <p:cNvPicPr>
            <a:picLocks noChangeAspect="1"/>
          </p:cNvPicPr>
          <p:nvPr/>
        </p:nvPicPr>
        <p:blipFill>
          <a:blip r:embed="rId1"/>
          <a:stretch>
            <a:fillRect/>
          </a:stretch>
        </p:blipFill>
        <p:spPr>
          <a:xfrm>
            <a:off x="5773522" y="1750162"/>
            <a:ext cx="614477" cy="614477"/>
          </a:xfrm>
          <a:prstGeom prst="rect">
            <a:avLst/>
          </a:prstGeom>
        </p:spPr>
      </p:pic>
      <p:sp>
        <p:nvSpPr>
          <p:cNvPr id="6" name="Text 3"/>
          <p:cNvSpPr/>
          <p:nvPr/>
        </p:nvSpPr>
        <p:spPr>
          <a:xfrm>
            <a:off x="457200" y="2834640"/>
            <a:ext cx="11247120" cy="914400"/>
          </a:xfrm>
          <a:prstGeom prst="rect">
            <a:avLst/>
          </a:prstGeom>
          <a:noFill/>
          <a:ln/>
        </p:spPr>
        <p:txBody>
          <a:bodyPr wrap="square" lIns="0" tIns="0" rIns="0" bIns="0" rtlCol="0" anchor="ctr"/>
          <a:lstStyle/>
          <a:p>
            <a:pPr algn="ctr" indent="0" marL="0">
              <a:buNone/>
            </a:pPr>
            <a:r>
              <a:rPr lang="en-US" sz="6000" b="1" dirty="0">
                <a:solidFill>
                  <a:srgbClr val="FFFFFF"/>
                </a:solidFill>
                <a:latin typeface="Bookman Old Style" pitchFamily="34" charset="0"/>
                <a:ea typeface="Bookman Old Style" pitchFamily="34" charset="-122"/>
                <a:cs typeface="Bookman Old Style" pitchFamily="34" charset="-120"/>
              </a:rPr>
              <a:t>LIVE DEMO</a:t>
            </a:r>
            <a:endParaRPr lang="en-US" sz="6000" dirty="0"/>
          </a:p>
        </p:txBody>
      </p:sp>
      <p:sp>
        <p:nvSpPr>
          <p:cNvPr id="7" name="Text 4"/>
          <p:cNvSpPr/>
          <p:nvPr/>
        </p:nvSpPr>
        <p:spPr>
          <a:xfrm>
            <a:off x="457200" y="3840480"/>
            <a:ext cx="11247120" cy="548640"/>
          </a:xfrm>
          <a:prstGeom prst="rect">
            <a:avLst/>
          </a:prstGeom>
          <a:noFill/>
          <a:ln/>
        </p:spPr>
        <p:txBody>
          <a:bodyPr wrap="square" lIns="0" tIns="0" rIns="0" bIns="0" rtlCol="0" anchor="ctr"/>
          <a:lstStyle/>
          <a:p>
            <a:pPr algn="ctr" indent="0" marL="0">
              <a:buNone/>
            </a:pPr>
            <a:r>
              <a:rPr lang="en-US" sz="2200" dirty="0">
                <a:solidFill>
                  <a:srgbClr val="CADCFC"/>
                </a:solidFill>
                <a:latin typeface="Arial" pitchFamily="34" charset="0"/>
                <a:ea typeface="Arial" pitchFamily="34" charset="-122"/>
                <a:cs typeface="Arial" pitchFamily="34" charset="-120"/>
              </a:rPr>
              <a:t>Let's see NeoBank 360 in action</a:t>
            </a:r>
            <a:endParaRPr lang="en-US" sz="2200" dirty="0"/>
          </a:p>
        </p:txBody>
      </p:sp>
      <p:sp>
        <p:nvSpPr>
          <p:cNvPr id="8" name="Shape 5"/>
          <p:cNvSpPr/>
          <p:nvPr/>
        </p:nvSpPr>
        <p:spPr>
          <a:xfrm>
            <a:off x="5394960" y="4572000"/>
            <a:ext cx="1371600" cy="45720"/>
          </a:xfrm>
          <a:prstGeom prst="rect">
            <a:avLst/>
          </a:prstGeom>
          <a:solidFill>
            <a:srgbClr val="F2B441"/>
          </a:solidFill>
          <a:ln/>
        </p:spPr>
      </p:sp>
      <p:sp>
        <p:nvSpPr>
          <p:cNvPr id="9" name="Shape 6"/>
          <p:cNvSpPr/>
          <p:nvPr/>
        </p:nvSpPr>
        <p:spPr>
          <a:xfrm>
            <a:off x="868680" y="4983480"/>
            <a:ext cx="1755648" cy="713232"/>
          </a:xfrm>
          <a:prstGeom prst="roundRect">
            <a:avLst>
              <a:gd name="adj" fmla="val 12821"/>
            </a:avLst>
          </a:prstGeom>
          <a:solidFill>
            <a:srgbClr val="16203F"/>
          </a:solidFill>
          <a:ln w="12700">
            <a:solidFill>
              <a:srgbClr val="2C3A63"/>
            </a:solidFill>
            <a:prstDash val="solid"/>
          </a:ln>
        </p:spPr>
      </p:sp>
      <p:sp>
        <p:nvSpPr>
          <p:cNvPr id="10" name="Text 7"/>
          <p:cNvSpPr/>
          <p:nvPr/>
        </p:nvSpPr>
        <p:spPr>
          <a:xfrm>
            <a:off x="978408" y="4983480"/>
            <a:ext cx="365760" cy="713232"/>
          </a:xfrm>
          <a:prstGeom prst="rect">
            <a:avLst/>
          </a:prstGeom>
          <a:noFill/>
          <a:ln/>
        </p:spPr>
        <p:txBody>
          <a:bodyPr wrap="square" lIns="0" tIns="0" rIns="0" bIns="0" rtlCol="0" anchor="ctr"/>
          <a:lstStyle/>
          <a:p>
            <a:pPr algn="ctr" indent="0" marL="0">
              <a:buNone/>
            </a:pPr>
            <a:r>
              <a:rPr lang="en-US" sz="1700" b="1" dirty="0">
                <a:solidFill>
                  <a:srgbClr val="F2B441"/>
                </a:solidFill>
                <a:latin typeface="Bookman Old Style" pitchFamily="34" charset="0"/>
                <a:ea typeface="Bookman Old Style" pitchFamily="34" charset="-122"/>
                <a:cs typeface="Bookman Old Style" pitchFamily="34" charset="-120"/>
              </a:rPr>
              <a:t>1</a:t>
            </a:r>
            <a:endParaRPr lang="en-US" sz="1700" dirty="0"/>
          </a:p>
        </p:txBody>
      </p:sp>
      <p:sp>
        <p:nvSpPr>
          <p:cNvPr id="11" name="Text 8"/>
          <p:cNvSpPr/>
          <p:nvPr/>
        </p:nvSpPr>
        <p:spPr>
          <a:xfrm>
            <a:off x="1325880" y="4983480"/>
            <a:ext cx="1252728" cy="713232"/>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Register &amp; Login</a:t>
            </a:r>
            <a:endParaRPr lang="en-US" sz="1050" dirty="0"/>
          </a:p>
        </p:txBody>
      </p:sp>
      <p:sp>
        <p:nvSpPr>
          <p:cNvPr id="12" name="Shape 9"/>
          <p:cNvSpPr/>
          <p:nvPr/>
        </p:nvSpPr>
        <p:spPr>
          <a:xfrm>
            <a:off x="2660904" y="4983480"/>
            <a:ext cx="1755648" cy="713232"/>
          </a:xfrm>
          <a:prstGeom prst="roundRect">
            <a:avLst>
              <a:gd name="adj" fmla="val 12821"/>
            </a:avLst>
          </a:prstGeom>
          <a:solidFill>
            <a:srgbClr val="16203F"/>
          </a:solidFill>
          <a:ln w="12700">
            <a:solidFill>
              <a:srgbClr val="2C3A63"/>
            </a:solidFill>
            <a:prstDash val="solid"/>
          </a:ln>
        </p:spPr>
      </p:sp>
      <p:sp>
        <p:nvSpPr>
          <p:cNvPr id="13" name="Text 10"/>
          <p:cNvSpPr/>
          <p:nvPr/>
        </p:nvSpPr>
        <p:spPr>
          <a:xfrm>
            <a:off x="2770632" y="4983480"/>
            <a:ext cx="365760" cy="713232"/>
          </a:xfrm>
          <a:prstGeom prst="rect">
            <a:avLst/>
          </a:prstGeom>
          <a:noFill/>
          <a:ln/>
        </p:spPr>
        <p:txBody>
          <a:bodyPr wrap="square" lIns="0" tIns="0" rIns="0" bIns="0" rtlCol="0" anchor="ctr"/>
          <a:lstStyle/>
          <a:p>
            <a:pPr algn="ctr" indent="0" marL="0">
              <a:buNone/>
            </a:pPr>
            <a:r>
              <a:rPr lang="en-US" sz="1700" b="1" dirty="0">
                <a:solidFill>
                  <a:srgbClr val="F2B441"/>
                </a:solidFill>
                <a:latin typeface="Bookman Old Style" pitchFamily="34" charset="0"/>
                <a:ea typeface="Bookman Old Style" pitchFamily="34" charset="-122"/>
                <a:cs typeface="Bookman Old Style" pitchFamily="34" charset="-120"/>
              </a:rPr>
              <a:t>2</a:t>
            </a:r>
            <a:endParaRPr lang="en-US" sz="1700" dirty="0"/>
          </a:p>
        </p:txBody>
      </p:sp>
      <p:sp>
        <p:nvSpPr>
          <p:cNvPr id="14" name="Text 11"/>
          <p:cNvSpPr/>
          <p:nvPr/>
        </p:nvSpPr>
        <p:spPr>
          <a:xfrm>
            <a:off x="3118104" y="4983480"/>
            <a:ext cx="1252728" cy="713232"/>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Approve Account</a:t>
            </a:r>
            <a:endParaRPr lang="en-US" sz="1050" dirty="0"/>
          </a:p>
        </p:txBody>
      </p:sp>
      <p:sp>
        <p:nvSpPr>
          <p:cNvPr id="15" name="Shape 12"/>
          <p:cNvSpPr/>
          <p:nvPr/>
        </p:nvSpPr>
        <p:spPr>
          <a:xfrm>
            <a:off x="4453128" y="4983480"/>
            <a:ext cx="1755648" cy="713232"/>
          </a:xfrm>
          <a:prstGeom prst="roundRect">
            <a:avLst>
              <a:gd name="adj" fmla="val 12821"/>
            </a:avLst>
          </a:prstGeom>
          <a:solidFill>
            <a:srgbClr val="16203F"/>
          </a:solidFill>
          <a:ln w="12700">
            <a:solidFill>
              <a:srgbClr val="2C3A63"/>
            </a:solidFill>
            <a:prstDash val="solid"/>
          </a:ln>
        </p:spPr>
      </p:sp>
      <p:sp>
        <p:nvSpPr>
          <p:cNvPr id="16" name="Text 13"/>
          <p:cNvSpPr/>
          <p:nvPr/>
        </p:nvSpPr>
        <p:spPr>
          <a:xfrm>
            <a:off x="4562856" y="4983480"/>
            <a:ext cx="365760" cy="713232"/>
          </a:xfrm>
          <a:prstGeom prst="rect">
            <a:avLst/>
          </a:prstGeom>
          <a:noFill/>
          <a:ln/>
        </p:spPr>
        <p:txBody>
          <a:bodyPr wrap="square" lIns="0" tIns="0" rIns="0" bIns="0" rtlCol="0" anchor="ctr"/>
          <a:lstStyle/>
          <a:p>
            <a:pPr algn="ctr" indent="0" marL="0">
              <a:buNone/>
            </a:pPr>
            <a:r>
              <a:rPr lang="en-US" sz="1700" b="1" dirty="0">
                <a:solidFill>
                  <a:srgbClr val="F2B441"/>
                </a:solidFill>
                <a:latin typeface="Bookman Old Style" pitchFamily="34" charset="0"/>
                <a:ea typeface="Bookman Old Style" pitchFamily="34" charset="-122"/>
                <a:cs typeface="Bookman Old Style" pitchFamily="34" charset="-120"/>
              </a:rPr>
              <a:t>3</a:t>
            </a:r>
            <a:endParaRPr lang="en-US" sz="1700" dirty="0"/>
          </a:p>
        </p:txBody>
      </p:sp>
      <p:sp>
        <p:nvSpPr>
          <p:cNvPr id="17" name="Text 14"/>
          <p:cNvSpPr/>
          <p:nvPr/>
        </p:nvSpPr>
        <p:spPr>
          <a:xfrm>
            <a:off x="4910328" y="4983480"/>
            <a:ext cx="1252728" cy="713232"/>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Transfer Funds</a:t>
            </a:r>
            <a:endParaRPr lang="en-US" sz="1050" dirty="0"/>
          </a:p>
        </p:txBody>
      </p:sp>
      <p:sp>
        <p:nvSpPr>
          <p:cNvPr id="18" name="Shape 15"/>
          <p:cNvSpPr/>
          <p:nvPr/>
        </p:nvSpPr>
        <p:spPr>
          <a:xfrm>
            <a:off x="6245352" y="4983480"/>
            <a:ext cx="1755648" cy="713232"/>
          </a:xfrm>
          <a:prstGeom prst="roundRect">
            <a:avLst>
              <a:gd name="adj" fmla="val 12821"/>
            </a:avLst>
          </a:prstGeom>
          <a:solidFill>
            <a:srgbClr val="16203F"/>
          </a:solidFill>
          <a:ln w="12700">
            <a:solidFill>
              <a:srgbClr val="2C3A63"/>
            </a:solidFill>
            <a:prstDash val="solid"/>
          </a:ln>
        </p:spPr>
      </p:sp>
      <p:sp>
        <p:nvSpPr>
          <p:cNvPr id="19" name="Text 16"/>
          <p:cNvSpPr/>
          <p:nvPr/>
        </p:nvSpPr>
        <p:spPr>
          <a:xfrm>
            <a:off x="6355080" y="4983480"/>
            <a:ext cx="365760" cy="713232"/>
          </a:xfrm>
          <a:prstGeom prst="rect">
            <a:avLst/>
          </a:prstGeom>
          <a:noFill/>
          <a:ln/>
        </p:spPr>
        <p:txBody>
          <a:bodyPr wrap="square" lIns="0" tIns="0" rIns="0" bIns="0" rtlCol="0" anchor="ctr"/>
          <a:lstStyle/>
          <a:p>
            <a:pPr algn="ctr" indent="0" marL="0">
              <a:buNone/>
            </a:pPr>
            <a:r>
              <a:rPr lang="en-US" sz="1700" b="1" dirty="0">
                <a:solidFill>
                  <a:srgbClr val="F2B441"/>
                </a:solidFill>
                <a:latin typeface="Bookman Old Style" pitchFamily="34" charset="0"/>
                <a:ea typeface="Bookman Old Style" pitchFamily="34" charset="-122"/>
                <a:cs typeface="Bookman Old Style" pitchFamily="34" charset="-120"/>
              </a:rPr>
              <a:t>4</a:t>
            </a:r>
            <a:endParaRPr lang="en-US" sz="1700" dirty="0"/>
          </a:p>
        </p:txBody>
      </p:sp>
      <p:sp>
        <p:nvSpPr>
          <p:cNvPr id="20" name="Text 17"/>
          <p:cNvSpPr/>
          <p:nvPr/>
        </p:nvSpPr>
        <p:spPr>
          <a:xfrm>
            <a:off x="6702552" y="4983480"/>
            <a:ext cx="1252728" cy="713232"/>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Apply for Loan</a:t>
            </a:r>
            <a:endParaRPr lang="en-US" sz="1050" dirty="0"/>
          </a:p>
        </p:txBody>
      </p:sp>
      <p:sp>
        <p:nvSpPr>
          <p:cNvPr id="21" name="Shape 18"/>
          <p:cNvSpPr/>
          <p:nvPr/>
        </p:nvSpPr>
        <p:spPr>
          <a:xfrm>
            <a:off x="8037576" y="4983480"/>
            <a:ext cx="1755648" cy="713232"/>
          </a:xfrm>
          <a:prstGeom prst="roundRect">
            <a:avLst>
              <a:gd name="adj" fmla="val 12821"/>
            </a:avLst>
          </a:prstGeom>
          <a:solidFill>
            <a:srgbClr val="16203F"/>
          </a:solidFill>
          <a:ln w="12700">
            <a:solidFill>
              <a:srgbClr val="2C3A63"/>
            </a:solidFill>
            <a:prstDash val="solid"/>
          </a:ln>
        </p:spPr>
      </p:sp>
      <p:sp>
        <p:nvSpPr>
          <p:cNvPr id="22" name="Text 19"/>
          <p:cNvSpPr/>
          <p:nvPr/>
        </p:nvSpPr>
        <p:spPr>
          <a:xfrm>
            <a:off x="8147304" y="4983480"/>
            <a:ext cx="365760" cy="713232"/>
          </a:xfrm>
          <a:prstGeom prst="rect">
            <a:avLst/>
          </a:prstGeom>
          <a:noFill/>
          <a:ln/>
        </p:spPr>
        <p:txBody>
          <a:bodyPr wrap="square" lIns="0" tIns="0" rIns="0" bIns="0" rtlCol="0" anchor="ctr"/>
          <a:lstStyle/>
          <a:p>
            <a:pPr algn="ctr" indent="0" marL="0">
              <a:buNone/>
            </a:pPr>
            <a:r>
              <a:rPr lang="en-US" sz="1700" b="1" dirty="0">
                <a:solidFill>
                  <a:srgbClr val="F2B441"/>
                </a:solidFill>
                <a:latin typeface="Bookman Old Style" pitchFamily="34" charset="0"/>
                <a:ea typeface="Bookman Old Style" pitchFamily="34" charset="-122"/>
                <a:cs typeface="Bookman Old Style" pitchFamily="34" charset="-120"/>
              </a:rPr>
              <a:t>5</a:t>
            </a:r>
            <a:endParaRPr lang="en-US" sz="1700" dirty="0"/>
          </a:p>
        </p:txBody>
      </p:sp>
      <p:sp>
        <p:nvSpPr>
          <p:cNvPr id="23" name="Text 20"/>
          <p:cNvSpPr/>
          <p:nvPr/>
        </p:nvSpPr>
        <p:spPr>
          <a:xfrm>
            <a:off x="8494776" y="4983480"/>
            <a:ext cx="1252728" cy="713232"/>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Admin Decision</a:t>
            </a:r>
            <a:endParaRPr lang="en-US" sz="1050" dirty="0"/>
          </a:p>
        </p:txBody>
      </p:sp>
      <p:sp>
        <p:nvSpPr>
          <p:cNvPr id="24" name="Shape 21"/>
          <p:cNvSpPr/>
          <p:nvPr/>
        </p:nvSpPr>
        <p:spPr>
          <a:xfrm>
            <a:off x="9829800" y="4983480"/>
            <a:ext cx="1755648" cy="713232"/>
          </a:xfrm>
          <a:prstGeom prst="roundRect">
            <a:avLst>
              <a:gd name="adj" fmla="val 12821"/>
            </a:avLst>
          </a:prstGeom>
          <a:solidFill>
            <a:srgbClr val="16203F"/>
          </a:solidFill>
          <a:ln w="12700">
            <a:solidFill>
              <a:srgbClr val="2C3A63"/>
            </a:solidFill>
            <a:prstDash val="solid"/>
          </a:ln>
        </p:spPr>
      </p:sp>
      <p:sp>
        <p:nvSpPr>
          <p:cNvPr id="25" name="Text 22"/>
          <p:cNvSpPr/>
          <p:nvPr/>
        </p:nvSpPr>
        <p:spPr>
          <a:xfrm>
            <a:off x="9939528" y="4983480"/>
            <a:ext cx="365760" cy="713232"/>
          </a:xfrm>
          <a:prstGeom prst="rect">
            <a:avLst/>
          </a:prstGeom>
          <a:noFill/>
          <a:ln/>
        </p:spPr>
        <p:txBody>
          <a:bodyPr wrap="square" lIns="0" tIns="0" rIns="0" bIns="0" rtlCol="0" anchor="ctr"/>
          <a:lstStyle/>
          <a:p>
            <a:pPr algn="ctr" indent="0" marL="0">
              <a:buNone/>
            </a:pPr>
            <a:r>
              <a:rPr lang="en-US" sz="1700" b="1" dirty="0">
                <a:solidFill>
                  <a:srgbClr val="F2B441"/>
                </a:solidFill>
                <a:latin typeface="Bookman Old Style" pitchFamily="34" charset="0"/>
                <a:ea typeface="Bookman Old Style" pitchFamily="34" charset="-122"/>
                <a:cs typeface="Bookman Old Style" pitchFamily="34" charset="-120"/>
              </a:rPr>
              <a:t>6</a:t>
            </a:r>
            <a:endParaRPr lang="en-US" sz="1700" dirty="0"/>
          </a:p>
        </p:txBody>
      </p:sp>
      <p:sp>
        <p:nvSpPr>
          <p:cNvPr id="26" name="Text 23"/>
          <p:cNvSpPr/>
          <p:nvPr/>
        </p:nvSpPr>
        <p:spPr>
          <a:xfrm>
            <a:off x="10287000" y="4983480"/>
            <a:ext cx="1252728" cy="713232"/>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View Analytics</a:t>
            </a:r>
            <a:endParaRPr lang="en-US" sz="1050" dirty="0"/>
          </a:p>
        </p:txBody>
      </p:sp>
      <p:sp>
        <p:nvSpPr>
          <p:cNvPr id="27" name="Text 24"/>
          <p:cNvSpPr/>
          <p:nvPr/>
        </p:nvSpPr>
        <p:spPr>
          <a:xfrm>
            <a:off x="457200" y="6080760"/>
            <a:ext cx="11247120" cy="365760"/>
          </a:xfrm>
          <a:prstGeom prst="rect">
            <a:avLst/>
          </a:prstGeom>
          <a:noFill/>
          <a:ln/>
        </p:spPr>
        <p:txBody>
          <a:bodyPr wrap="square" lIns="0" tIns="0" rIns="0" bIns="0" rtlCol="0" anchor="ctr"/>
          <a:lstStyle/>
          <a:p>
            <a:pPr algn="ctr" indent="0" marL="0">
              <a:buNone/>
            </a:pPr>
            <a:r>
              <a:rPr lang="en-US" sz="1250" dirty="0">
                <a:solidFill>
                  <a:srgbClr val="8A97AD"/>
                </a:solidFill>
                <a:latin typeface="Arial" pitchFamily="34" charset="0"/>
                <a:ea typeface="Arial" pitchFamily="34" charset="-122"/>
                <a:cs typeface="Arial" pitchFamily="34" charset="-120"/>
              </a:rPr>
              <a:t>Thank you  ·  NeoBank 360  ·  Infosys PMIS  ·  Questions welcome after the walkthrough</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NeoBank 360 — Unified Digital Banking Platform (Extended Deck)</dc:title>
  <dc:subject>PptxGenJS Presentation</dc:subject>
  <dc:creator>Infosys PMIS Intern Cohort</dc:creator>
  <cp:lastModifiedBy>Infosys PMIS Intern Cohort</cp:lastModifiedBy>
  <cp:revision>1</cp:revision>
  <dcterms:created xsi:type="dcterms:W3CDTF">2026-06-21T07:26:10Z</dcterms:created>
  <dcterms:modified xsi:type="dcterms:W3CDTF">2026-06-21T07:26:10Z</dcterms:modified>
</cp:coreProperties>
</file>