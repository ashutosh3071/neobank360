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Bills</c:v>
                </c:pt>
              </c:strCache>
            </c:strRef>
          </c:tx>
          <c:spPr>
            <a:solidFill>
              <a:schemeClr val="accent1"/>
            </a:solidFill>
            <a:ln w="9525" cap="flat">
              <a:solidFill>
                <a:srgbClr val="F9F9F9"/>
              </a:solidFill>
              <a:prstDash val="solid"/>
              <a:round/>
            </a:ln>
            <a:effectLst/>
          </c:spPr>
          <c:dPt>
            <c:idx val="0"/>
            <c:bubble3D val="0"/>
            <c:spPr>
              <a:solidFill>
                <a:srgbClr val="34D399"/>
              </a:solidFill>
              <a:effectLst/>
            </c:spPr>
          </c:dPt>
          <c:dPt>
            <c:idx val="1"/>
            <c:bubble3D val="0"/>
            <c:spPr>
              <a:solidFill>
                <a:srgbClr val="D4AF37"/>
              </a:solidFill>
              <a:effectLst/>
            </c:spPr>
          </c:dPt>
          <c:dPt>
            <c:idx val="2"/>
            <c:bubble3D val="0"/>
            <c:spPr>
              <a:solidFill>
                <a:srgbClr val="FB7185"/>
              </a:solidFill>
              <a:effectLst/>
            </c:spPr>
          </c:dPt>
          <c:dLbls>
            <c:dLbl>
              <c:idx val="0"/>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Paid</c:v>
                </c:pt>
                <c:pt idx="1">
                  <c:v>Pending</c:v>
                </c:pt>
                <c:pt idx="2">
                  <c:v>Overdue</c:v>
                </c:pt>
              </c:strCache>
            </c:strRef>
          </c:cat>
          <c:val>
            <c:numRef>
              <c:f>Sheet1!$B$2:$B$4</c:f>
              <c:numCache>
                <c:ptCount val="3"/>
                <c:pt idx="0">
                  <c:v>62</c:v>
                </c:pt>
                <c:pt idx="1">
                  <c:v>26</c:v>
                </c:pt>
                <c:pt idx="2">
                  <c:v>12</c:v>
                </c:pt>
              </c:numCache>
            </c:numRef>
          </c:val>
        </c:ser>
        <c:firstSliceAng val="0"/>
        <c:holeSize val="64"/>
      </c:doughnutChart>
      <c:spPr>
        <a:noFill/>
        <a:ln>
          <a:noFill/>
        </a:ln>
        <a:effectLst/>
      </c:spPr>
    </c:plotArea>
    <c:legend>
      <c:legendPos val="b"/>
      <c:overlay val="0"/>
      <c:txPr>
        <a:bodyPr/>
        <a:lstStyle/>
        <a:p>
          <a:pPr>
            <a:defRPr sz="1100">
              <a:solidFill>
                <a:srgbClr val="FFFFFF"/>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Transactions</c:v>
                </c:pt>
              </c:strCache>
            </c:strRef>
          </c:tx>
          <c:spPr>
            <a:solidFill>
              <a:srgbClr val="D4AF37"/>
            </a:solidFill>
            <a:ln w="38100" cap="flat">
              <a:solidFill>
                <a:srgbClr val="D4AF3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F37"/>
              </a:solidFill>
              <a:ln w="9525" cap="flat">
                <a:solidFill>
                  <a:srgbClr val="D4AF37"/>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320</c:v>
                </c:pt>
                <c:pt idx="1">
                  <c:v>410</c:v>
                </c:pt>
                <c:pt idx="2">
                  <c:v>480</c:v>
                </c:pt>
                <c:pt idx="3">
                  <c:v>540</c:v>
                </c:pt>
                <c:pt idx="4">
                  <c:v>610</c:v>
                </c:pt>
                <c:pt idx="5">
                  <c:v>720</c:v>
                </c:pt>
              </c:numCache>
            </c:numRef>
          </c:val>
          <c:smooth val="1"/>
        </c:ser>
        <c:ser>
          <c:idx val="1"/>
          <c:order val="1"/>
          <c:tx>
            <c:strRef>
              <c:f>Sheet1!$C$1</c:f>
              <c:strCache>
                <c:ptCount val="1"/>
                <c:pt idx="0">
                  <c:v>Loans Disbursed</c:v>
                </c:pt>
              </c:strCache>
            </c:strRef>
          </c:tx>
          <c:spPr>
            <a:solidFill>
              <a:srgbClr val="38BDF8"/>
            </a:solidFill>
            <a:ln w="38100" cap="flat">
              <a:solidFill>
                <a:srgbClr val="38BDF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BDF8"/>
              </a:solidFill>
              <a:ln w="9525" cap="flat">
                <a:solidFill>
                  <a:srgbClr val="38BDF8"/>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40</c:v>
                </c:pt>
                <c:pt idx="1">
                  <c:v>58</c:v>
                </c:pt>
                <c:pt idx="2">
                  <c:v>72</c:v>
                </c:pt>
                <c:pt idx="3">
                  <c:v>90</c:v>
                </c:pt>
                <c:pt idx="4">
                  <c:v>105</c:v>
                </c:pt>
                <c:pt idx="5">
                  <c:v>128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E8BA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6335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E8BA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FFFFF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presenting NeoBank 360 — a unified, premium digital banking platform. It brings accounts, transfers, lending, budgeting, bill payments and rewards into one secure experience, built on a Spring Boot core with an Angular single-page front end. Our team is led by Ritik Shekhar Parida, alongside Gyana, Laxmipriya, Manoj, Ashutosh, Biswa and Suvajit. Over the next few minutes we'll cover the problem we solve, our technology, a detailed look at the architecture, and the core banking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We open with the problem and our solution, then the technology stack. The centrepiece is a detailed look at the system architecture and the data model. From there we walk through the core banking engines — accounts and transfers, budgeting and bills, the loan and EMI engine, and admin analytics — before closing on achievements and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banking capability is fragmented, manual EMI and bill tracking is error-prone, and neither customers nor admins get one source of truth. NeoBank 360 answers with a single secure platform — atomic money operations, a genuine 360-degree customer view, and a full admin console with an AOP-driven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pairs an Angular 21 standalone single-page app with a Spring Boot 4 modular monolith on Java 21. Security is stateless JWT with HS256 signing and BCrypt password hashing, and Spring AOP gives us an audit-log aspect over every controller call. Persistence is MySQL 8 through Spring Data JPA, with DTOs and validation keeping our API contracts clean. Chart.js drives the live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detailed architecture, read left to right across four layers. On the client, the Angular SPA attaches a Bearer token through a JWT interceptor, and route guards — auth, admin and guest — gate navigation. At the security layer, every request passes the JwtAuthFilter, which validates the token and loads the principal through UserDetailsService; the filter chain is stateless with CSRF disabled and CORS configured, and admin routes require the ADMIN role. In the application layer, REST controllers delegate to a transactional service layer, while an AOP audit aspect transparently wraps every controller call, and DTOs with enums keep contracts validated. Finally the data layer: JPA repositories over MySQL 8 as the source of truth, the EmiCalculatorUtil that builds reducing-balance schedules, and the system_audit_log capturing endpoint, status and latency. The gold chevrons trace a single request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relational core. We organise it into five domains: identity and access centred on users and roles; accounts and the money flow through the transaction ledger; a lending chain that runs from products to applications to accounts to repayments; personal finance covering budgets, bills and rewards; and operations, with system-wide audit logging. Every loan account fans out into a full repayment schedule, and every API call is traceable through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one is core banking. Each customer holds an account with a type, status and live balance. The TransferService is the heart of it: it validates ownership and sufficient balance, then moves the debit and credit legs inside a single transaction, so the books always balance. Every movement is written to the transaction ledger with type, amount, running balance and description. All endpoints are JWT-guarded, and the audit aspect records each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two is personal finance. Customers set monthly category budgets for proactive control, and bills are tracked with biller, due date and amount, carrying a clear paid, pending or overdue status. Overdue items are detected by evaluating each bill against its due date, so they surface on their own. The insights engine aggregates outflow against budgets to show exactly where money goes. The donut is an illustrative snapshot of a billing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three is lending, the most computationally interesting part. Admins define loan products with minimum and maximum amounts, an annual rate and a set of allowed tenures. Customers apply, and an admin approves or rejects with remarks. On approval, the EMI is computed with the standard reducing-balance formula — E equals P r times one-plus-r to the n, over one-plus-r to the n minus one — and a full repayment schedule is generated. Each instalment is split into principal and interest with its own status, and the final instalment absorbs any rounding residual so the schedule closes to the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four is the admin side. Admins get live dashboards for transactions, loans and users — the line chart shows an illustrative growth trend. Critically, every controller call is intercepted by the AOP audit aspect and written to the audit log, capturing endpoint, HTTP method, response status and execution time — a complete, tamper-evident trail. Admins also drive loan decisions, approving or rejecting with remarks, and manage users across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outcomes: we built an accurate reducing-balance loan engine with proper principal-interest splitting and exact rounding; a secure-by-design stack with stateless JWT, BCrypt and layered guards; full auditability through the AOP aspect; transactional integrity in transfers; a unified domain model spanning every banking area; and a clean, disciplined layered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most immediate win is scheduled automation — background jobs to auto-mark overdue EMIs and bills and push reminders. Beyond that, decomposing into microservices, ML-driven spend insights and anomaly detection, native mobile apps on the same API, biometric and TOTP two-factor auth, and open-banking APIs for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learnings: financial precision means careful rounding with a residual-absorbing final EMI. Transfers taught us atomicity — both legs commit together. Securing the API behind clean role-based access with stateless JWT took discipline, as did keeping the layering clean with DTOs. AOP was the unlock for cross-cutting audit logging without polluting business logic, and coordinating the team sharpened our Git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That completes our walkthrough of NeoBank 360 — from the layered architecture and security model through the core banking, lending and analytics engines. We'd be glad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8046720" y="-2743200"/>
            <a:ext cx="7315200" cy="7315200"/>
          </a:xfrm>
          <a:prstGeom prst="ellipse">
            <a:avLst/>
          </a:prstGeom>
          <a:solidFill>
            <a:srgbClr val="D4AF37">
              <a:alpha val="10000"/>
            </a:srgbClr>
          </a:solidFill>
          <a:ln/>
        </p:spPr>
      </p:sp>
      <p:sp>
        <p:nvSpPr>
          <p:cNvPr id="3" name="Shape 1"/>
          <p:cNvSpPr/>
          <p:nvPr/>
        </p:nvSpPr>
        <p:spPr>
          <a:xfrm>
            <a:off x="9875520" y="3291840"/>
            <a:ext cx="4572000" cy="4572000"/>
          </a:xfrm>
          <a:prstGeom prst="ellipse">
            <a:avLst/>
          </a:prstGeom>
          <a:solidFill>
            <a:srgbClr val="A78BFA">
              <a:alpha val="7000"/>
            </a:srgbClr>
          </a:solidFill>
          <a:ln/>
        </p:spPr>
      </p:sp>
      <p:sp>
        <p:nvSpPr>
          <p:cNvPr id="4" name="Shape 2"/>
          <p:cNvSpPr/>
          <p:nvPr/>
        </p:nvSpPr>
        <p:spPr>
          <a:xfrm>
            <a:off x="-2194560" y="-1828800"/>
            <a:ext cx="4754880" cy="4754880"/>
          </a:xfrm>
          <a:prstGeom prst="ellipse">
            <a:avLst/>
          </a:prstGeom>
          <a:solidFill>
            <a:srgbClr val="38BDF8">
              <a:alpha val="6000"/>
            </a:srgbClr>
          </a:solidFill>
          <a:ln/>
        </p:spPr>
      </p:sp>
      <p:sp>
        <p:nvSpPr>
          <p:cNvPr id="5" name="Shape 3"/>
          <p:cNvSpPr/>
          <p:nvPr/>
        </p:nvSpPr>
        <p:spPr>
          <a:xfrm>
            <a:off x="274320" y="274320"/>
            <a:ext cx="11643055" cy="6309360"/>
          </a:xfrm>
          <a:prstGeom prst="rect">
            <a:avLst/>
          </a:prstGeom>
          <a:ln w="12700">
            <a:solidFill>
              <a:srgbClr val="263352"/>
            </a:solidFill>
            <a:prstDash val="solid"/>
          </a:ln>
        </p:spPr>
      </p:sp>
      <p:sp>
        <p:nvSpPr>
          <p:cNvPr id="6" name="Shape 4"/>
          <p:cNvSpPr/>
          <p:nvPr/>
        </p:nvSpPr>
        <p:spPr>
          <a:xfrm>
            <a:off x="640080" y="603504"/>
            <a:ext cx="868680" cy="868680"/>
          </a:xfrm>
          <a:prstGeom prst="ellipse">
            <a:avLst/>
          </a:prstGeom>
          <a:solidFill>
            <a:srgbClr val="D4AF37"/>
          </a:solidFill>
          <a:ln w="9525">
            <a:solidFill>
              <a:srgbClr val="F0CE6B"/>
            </a:solidFill>
            <a:prstDash val="solid"/>
          </a:ln>
          <a:effectLst>
            <a:outerShdw sx="100000" sy="100000" kx="0" ky="0" algn="bl" rotWithShape="0" blurRad="228600" dist="50800" dir="16200000">
              <a:srgbClr val="D4AF37">
                <a:alpha val="50000"/>
              </a:srgbClr>
            </a:outerShdw>
          </a:effectLst>
        </p:spPr>
      </p:sp>
      <p:pic>
        <p:nvPicPr>
          <p:cNvPr id="7" name="Image 0" descr="preencoded.png">    </p:cNvPr>
          <p:cNvPicPr>
            <a:picLocks noChangeAspect="1"/>
          </p:cNvPicPr>
          <p:nvPr/>
        </p:nvPicPr>
        <p:blipFill>
          <a:blip r:embed="rId1"/>
          <a:stretch>
            <a:fillRect/>
          </a:stretch>
        </p:blipFill>
        <p:spPr>
          <a:xfrm>
            <a:off x="874624" y="838048"/>
            <a:ext cx="399593" cy="399593"/>
          </a:xfrm>
          <a:prstGeom prst="rect">
            <a:avLst/>
          </a:prstGeom>
        </p:spPr>
      </p:pic>
      <p:sp>
        <p:nvSpPr>
          <p:cNvPr id="8" name="Text 5"/>
          <p:cNvSpPr/>
          <p:nvPr/>
        </p:nvSpPr>
        <p:spPr>
          <a:xfrm>
            <a:off x="1645920" y="676656"/>
            <a:ext cx="5486400" cy="411480"/>
          </a:xfrm>
          <a:prstGeom prst="rect">
            <a:avLst/>
          </a:prstGeom>
          <a:noFill/>
          <a:ln/>
        </p:spPr>
        <p:txBody>
          <a:bodyPr wrap="square" lIns="0" tIns="0" rIns="0" bIns="0" rtlCol="0" anchor="ctr"/>
          <a:lstStyle/>
          <a:p>
            <a:pPr indent="0" marL="0">
              <a:buNone/>
            </a:pPr>
            <a:r>
              <a:rPr lang="en-US" sz="1500" b="1" spc="500" kern="0" dirty="0">
                <a:solidFill>
                  <a:srgbClr val="D4AF37"/>
                </a:solidFill>
                <a:latin typeface="Calibri" pitchFamily="34" charset="0"/>
                <a:ea typeface="Calibri" pitchFamily="34" charset="-122"/>
                <a:cs typeface="Calibri" pitchFamily="34" charset="-120"/>
              </a:rPr>
              <a:t>NEOBANK 360</a:t>
            </a:r>
            <a:endParaRPr lang="en-US" sz="1500" dirty="0"/>
          </a:p>
        </p:txBody>
      </p:sp>
      <p:sp>
        <p:nvSpPr>
          <p:cNvPr id="9" name="Text 6"/>
          <p:cNvSpPr/>
          <p:nvPr/>
        </p:nvSpPr>
        <p:spPr>
          <a:xfrm>
            <a:off x="1645920" y="1024128"/>
            <a:ext cx="5486400" cy="274320"/>
          </a:xfrm>
          <a:prstGeom prst="rect">
            <a:avLst/>
          </a:prstGeom>
          <a:noFill/>
          <a:ln/>
        </p:spPr>
        <p:txBody>
          <a:bodyPr wrap="square" lIns="0" tIns="0" rIns="0" bIns="0" rtlCol="0" anchor="ctr"/>
          <a:lstStyle/>
          <a:p>
            <a:pPr indent="0" marL="0">
              <a:buNone/>
            </a:pPr>
            <a:r>
              <a:rPr lang="en-US" sz="950" spc="300" kern="0" dirty="0">
                <a:solidFill>
                  <a:srgbClr val="7E8BA8"/>
                </a:solidFill>
                <a:latin typeface="Calibri" pitchFamily="34" charset="0"/>
                <a:ea typeface="Calibri" pitchFamily="34" charset="-122"/>
                <a:cs typeface="Calibri" pitchFamily="34" charset="-120"/>
              </a:rPr>
              <a:t>DIGITAL BANKING SUITE</a:t>
            </a:r>
            <a:endParaRPr lang="en-US" sz="950" dirty="0"/>
          </a:p>
        </p:txBody>
      </p:sp>
      <p:sp>
        <p:nvSpPr>
          <p:cNvPr id="10" name="Text 7"/>
          <p:cNvSpPr/>
          <p:nvPr/>
        </p:nvSpPr>
        <p:spPr>
          <a:xfrm>
            <a:off x="640080" y="1993392"/>
            <a:ext cx="8686800" cy="868680"/>
          </a:xfrm>
          <a:prstGeom prst="rect">
            <a:avLst/>
          </a:prstGeom>
          <a:noFill/>
          <a:ln/>
        </p:spPr>
        <p:txBody>
          <a:bodyPr wrap="square" lIns="0" tIns="0" rIns="0" bIns="0" rtlCol="0" anchor="ctr"/>
          <a:lstStyle/>
          <a:p>
            <a:pPr indent="0" marL="0">
              <a:buNone/>
            </a:pPr>
            <a:r>
              <a:rPr lang="en-US" sz="5400" b="1" dirty="0">
                <a:solidFill>
                  <a:srgbClr val="FFFFFF"/>
                </a:solidFill>
                <a:latin typeface="Bookman Old Style" pitchFamily="34" charset="0"/>
                <a:ea typeface="Bookman Old Style" pitchFamily="34" charset="-122"/>
                <a:cs typeface="Bookman Old Style" pitchFamily="34" charset="-120"/>
              </a:rPr>
              <a:t>Unified Digital</a:t>
            </a:r>
            <a:endParaRPr lang="en-US" sz="5400" dirty="0"/>
          </a:p>
        </p:txBody>
      </p:sp>
      <p:sp>
        <p:nvSpPr>
          <p:cNvPr id="11" name="Text 8"/>
          <p:cNvSpPr/>
          <p:nvPr/>
        </p:nvSpPr>
        <p:spPr>
          <a:xfrm>
            <a:off x="640080" y="2852928"/>
            <a:ext cx="8686800" cy="868680"/>
          </a:xfrm>
          <a:prstGeom prst="rect">
            <a:avLst/>
          </a:prstGeom>
          <a:noFill/>
          <a:ln/>
        </p:spPr>
        <p:txBody>
          <a:bodyPr wrap="square" lIns="0" tIns="0" rIns="0" bIns="0" rtlCol="0" anchor="ctr"/>
          <a:lstStyle/>
          <a:p>
            <a:pPr indent="0" marL="0">
              <a:buNone/>
            </a:pPr>
            <a:r>
              <a:rPr lang="en-US" sz="5400" b="1" dirty="0">
                <a:solidFill>
                  <a:srgbClr val="FFFFFF"/>
                </a:solidFill>
                <a:latin typeface="Bookman Old Style" pitchFamily="34" charset="0"/>
                <a:ea typeface="Bookman Old Style" pitchFamily="34" charset="-122"/>
                <a:cs typeface="Bookman Old Style" pitchFamily="34" charset="-120"/>
              </a:rPr>
              <a:t>Banking </a:t>
            </a:r>
            <a:pPr indent="0" marL="0">
              <a:buNone/>
            </a:pPr>
            <a:r>
              <a:rPr lang="en-US" sz="5400" b="1" dirty="0">
                <a:solidFill>
                  <a:srgbClr val="D4AF37"/>
                </a:solidFill>
                <a:latin typeface="Bookman Old Style" pitchFamily="34" charset="0"/>
                <a:ea typeface="Bookman Old Style" pitchFamily="34" charset="-122"/>
                <a:cs typeface="Bookman Old Style" pitchFamily="34" charset="-120"/>
              </a:rPr>
              <a:t>Platform</a:t>
            </a:r>
            <a:endParaRPr lang="en-US" sz="5400" dirty="0"/>
          </a:p>
        </p:txBody>
      </p:sp>
      <p:sp>
        <p:nvSpPr>
          <p:cNvPr id="12" name="Shape 9"/>
          <p:cNvSpPr/>
          <p:nvPr/>
        </p:nvSpPr>
        <p:spPr>
          <a:xfrm>
            <a:off x="676656" y="3840480"/>
            <a:ext cx="1005840" cy="0"/>
          </a:xfrm>
          <a:prstGeom prst="line">
            <a:avLst/>
          </a:prstGeom>
          <a:noFill/>
          <a:ln w="31750">
            <a:solidFill>
              <a:srgbClr val="D4AF37"/>
            </a:solidFill>
            <a:prstDash val="solid"/>
          </a:ln>
        </p:spPr>
      </p:sp>
      <p:sp>
        <p:nvSpPr>
          <p:cNvPr id="13" name="Text 10"/>
          <p:cNvSpPr/>
          <p:nvPr/>
        </p:nvSpPr>
        <p:spPr>
          <a:xfrm>
            <a:off x="676656" y="4041648"/>
            <a:ext cx="6400800" cy="868680"/>
          </a:xfrm>
          <a:prstGeom prst="rect">
            <a:avLst/>
          </a:prstGeom>
          <a:noFill/>
          <a:ln/>
        </p:spPr>
        <p:txBody>
          <a:bodyPr wrap="square" lIns="0" tIns="0" rIns="0" bIns="0" rtlCol="0" anchor="ctr"/>
          <a:lstStyle/>
          <a:p>
            <a:pPr indent="0" marL="0">
              <a:lnSpc>
                <a:spcPct val="120000"/>
              </a:lnSpc>
              <a:buNone/>
            </a:pPr>
            <a:r>
              <a:rPr lang="en-US" sz="1400" dirty="0">
                <a:solidFill>
                  <a:srgbClr val="C7D0E0"/>
                </a:solidFill>
                <a:latin typeface="Calibri" pitchFamily="34" charset="0"/>
                <a:ea typeface="Calibri" pitchFamily="34" charset="-122"/>
                <a:cs typeface="Calibri" pitchFamily="34" charset="-120"/>
              </a:rPr>
              <a:t>A premium, end-to-end banking experience — accounts, transfers, lending, budgeting, bills and rewards — engineered on a secure Spring Boot core with an Angular single-page front end.</a:t>
            </a:r>
            <a:endParaRPr lang="en-US" sz="1400" dirty="0"/>
          </a:p>
        </p:txBody>
      </p:sp>
      <p:sp>
        <p:nvSpPr>
          <p:cNvPr id="14" name="Shape 11"/>
          <p:cNvSpPr/>
          <p:nvPr/>
        </p:nvSpPr>
        <p:spPr>
          <a:xfrm>
            <a:off x="676656" y="5138928"/>
            <a:ext cx="2048256" cy="713232"/>
          </a:xfrm>
          <a:prstGeom prst="roundRect">
            <a:avLst>
              <a:gd name="adj" fmla="val 11538"/>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5" name="Shape 12"/>
          <p:cNvSpPr/>
          <p:nvPr/>
        </p:nvSpPr>
        <p:spPr>
          <a:xfrm>
            <a:off x="822960" y="5285232"/>
            <a:ext cx="420624" cy="420624"/>
          </a:xfrm>
          <a:prstGeom prst="ellipse">
            <a:avLst/>
          </a:prstGeom>
          <a:solidFill>
            <a:srgbClr val="D4AF37"/>
          </a:solidFill>
          <a:ln/>
          <a:effectLst>
            <a:outerShdw sx="100000" sy="100000" kx="0" ky="0" algn="bl" rotWithShape="0" blurRad="228600" dist="50800" dir="16200000">
              <a:srgbClr val="D4AF37">
                <a:alpha val="50000"/>
              </a:srgbClr>
            </a:outerShdw>
          </a:effectLst>
        </p:spPr>
      </p:sp>
      <p:pic>
        <p:nvPicPr>
          <p:cNvPr id="16" name="Image 1" descr="preencoded.png">    </p:cNvPr>
          <p:cNvPicPr>
            <a:picLocks noChangeAspect="1"/>
          </p:cNvPicPr>
          <p:nvPr/>
        </p:nvPicPr>
        <p:blipFill>
          <a:blip r:embed="rId2"/>
          <a:stretch>
            <a:fillRect/>
          </a:stretch>
        </p:blipFill>
        <p:spPr>
          <a:xfrm>
            <a:off x="936528" y="5398800"/>
            <a:ext cx="193487" cy="193487"/>
          </a:xfrm>
          <a:prstGeom prst="rect">
            <a:avLst/>
          </a:prstGeom>
        </p:spPr>
      </p:pic>
      <p:sp>
        <p:nvSpPr>
          <p:cNvPr id="17" name="Text 13"/>
          <p:cNvSpPr/>
          <p:nvPr/>
        </p:nvSpPr>
        <p:spPr>
          <a:xfrm>
            <a:off x="1335024" y="5138928"/>
            <a:ext cx="1371600" cy="713232"/>
          </a:xfrm>
          <a:prstGeom prst="rect">
            <a:avLst/>
          </a:prstGeom>
          <a:noFill/>
          <a:ln/>
        </p:spPr>
        <p:txBody>
          <a:bodyPr wrap="square" lIns="0" tIns="0" rIns="0" bIns="0" rtlCol="0" anchor="ctr"/>
          <a:lstStyle/>
          <a:p>
            <a:pPr indent="0" marL="0">
              <a:buNone/>
            </a:pPr>
            <a:r>
              <a:rPr lang="en-US" sz="1100" b="1" dirty="0">
                <a:solidFill>
                  <a:srgbClr val="C7D0E0"/>
                </a:solidFill>
                <a:latin typeface="Calibri" pitchFamily="34" charset="0"/>
                <a:ea typeface="Calibri" pitchFamily="34" charset="-122"/>
                <a:cs typeface="Calibri" pitchFamily="34" charset="-120"/>
              </a:rPr>
              <a:t>Secure by Design</a:t>
            </a:r>
            <a:endParaRPr lang="en-US" sz="1100" dirty="0"/>
          </a:p>
        </p:txBody>
      </p:sp>
      <p:sp>
        <p:nvSpPr>
          <p:cNvPr id="18" name="Shape 14"/>
          <p:cNvSpPr/>
          <p:nvPr/>
        </p:nvSpPr>
        <p:spPr>
          <a:xfrm>
            <a:off x="2889504" y="5138928"/>
            <a:ext cx="2048256" cy="713232"/>
          </a:xfrm>
          <a:prstGeom prst="roundRect">
            <a:avLst>
              <a:gd name="adj" fmla="val 11538"/>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9" name="Shape 15"/>
          <p:cNvSpPr/>
          <p:nvPr/>
        </p:nvSpPr>
        <p:spPr>
          <a:xfrm>
            <a:off x="3035808" y="5285232"/>
            <a:ext cx="420624" cy="420624"/>
          </a:xfrm>
          <a:prstGeom prst="ellipse">
            <a:avLst/>
          </a:prstGeom>
          <a:solidFill>
            <a:srgbClr val="D4AF37"/>
          </a:solidFill>
          <a:ln/>
          <a:effectLst>
            <a:outerShdw sx="100000" sy="100000" kx="0" ky="0" algn="bl" rotWithShape="0" blurRad="228600" dist="50800" dir="16200000">
              <a:srgbClr val="D4AF37">
                <a:alpha val="50000"/>
              </a:srgbClr>
            </a:outerShdw>
          </a:effectLst>
        </p:spPr>
      </p:sp>
      <p:pic>
        <p:nvPicPr>
          <p:cNvPr id="20" name="Image 2" descr="preencoded.png">    </p:cNvPr>
          <p:cNvPicPr>
            <a:picLocks noChangeAspect="1"/>
          </p:cNvPicPr>
          <p:nvPr/>
        </p:nvPicPr>
        <p:blipFill>
          <a:blip r:embed="rId3"/>
          <a:stretch>
            <a:fillRect/>
          </a:stretch>
        </p:blipFill>
        <p:spPr>
          <a:xfrm>
            <a:off x="3149376" y="5398800"/>
            <a:ext cx="193487" cy="193487"/>
          </a:xfrm>
          <a:prstGeom prst="rect">
            <a:avLst/>
          </a:prstGeom>
        </p:spPr>
      </p:pic>
      <p:sp>
        <p:nvSpPr>
          <p:cNvPr id="21" name="Text 16"/>
          <p:cNvSpPr/>
          <p:nvPr/>
        </p:nvSpPr>
        <p:spPr>
          <a:xfrm>
            <a:off x="3547872" y="5138928"/>
            <a:ext cx="1371600" cy="713232"/>
          </a:xfrm>
          <a:prstGeom prst="rect">
            <a:avLst/>
          </a:prstGeom>
          <a:noFill/>
          <a:ln/>
        </p:spPr>
        <p:txBody>
          <a:bodyPr wrap="square" lIns="0" tIns="0" rIns="0" bIns="0" rtlCol="0" anchor="ctr"/>
          <a:lstStyle/>
          <a:p>
            <a:pPr indent="0" marL="0">
              <a:buNone/>
            </a:pPr>
            <a:r>
              <a:rPr lang="en-US" sz="1100" b="1" dirty="0">
                <a:solidFill>
                  <a:srgbClr val="C7D0E0"/>
                </a:solidFill>
                <a:latin typeface="Calibri" pitchFamily="34" charset="0"/>
                <a:ea typeface="Calibri" pitchFamily="34" charset="-122"/>
                <a:cs typeface="Calibri" pitchFamily="34" charset="-120"/>
              </a:rPr>
              <a:t>Fully Audited</a:t>
            </a:r>
            <a:endParaRPr lang="en-US" sz="1100" dirty="0"/>
          </a:p>
        </p:txBody>
      </p:sp>
      <p:sp>
        <p:nvSpPr>
          <p:cNvPr id="22" name="Shape 17"/>
          <p:cNvSpPr/>
          <p:nvPr/>
        </p:nvSpPr>
        <p:spPr>
          <a:xfrm>
            <a:off x="5102352" y="5138928"/>
            <a:ext cx="2048256" cy="713232"/>
          </a:xfrm>
          <a:prstGeom prst="roundRect">
            <a:avLst>
              <a:gd name="adj" fmla="val 11538"/>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3" name="Shape 18"/>
          <p:cNvSpPr/>
          <p:nvPr/>
        </p:nvSpPr>
        <p:spPr>
          <a:xfrm>
            <a:off x="5248656" y="5285232"/>
            <a:ext cx="420624" cy="420624"/>
          </a:xfrm>
          <a:prstGeom prst="ellipse">
            <a:avLst/>
          </a:prstGeom>
          <a:solidFill>
            <a:srgbClr val="D4AF37"/>
          </a:solidFill>
          <a:ln/>
          <a:effectLst>
            <a:outerShdw sx="100000" sy="100000" kx="0" ky="0" algn="bl" rotWithShape="0" blurRad="228600" dist="50800" dir="16200000">
              <a:srgbClr val="D4AF37">
                <a:alpha val="50000"/>
              </a:srgbClr>
            </a:outerShdw>
          </a:effectLst>
        </p:spPr>
      </p:sp>
      <p:pic>
        <p:nvPicPr>
          <p:cNvPr id="24" name="Image 3" descr="preencoded.png">    </p:cNvPr>
          <p:cNvPicPr>
            <a:picLocks noChangeAspect="1"/>
          </p:cNvPicPr>
          <p:nvPr/>
        </p:nvPicPr>
        <p:blipFill>
          <a:blip r:embed="rId4"/>
          <a:stretch>
            <a:fillRect/>
          </a:stretch>
        </p:blipFill>
        <p:spPr>
          <a:xfrm>
            <a:off x="5362224" y="5398800"/>
            <a:ext cx="193487" cy="193487"/>
          </a:xfrm>
          <a:prstGeom prst="rect">
            <a:avLst/>
          </a:prstGeom>
        </p:spPr>
      </p:pic>
      <p:sp>
        <p:nvSpPr>
          <p:cNvPr id="25" name="Text 19"/>
          <p:cNvSpPr/>
          <p:nvPr/>
        </p:nvSpPr>
        <p:spPr>
          <a:xfrm>
            <a:off x="5760720" y="5138928"/>
            <a:ext cx="1371600" cy="713232"/>
          </a:xfrm>
          <a:prstGeom prst="rect">
            <a:avLst/>
          </a:prstGeom>
          <a:noFill/>
          <a:ln/>
        </p:spPr>
        <p:txBody>
          <a:bodyPr wrap="square" lIns="0" tIns="0" rIns="0" bIns="0" rtlCol="0" anchor="ctr"/>
          <a:lstStyle/>
          <a:p>
            <a:pPr indent="0" marL="0">
              <a:buNone/>
            </a:pPr>
            <a:r>
              <a:rPr lang="en-US" sz="1100" b="1" dirty="0">
                <a:solidFill>
                  <a:srgbClr val="C7D0E0"/>
                </a:solidFill>
                <a:latin typeface="Calibri" pitchFamily="34" charset="0"/>
                <a:ea typeface="Calibri" pitchFamily="34" charset="-122"/>
                <a:cs typeface="Calibri" pitchFamily="34" charset="-120"/>
              </a:rPr>
              <a:t>Customer 360°</a:t>
            </a:r>
            <a:endParaRPr lang="en-US" sz="1100" dirty="0"/>
          </a:p>
        </p:txBody>
      </p:sp>
      <p:sp>
        <p:nvSpPr>
          <p:cNvPr id="26" name="Shape 20"/>
          <p:cNvSpPr/>
          <p:nvPr/>
        </p:nvSpPr>
        <p:spPr>
          <a:xfrm>
            <a:off x="7818120" y="603504"/>
            <a:ext cx="3749040" cy="5650992"/>
          </a:xfrm>
          <a:prstGeom prst="roundRect">
            <a:avLst>
              <a:gd name="adj" fmla="val 2927"/>
            </a:avLst>
          </a:prstGeom>
          <a:solidFill>
            <a:srgbClr val="141C30"/>
          </a:solidFill>
          <a:ln w="12700">
            <a:solidFill>
              <a:srgbClr val="32436B"/>
            </a:solidFill>
            <a:prstDash val="solid"/>
          </a:ln>
          <a:effectLst>
            <a:outerShdw sx="100000" sy="100000" kx="0" ky="0" algn="bl" rotWithShape="0" blurRad="152400" dist="50800" dir="5400000">
              <a:srgbClr val="000000">
                <a:alpha val="45000"/>
              </a:srgbClr>
            </a:outerShdw>
          </a:effectLst>
        </p:spPr>
      </p:sp>
      <p:sp>
        <p:nvSpPr>
          <p:cNvPr id="27" name="Shape 21"/>
          <p:cNvSpPr/>
          <p:nvPr/>
        </p:nvSpPr>
        <p:spPr>
          <a:xfrm>
            <a:off x="7818120" y="603504"/>
            <a:ext cx="3749040" cy="914400"/>
          </a:xfrm>
          <a:prstGeom prst="roundRect">
            <a:avLst>
              <a:gd name="adj" fmla="val 12000"/>
            </a:avLst>
          </a:prstGeom>
          <a:solidFill>
            <a:srgbClr val="1A2540"/>
          </a:solidFill>
          <a:ln/>
        </p:spPr>
      </p:sp>
      <p:sp>
        <p:nvSpPr>
          <p:cNvPr id="28" name="Shape 22"/>
          <p:cNvSpPr/>
          <p:nvPr/>
        </p:nvSpPr>
        <p:spPr>
          <a:xfrm>
            <a:off x="8110728" y="841248"/>
            <a:ext cx="457200" cy="457200"/>
          </a:xfrm>
          <a:prstGeom prst="ellipse">
            <a:avLst/>
          </a:prstGeom>
          <a:solidFill>
            <a:srgbClr val="D4AF37"/>
          </a:solidFill>
          <a:ln w="9525">
            <a:solidFill>
              <a:srgbClr val="F0CE6B"/>
            </a:solidFill>
            <a:prstDash val="solid"/>
          </a:ln>
          <a:effectLst>
            <a:outerShdw sx="100000" sy="100000" kx="0" ky="0" algn="bl" rotWithShape="0" blurRad="228600" dist="50800" dir="16200000">
              <a:srgbClr val="D4AF37">
                <a:alpha val="50000"/>
              </a:srgbClr>
            </a:outerShdw>
          </a:effectLst>
        </p:spPr>
      </p:sp>
      <p:pic>
        <p:nvPicPr>
          <p:cNvPr id="29" name="Image 4" descr="preencoded.png">    </p:cNvPr>
          <p:cNvPicPr>
            <a:picLocks noChangeAspect="1"/>
          </p:cNvPicPr>
          <p:nvPr/>
        </p:nvPicPr>
        <p:blipFill>
          <a:blip r:embed="rId5"/>
          <a:stretch>
            <a:fillRect/>
          </a:stretch>
        </p:blipFill>
        <p:spPr>
          <a:xfrm>
            <a:off x="8234172" y="964692"/>
            <a:ext cx="210312" cy="210312"/>
          </a:xfrm>
          <a:prstGeom prst="rect">
            <a:avLst/>
          </a:prstGeom>
        </p:spPr>
      </p:pic>
      <p:sp>
        <p:nvSpPr>
          <p:cNvPr id="30" name="Text 23"/>
          <p:cNvSpPr/>
          <p:nvPr/>
        </p:nvSpPr>
        <p:spPr>
          <a:xfrm>
            <a:off x="8732520" y="768096"/>
            <a:ext cx="2651760" cy="548640"/>
          </a:xfrm>
          <a:prstGeom prst="rect">
            <a:avLst/>
          </a:prstGeom>
          <a:noFill/>
          <a:ln/>
        </p:spPr>
        <p:txBody>
          <a:bodyPr wrap="square" lIns="0" tIns="0" rIns="0" bIns="0" rtlCol="0" anchor="ctr"/>
          <a:lstStyle/>
          <a:p>
            <a:pPr indent="0" marL="0">
              <a:buNone/>
            </a:pPr>
            <a:r>
              <a:rPr lang="en-US" sz="1400" b="1" spc="250" kern="0" dirty="0">
                <a:solidFill>
                  <a:srgbClr val="FFFFFF"/>
                </a:solidFill>
                <a:latin typeface="Calibri" pitchFamily="34" charset="0"/>
                <a:ea typeface="Calibri" pitchFamily="34" charset="-122"/>
                <a:cs typeface="Calibri" pitchFamily="34" charset="-120"/>
              </a:rPr>
              <a:t>PROJECT TEAM</a:t>
            </a:r>
            <a:endParaRPr lang="en-US" sz="1400" dirty="0"/>
          </a:p>
        </p:txBody>
      </p:sp>
      <p:sp>
        <p:nvSpPr>
          <p:cNvPr id="31" name="Shape 24"/>
          <p:cNvSpPr/>
          <p:nvPr/>
        </p:nvSpPr>
        <p:spPr>
          <a:xfrm>
            <a:off x="8092440" y="1746504"/>
            <a:ext cx="420624" cy="420624"/>
          </a:xfrm>
          <a:prstGeom prst="ellipse">
            <a:avLst/>
          </a:prstGeom>
          <a:solidFill>
            <a:srgbClr val="D4AF37"/>
          </a:solidFill>
          <a:ln w="12700">
            <a:solidFill>
              <a:srgbClr val="F0CE6B"/>
            </a:solidFill>
            <a:prstDash val="solid"/>
          </a:ln>
        </p:spPr>
      </p:sp>
      <p:sp>
        <p:nvSpPr>
          <p:cNvPr id="32" name="Text 25"/>
          <p:cNvSpPr/>
          <p:nvPr/>
        </p:nvSpPr>
        <p:spPr>
          <a:xfrm>
            <a:off x="8092440" y="1746504"/>
            <a:ext cx="420624" cy="420624"/>
          </a:xfrm>
          <a:prstGeom prst="rect">
            <a:avLst/>
          </a:prstGeom>
          <a:noFill/>
          <a:ln/>
        </p:spPr>
        <p:txBody>
          <a:bodyPr wrap="square" lIns="0" tIns="0" rIns="0" bIns="0" rtlCol="0" anchor="ctr"/>
          <a:lstStyle/>
          <a:p>
            <a:pPr algn="ctr" indent="0" marL="0">
              <a:buNone/>
            </a:pPr>
            <a:r>
              <a:rPr lang="en-US" sz="1200" b="1" dirty="0">
                <a:solidFill>
                  <a:srgbClr val="0A0E1A"/>
                </a:solidFill>
                <a:latin typeface="Calibri" pitchFamily="34" charset="0"/>
                <a:ea typeface="Calibri" pitchFamily="34" charset="-122"/>
                <a:cs typeface="Calibri" pitchFamily="34" charset="-120"/>
              </a:rPr>
              <a:t>RP</a:t>
            </a:r>
            <a:endParaRPr lang="en-US" sz="1200" dirty="0"/>
          </a:p>
        </p:txBody>
      </p:sp>
      <p:sp>
        <p:nvSpPr>
          <p:cNvPr id="33" name="Text 26"/>
          <p:cNvSpPr/>
          <p:nvPr/>
        </p:nvSpPr>
        <p:spPr>
          <a:xfrm>
            <a:off x="8659368" y="1700784"/>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Ritik Shekhar Parida</a:t>
            </a:r>
            <a:endParaRPr lang="en-US" sz="1250" dirty="0"/>
          </a:p>
        </p:txBody>
      </p:sp>
      <p:sp>
        <p:nvSpPr>
          <p:cNvPr id="34" name="Text 27"/>
          <p:cNvSpPr/>
          <p:nvPr/>
        </p:nvSpPr>
        <p:spPr>
          <a:xfrm>
            <a:off x="8659368" y="1975104"/>
            <a:ext cx="2697480" cy="237744"/>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Team Lead</a:t>
            </a:r>
            <a:endParaRPr lang="en-US" sz="1000" dirty="0"/>
          </a:p>
        </p:txBody>
      </p:sp>
      <p:sp>
        <p:nvSpPr>
          <p:cNvPr id="35" name="Shape 28"/>
          <p:cNvSpPr/>
          <p:nvPr/>
        </p:nvSpPr>
        <p:spPr>
          <a:xfrm>
            <a:off x="8092440" y="2350008"/>
            <a:ext cx="420624" cy="420624"/>
          </a:xfrm>
          <a:prstGeom prst="ellipse">
            <a:avLst/>
          </a:prstGeom>
          <a:solidFill>
            <a:srgbClr val="1A2540"/>
          </a:solidFill>
          <a:ln w="12700">
            <a:solidFill>
              <a:srgbClr val="32436B"/>
            </a:solidFill>
            <a:prstDash val="solid"/>
          </a:ln>
        </p:spPr>
      </p:sp>
      <p:sp>
        <p:nvSpPr>
          <p:cNvPr id="36" name="Text 29"/>
          <p:cNvSpPr/>
          <p:nvPr/>
        </p:nvSpPr>
        <p:spPr>
          <a:xfrm>
            <a:off x="8092440" y="2350008"/>
            <a:ext cx="420624" cy="420624"/>
          </a:xfrm>
          <a:prstGeom prst="rect">
            <a:avLst/>
          </a:prstGeom>
          <a:noFill/>
          <a:ln/>
        </p:spPr>
        <p:txBody>
          <a:bodyPr wrap="square" lIns="0" tIns="0" rIns="0" bIns="0" rtlCol="0" anchor="ctr"/>
          <a:lstStyle/>
          <a:p>
            <a:pPr algn="ctr" indent="0" marL="0">
              <a:buNone/>
            </a:pPr>
            <a:r>
              <a:rPr lang="en-US" sz="1200" b="1" dirty="0">
                <a:solidFill>
                  <a:srgbClr val="C7D0E0"/>
                </a:solidFill>
                <a:latin typeface="Calibri" pitchFamily="34" charset="0"/>
                <a:ea typeface="Calibri" pitchFamily="34" charset="-122"/>
                <a:cs typeface="Calibri" pitchFamily="34" charset="-120"/>
              </a:rPr>
              <a:t>GS</a:t>
            </a:r>
            <a:endParaRPr lang="en-US" sz="1200" dirty="0"/>
          </a:p>
        </p:txBody>
      </p:sp>
      <p:sp>
        <p:nvSpPr>
          <p:cNvPr id="37" name="Text 30"/>
          <p:cNvSpPr/>
          <p:nvPr/>
        </p:nvSpPr>
        <p:spPr>
          <a:xfrm>
            <a:off x="8659368" y="230428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Gyana Ranjan Sahoo</a:t>
            </a:r>
            <a:endParaRPr lang="en-US" sz="1250" dirty="0"/>
          </a:p>
        </p:txBody>
      </p:sp>
      <p:sp>
        <p:nvSpPr>
          <p:cNvPr id="38" name="Text 31"/>
          <p:cNvSpPr/>
          <p:nvPr/>
        </p:nvSpPr>
        <p:spPr>
          <a:xfrm>
            <a:off x="8659368" y="2578608"/>
            <a:ext cx="2697480" cy="237744"/>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Developer</a:t>
            </a:r>
            <a:endParaRPr lang="en-US" sz="1000" dirty="0"/>
          </a:p>
        </p:txBody>
      </p:sp>
      <p:sp>
        <p:nvSpPr>
          <p:cNvPr id="39" name="Shape 32"/>
          <p:cNvSpPr/>
          <p:nvPr/>
        </p:nvSpPr>
        <p:spPr>
          <a:xfrm>
            <a:off x="8092440" y="2953512"/>
            <a:ext cx="420624" cy="420624"/>
          </a:xfrm>
          <a:prstGeom prst="ellipse">
            <a:avLst/>
          </a:prstGeom>
          <a:solidFill>
            <a:srgbClr val="1A2540"/>
          </a:solidFill>
          <a:ln w="12700">
            <a:solidFill>
              <a:srgbClr val="32436B"/>
            </a:solidFill>
            <a:prstDash val="solid"/>
          </a:ln>
        </p:spPr>
      </p:sp>
      <p:sp>
        <p:nvSpPr>
          <p:cNvPr id="40" name="Text 33"/>
          <p:cNvSpPr/>
          <p:nvPr/>
        </p:nvSpPr>
        <p:spPr>
          <a:xfrm>
            <a:off x="8092440" y="2953512"/>
            <a:ext cx="420624" cy="420624"/>
          </a:xfrm>
          <a:prstGeom prst="rect">
            <a:avLst/>
          </a:prstGeom>
          <a:noFill/>
          <a:ln/>
        </p:spPr>
        <p:txBody>
          <a:bodyPr wrap="square" lIns="0" tIns="0" rIns="0" bIns="0" rtlCol="0" anchor="ctr"/>
          <a:lstStyle/>
          <a:p>
            <a:pPr algn="ctr" indent="0" marL="0">
              <a:buNone/>
            </a:pPr>
            <a:r>
              <a:rPr lang="en-US" sz="1200" b="1" dirty="0">
                <a:solidFill>
                  <a:srgbClr val="C7D0E0"/>
                </a:solidFill>
                <a:latin typeface="Calibri" pitchFamily="34" charset="0"/>
                <a:ea typeface="Calibri" pitchFamily="34" charset="-122"/>
                <a:cs typeface="Calibri" pitchFamily="34" charset="-120"/>
              </a:rPr>
              <a:t>LN</a:t>
            </a:r>
            <a:endParaRPr lang="en-US" sz="1200" dirty="0"/>
          </a:p>
        </p:txBody>
      </p:sp>
      <p:sp>
        <p:nvSpPr>
          <p:cNvPr id="41" name="Text 34"/>
          <p:cNvSpPr/>
          <p:nvPr/>
        </p:nvSpPr>
        <p:spPr>
          <a:xfrm>
            <a:off x="8659368" y="2907792"/>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Laxmipriya Nayak</a:t>
            </a:r>
            <a:endParaRPr lang="en-US" sz="1250" dirty="0"/>
          </a:p>
        </p:txBody>
      </p:sp>
      <p:sp>
        <p:nvSpPr>
          <p:cNvPr id="42" name="Text 35"/>
          <p:cNvSpPr/>
          <p:nvPr/>
        </p:nvSpPr>
        <p:spPr>
          <a:xfrm>
            <a:off x="8659368" y="3182112"/>
            <a:ext cx="2697480" cy="237744"/>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Developer</a:t>
            </a:r>
            <a:endParaRPr lang="en-US" sz="1000" dirty="0"/>
          </a:p>
        </p:txBody>
      </p:sp>
      <p:sp>
        <p:nvSpPr>
          <p:cNvPr id="43" name="Shape 36"/>
          <p:cNvSpPr/>
          <p:nvPr/>
        </p:nvSpPr>
        <p:spPr>
          <a:xfrm>
            <a:off x="8092440" y="3557016"/>
            <a:ext cx="420624" cy="420624"/>
          </a:xfrm>
          <a:prstGeom prst="ellipse">
            <a:avLst/>
          </a:prstGeom>
          <a:solidFill>
            <a:srgbClr val="1A2540"/>
          </a:solidFill>
          <a:ln w="12700">
            <a:solidFill>
              <a:srgbClr val="32436B"/>
            </a:solidFill>
            <a:prstDash val="solid"/>
          </a:ln>
        </p:spPr>
      </p:sp>
      <p:sp>
        <p:nvSpPr>
          <p:cNvPr id="44" name="Text 37"/>
          <p:cNvSpPr/>
          <p:nvPr/>
        </p:nvSpPr>
        <p:spPr>
          <a:xfrm>
            <a:off x="8092440" y="3557016"/>
            <a:ext cx="420624" cy="420624"/>
          </a:xfrm>
          <a:prstGeom prst="rect">
            <a:avLst/>
          </a:prstGeom>
          <a:noFill/>
          <a:ln/>
        </p:spPr>
        <p:txBody>
          <a:bodyPr wrap="square" lIns="0" tIns="0" rIns="0" bIns="0" rtlCol="0" anchor="ctr"/>
          <a:lstStyle/>
          <a:p>
            <a:pPr algn="ctr" indent="0" marL="0">
              <a:buNone/>
            </a:pPr>
            <a:r>
              <a:rPr lang="en-US" sz="1200" b="1" dirty="0">
                <a:solidFill>
                  <a:srgbClr val="C7D0E0"/>
                </a:solidFill>
                <a:latin typeface="Calibri" pitchFamily="34" charset="0"/>
                <a:ea typeface="Calibri" pitchFamily="34" charset="-122"/>
                <a:cs typeface="Calibri" pitchFamily="34" charset="-120"/>
              </a:rPr>
              <a:t>MS</a:t>
            </a:r>
            <a:endParaRPr lang="en-US" sz="1200" dirty="0"/>
          </a:p>
        </p:txBody>
      </p:sp>
      <p:sp>
        <p:nvSpPr>
          <p:cNvPr id="45" name="Text 38"/>
          <p:cNvSpPr/>
          <p:nvPr/>
        </p:nvSpPr>
        <p:spPr>
          <a:xfrm>
            <a:off x="8659368" y="3511296"/>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Manoj Kumar Sahoo</a:t>
            </a:r>
            <a:endParaRPr lang="en-US" sz="1250" dirty="0"/>
          </a:p>
        </p:txBody>
      </p:sp>
      <p:sp>
        <p:nvSpPr>
          <p:cNvPr id="46" name="Text 39"/>
          <p:cNvSpPr/>
          <p:nvPr/>
        </p:nvSpPr>
        <p:spPr>
          <a:xfrm>
            <a:off x="8659368" y="3785616"/>
            <a:ext cx="2697480" cy="237744"/>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Developer</a:t>
            </a:r>
            <a:endParaRPr lang="en-US" sz="1000" dirty="0"/>
          </a:p>
        </p:txBody>
      </p:sp>
      <p:sp>
        <p:nvSpPr>
          <p:cNvPr id="47" name="Shape 40"/>
          <p:cNvSpPr/>
          <p:nvPr/>
        </p:nvSpPr>
        <p:spPr>
          <a:xfrm>
            <a:off x="8092440" y="4160520"/>
            <a:ext cx="420624" cy="420624"/>
          </a:xfrm>
          <a:prstGeom prst="ellipse">
            <a:avLst/>
          </a:prstGeom>
          <a:solidFill>
            <a:srgbClr val="1A2540"/>
          </a:solidFill>
          <a:ln w="12700">
            <a:solidFill>
              <a:srgbClr val="32436B"/>
            </a:solidFill>
            <a:prstDash val="solid"/>
          </a:ln>
        </p:spPr>
      </p:sp>
      <p:sp>
        <p:nvSpPr>
          <p:cNvPr id="48" name="Text 41"/>
          <p:cNvSpPr/>
          <p:nvPr/>
        </p:nvSpPr>
        <p:spPr>
          <a:xfrm>
            <a:off x="8092440" y="4160520"/>
            <a:ext cx="420624" cy="420624"/>
          </a:xfrm>
          <a:prstGeom prst="rect">
            <a:avLst/>
          </a:prstGeom>
          <a:noFill/>
          <a:ln/>
        </p:spPr>
        <p:txBody>
          <a:bodyPr wrap="square" lIns="0" tIns="0" rIns="0" bIns="0" rtlCol="0" anchor="ctr"/>
          <a:lstStyle/>
          <a:p>
            <a:pPr algn="ctr" indent="0" marL="0">
              <a:buNone/>
            </a:pPr>
            <a:r>
              <a:rPr lang="en-US" sz="1200" b="1" dirty="0">
                <a:solidFill>
                  <a:srgbClr val="C7D0E0"/>
                </a:solidFill>
                <a:latin typeface="Calibri" pitchFamily="34" charset="0"/>
                <a:ea typeface="Calibri" pitchFamily="34" charset="-122"/>
                <a:cs typeface="Calibri" pitchFamily="34" charset="-120"/>
              </a:rPr>
              <a:t>AS</a:t>
            </a:r>
            <a:endParaRPr lang="en-US" sz="1200" dirty="0"/>
          </a:p>
        </p:txBody>
      </p:sp>
      <p:sp>
        <p:nvSpPr>
          <p:cNvPr id="49" name="Text 42"/>
          <p:cNvSpPr/>
          <p:nvPr/>
        </p:nvSpPr>
        <p:spPr>
          <a:xfrm>
            <a:off x="8659368" y="4114800"/>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Ashutosh Sahoo</a:t>
            </a:r>
            <a:endParaRPr lang="en-US" sz="1250" dirty="0"/>
          </a:p>
        </p:txBody>
      </p:sp>
      <p:sp>
        <p:nvSpPr>
          <p:cNvPr id="50" name="Text 43"/>
          <p:cNvSpPr/>
          <p:nvPr/>
        </p:nvSpPr>
        <p:spPr>
          <a:xfrm>
            <a:off x="8659368" y="4389120"/>
            <a:ext cx="2697480" cy="237744"/>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Developer</a:t>
            </a:r>
            <a:endParaRPr lang="en-US" sz="1000" dirty="0"/>
          </a:p>
        </p:txBody>
      </p:sp>
      <p:sp>
        <p:nvSpPr>
          <p:cNvPr id="51" name="Shape 44"/>
          <p:cNvSpPr/>
          <p:nvPr/>
        </p:nvSpPr>
        <p:spPr>
          <a:xfrm>
            <a:off x="8092440" y="4764024"/>
            <a:ext cx="420624" cy="420624"/>
          </a:xfrm>
          <a:prstGeom prst="ellipse">
            <a:avLst/>
          </a:prstGeom>
          <a:solidFill>
            <a:srgbClr val="1A2540"/>
          </a:solidFill>
          <a:ln w="12700">
            <a:solidFill>
              <a:srgbClr val="32436B"/>
            </a:solidFill>
            <a:prstDash val="solid"/>
          </a:ln>
        </p:spPr>
      </p:sp>
      <p:sp>
        <p:nvSpPr>
          <p:cNvPr id="52" name="Text 45"/>
          <p:cNvSpPr/>
          <p:nvPr/>
        </p:nvSpPr>
        <p:spPr>
          <a:xfrm>
            <a:off x="8092440" y="4764024"/>
            <a:ext cx="420624" cy="420624"/>
          </a:xfrm>
          <a:prstGeom prst="rect">
            <a:avLst/>
          </a:prstGeom>
          <a:noFill/>
          <a:ln/>
        </p:spPr>
        <p:txBody>
          <a:bodyPr wrap="square" lIns="0" tIns="0" rIns="0" bIns="0" rtlCol="0" anchor="ctr"/>
          <a:lstStyle/>
          <a:p>
            <a:pPr algn="ctr" indent="0" marL="0">
              <a:buNone/>
            </a:pPr>
            <a:r>
              <a:rPr lang="en-US" sz="1200" b="1" dirty="0">
                <a:solidFill>
                  <a:srgbClr val="C7D0E0"/>
                </a:solidFill>
                <a:latin typeface="Calibri" pitchFamily="34" charset="0"/>
                <a:ea typeface="Calibri" pitchFamily="34" charset="-122"/>
                <a:cs typeface="Calibri" pitchFamily="34" charset="-120"/>
              </a:rPr>
              <a:t>BM</a:t>
            </a:r>
            <a:endParaRPr lang="en-US" sz="1200" dirty="0"/>
          </a:p>
        </p:txBody>
      </p:sp>
      <p:sp>
        <p:nvSpPr>
          <p:cNvPr id="53" name="Text 46"/>
          <p:cNvSpPr/>
          <p:nvPr/>
        </p:nvSpPr>
        <p:spPr>
          <a:xfrm>
            <a:off x="8659368" y="4718304"/>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Biswa Prakash Mandal</a:t>
            </a:r>
            <a:endParaRPr lang="en-US" sz="1250" dirty="0"/>
          </a:p>
        </p:txBody>
      </p:sp>
      <p:sp>
        <p:nvSpPr>
          <p:cNvPr id="54" name="Text 47"/>
          <p:cNvSpPr/>
          <p:nvPr/>
        </p:nvSpPr>
        <p:spPr>
          <a:xfrm>
            <a:off x="8659368" y="4992624"/>
            <a:ext cx="2697480" cy="237744"/>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Developer</a:t>
            </a:r>
            <a:endParaRPr lang="en-US" sz="1000" dirty="0"/>
          </a:p>
        </p:txBody>
      </p:sp>
      <p:sp>
        <p:nvSpPr>
          <p:cNvPr id="55" name="Shape 48"/>
          <p:cNvSpPr/>
          <p:nvPr/>
        </p:nvSpPr>
        <p:spPr>
          <a:xfrm>
            <a:off x="8092440" y="5367528"/>
            <a:ext cx="420624" cy="420624"/>
          </a:xfrm>
          <a:prstGeom prst="ellipse">
            <a:avLst/>
          </a:prstGeom>
          <a:solidFill>
            <a:srgbClr val="1A2540"/>
          </a:solidFill>
          <a:ln w="12700">
            <a:solidFill>
              <a:srgbClr val="32436B"/>
            </a:solidFill>
            <a:prstDash val="solid"/>
          </a:ln>
        </p:spPr>
      </p:sp>
      <p:sp>
        <p:nvSpPr>
          <p:cNvPr id="56" name="Text 49"/>
          <p:cNvSpPr/>
          <p:nvPr/>
        </p:nvSpPr>
        <p:spPr>
          <a:xfrm>
            <a:off x="8092440" y="5367528"/>
            <a:ext cx="420624" cy="420624"/>
          </a:xfrm>
          <a:prstGeom prst="rect">
            <a:avLst/>
          </a:prstGeom>
          <a:noFill/>
          <a:ln/>
        </p:spPr>
        <p:txBody>
          <a:bodyPr wrap="square" lIns="0" tIns="0" rIns="0" bIns="0" rtlCol="0" anchor="ctr"/>
          <a:lstStyle/>
          <a:p>
            <a:pPr algn="ctr" indent="0" marL="0">
              <a:buNone/>
            </a:pPr>
            <a:r>
              <a:rPr lang="en-US" sz="1200" b="1" dirty="0">
                <a:solidFill>
                  <a:srgbClr val="C7D0E0"/>
                </a:solidFill>
                <a:latin typeface="Calibri" pitchFamily="34" charset="0"/>
                <a:ea typeface="Calibri" pitchFamily="34" charset="-122"/>
                <a:cs typeface="Calibri" pitchFamily="34" charset="-120"/>
              </a:rPr>
              <a:t>SM</a:t>
            </a:r>
            <a:endParaRPr lang="en-US" sz="1200" dirty="0"/>
          </a:p>
        </p:txBody>
      </p:sp>
      <p:sp>
        <p:nvSpPr>
          <p:cNvPr id="57" name="Text 50"/>
          <p:cNvSpPr/>
          <p:nvPr/>
        </p:nvSpPr>
        <p:spPr>
          <a:xfrm>
            <a:off x="8659368" y="532180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Suvajit Majhi</a:t>
            </a:r>
            <a:endParaRPr lang="en-US" sz="1250" dirty="0"/>
          </a:p>
        </p:txBody>
      </p:sp>
      <p:sp>
        <p:nvSpPr>
          <p:cNvPr id="58" name="Text 51"/>
          <p:cNvSpPr/>
          <p:nvPr/>
        </p:nvSpPr>
        <p:spPr>
          <a:xfrm>
            <a:off x="8659368" y="5596128"/>
            <a:ext cx="2697480" cy="237744"/>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Developer</a:t>
            </a:r>
            <a:endParaRPr lang="en-US" sz="1000" dirty="0"/>
          </a:p>
        </p:txBody>
      </p:sp>
      <p:sp>
        <p:nvSpPr>
          <p:cNvPr id="59" name="Text 52"/>
          <p:cNvSpPr/>
          <p:nvPr/>
        </p:nvSpPr>
        <p:spPr>
          <a:xfrm>
            <a:off x="8092440" y="5833872"/>
            <a:ext cx="3200400" cy="274320"/>
          </a:xfrm>
          <a:prstGeom prst="rect">
            <a:avLst/>
          </a:prstGeom>
          <a:noFill/>
          <a:ln/>
        </p:spPr>
        <p:txBody>
          <a:bodyPr wrap="square" lIns="0" tIns="0" rIns="0" bIns="0" rtlCol="0" anchor="ctr"/>
          <a:lstStyle/>
          <a:p>
            <a:pPr indent="0" marL="0">
              <a:buNone/>
            </a:pPr>
            <a:r>
              <a:rPr lang="en-US" sz="1000" i="1" dirty="0">
                <a:solidFill>
                  <a:srgbClr val="7E8BA8"/>
                </a:solidFill>
                <a:latin typeface="Calibri" pitchFamily="34" charset="0"/>
                <a:ea typeface="Calibri" pitchFamily="34" charset="-122"/>
                <a:cs typeface="Calibri" pitchFamily="34" charset="-120"/>
              </a:rPr>
              <a:t>Infosys  •  Capstone Project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WHAT WE'LL COVER</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Agenda</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877824" y="2057400"/>
            <a:ext cx="566928" cy="566928"/>
          </a:xfrm>
          <a:prstGeom prst="ellipse">
            <a:avLst/>
          </a:prstGeom>
          <a:solidFill>
            <a:srgbClr val="1A2540"/>
          </a:solidFill>
          <a:ln w="22225">
            <a:solidFill>
              <a:srgbClr val="FB7185"/>
            </a:solidFill>
            <a:prstDash val="solid"/>
          </a:ln>
        </p:spPr>
      </p:sp>
      <p:pic>
        <p:nvPicPr>
          <p:cNvPr id="10" name="Image 0" descr="preencoded.png">    </p:cNvPr>
          <p:cNvPicPr>
            <a:picLocks noChangeAspect="1"/>
          </p:cNvPicPr>
          <p:nvPr/>
        </p:nvPicPr>
        <p:blipFill>
          <a:blip r:embed="rId1"/>
          <a:stretch>
            <a:fillRect/>
          </a:stretch>
        </p:blipFill>
        <p:spPr>
          <a:xfrm>
            <a:off x="1042233" y="2221809"/>
            <a:ext cx="238110" cy="238110"/>
          </a:xfrm>
          <a:prstGeom prst="rect">
            <a:avLst/>
          </a:prstGeom>
        </p:spPr>
      </p:pic>
      <p:sp>
        <p:nvSpPr>
          <p:cNvPr id="11" name="Text 8"/>
          <p:cNvSpPr/>
          <p:nvPr/>
        </p:nvSpPr>
        <p:spPr>
          <a:xfrm>
            <a:off x="3246120" y="1911096"/>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01</a:t>
            </a:r>
            <a:endParaRPr lang="en-US" sz="2100" dirty="0"/>
          </a:p>
        </p:txBody>
      </p:sp>
      <p:sp>
        <p:nvSpPr>
          <p:cNvPr id="12" name="Text 9"/>
          <p:cNvSpPr/>
          <p:nvPr/>
        </p:nvSpPr>
        <p:spPr>
          <a:xfrm>
            <a:off x="1591056" y="2075688"/>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Problem &amp; Solution</a:t>
            </a:r>
            <a:endParaRPr lang="en-US" sz="1450" dirty="0"/>
          </a:p>
        </p:txBody>
      </p:sp>
      <p:sp>
        <p:nvSpPr>
          <p:cNvPr id="13" name="Text 10"/>
          <p:cNvSpPr/>
          <p:nvPr/>
        </p:nvSpPr>
        <p:spPr>
          <a:xfrm>
            <a:off x="1591056" y="2478024"/>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The gap we close</a:t>
            </a:r>
            <a:endParaRPr lang="en-US" sz="1100" dirty="0"/>
          </a:p>
        </p:txBody>
      </p:sp>
      <p:sp>
        <p:nvSpPr>
          <p:cNvPr id="14" name="Shape 11"/>
          <p:cNvSpPr/>
          <p:nvPr/>
        </p:nvSpPr>
        <p:spPr>
          <a:xfrm>
            <a:off x="4453128" y="1783080"/>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5" name="Shape 12"/>
          <p:cNvSpPr/>
          <p:nvPr/>
        </p:nvSpPr>
        <p:spPr>
          <a:xfrm>
            <a:off x="4690872" y="2057400"/>
            <a:ext cx="566928" cy="566928"/>
          </a:xfrm>
          <a:prstGeom prst="ellipse">
            <a:avLst/>
          </a:prstGeom>
          <a:solidFill>
            <a:srgbClr val="1A2540"/>
          </a:solidFill>
          <a:ln w="22225">
            <a:solidFill>
              <a:srgbClr val="D4AF37"/>
            </a:solidFill>
            <a:prstDash val="solid"/>
          </a:ln>
        </p:spPr>
      </p:sp>
      <p:pic>
        <p:nvPicPr>
          <p:cNvPr id="16" name="Image 1" descr="preencoded.png">    </p:cNvPr>
          <p:cNvPicPr>
            <a:picLocks noChangeAspect="1"/>
          </p:cNvPicPr>
          <p:nvPr/>
        </p:nvPicPr>
        <p:blipFill>
          <a:blip r:embed="rId2"/>
          <a:stretch>
            <a:fillRect/>
          </a:stretch>
        </p:blipFill>
        <p:spPr>
          <a:xfrm>
            <a:off x="4855281" y="2221809"/>
            <a:ext cx="238110" cy="238110"/>
          </a:xfrm>
          <a:prstGeom prst="rect">
            <a:avLst/>
          </a:prstGeom>
        </p:spPr>
      </p:pic>
      <p:sp>
        <p:nvSpPr>
          <p:cNvPr id="17" name="Text 13"/>
          <p:cNvSpPr/>
          <p:nvPr/>
        </p:nvSpPr>
        <p:spPr>
          <a:xfrm>
            <a:off x="7059168" y="1911096"/>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02</a:t>
            </a:r>
            <a:endParaRPr lang="en-US" sz="2100" dirty="0"/>
          </a:p>
        </p:txBody>
      </p:sp>
      <p:sp>
        <p:nvSpPr>
          <p:cNvPr id="18" name="Text 14"/>
          <p:cNvSpPr/>
          <p:nvPr/>
        </p:nvSpPr>
        <p:spPr>
          <a:xfrm>
            <a:off x="5404104" y="2075688"/>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Technology Stack</a:t>
            </a:r>
            <a:endParaRPr lang="en-US" sz="1450" dirty="0"/>
          </a:p>
        </p:txBody>
      </p:sp>
      <p:sp>
        <p:nvSpPr>
          <p:cNvPr id="19" name="Text 15"/>
          <p:cNvSpPr/>
          <p:nvPr/>
        </p:nvSpPr>
        <p:spPr>
          <a:xfrm>
            <a:off x="5404104" y="2478024"/>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Tools &amp; frameworks</a:t>
            </a:r>
            <a:endParaRPr lang="en-US" sz="1100" dirty="0"/>
          </a:p>
        </p:txBody>
      </p:sp>
      <p:sp>
        <p:nvSpPr>
          <p:cNvPr id="20" name="Shape 16"/>
          <p:cNvSpPr/>
          <p:nvPr/>
        </p:nvSpPr>
        <p:spPr>
          <a:xfrm>
            <a:off x="8266176" y="1783080"/>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1" name="Shape 17"/>
          <p:cNvSpPr/>
          <p:nvPr/>
        </p:nvSpPr>
        <p:spPr>
          <a:xfrm>
            <a:off x="8503920" y="2057400"/>
            <a:ext cx="566928" cy="566928"/>
          </a:xfrm>
          <a:prstGeom prst="ellipse">
            <a:avLst/>
          </a:prstGeom>
          <a:solidFill>
            <a:srgbClr val="1A2540"/>
          </a:solidFill>
          <a:ln w="22225">
            <a:solidFill>
              <a:srgbClr val="2DD4BF"/>
            </a:solidFill>
            <a:prstDash val="solid"/>
          </a:ln>
        </p:spPr>
      </p:sp>
      <p:pic>
        <p:nvPicPr>
          <p:cNvPr id="22" name="Image 2" descr="preencoded.png">    </p:cNvPr>
          <p:cNvPicPr>
            <a:picLocks noChangeAspect="1"/>
          </p:cNvPicPr>
          <p:nvPr/>
        </p:nvPicPr>
        <p:blipFill>
          <a:blip r:embed="rId3"/>
          <a:stretch>
            <a:fillRect/>
          </a:stretch>
        </p:blipFill>
        <p:spPr>
          <a:xfrm>
            <a:off x="8668329" y="2221809"/>
            <a:ext cx="238110" cy="238110"/>
          </a:xfrm>
          <a:prstGeom prst="rect">
            <a:avLst/>
          </a:prstGeom>
        </p:spPr>
      </p:pic>
      <p:sp>
        <p:nvSpPr>
          <p:cNvPr id="23" name="Text 18"/>
          <p:cNvSpPr/>
          <p:nvPr/>
        </p:nvSpPr>
        <p:spPr>
          <a:xfrm>
            <a:off x="10872216" y="1911096"/>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03</a:t>
            </a:r>
            <a:endParaRPr lang="en-US" sz="2100" dirty="0"/>
          </a:p>
        </p:txBody>
      </p:sp>
      <p:sp>
        <p:nvSpPr>
          <p:cNvPr id="24" name="Text 19"/>
          <p:cNvSpPr/>
          <p:nvPr/>
        </p:nvSpPr>
        <p:spPr>
          <a:xfrm>
            <a:off x="9217152" y="2075688"/>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System Architecture</a:t>
            </a:r>
            <a:endParaRPr lang="en-US" sz="1450" dirty="0"/>
          </a:p>
        </p:txBody>
      </p:sp>
      <p:sp>
        <p:nvSpPr>
          <p:cNvPr id="25" name="Text 20"/>
          <p:cNvSpPr/>
          <p:nvPr/>
        </p:nvSpPr>
        <p:spPr>
          <a:xfrm>
            <a:off x="9217152" y="2478024"/>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Detailed layered design</a:t>
            </a:r>
            <a:endParaRPr lang="en-US" sz="1100" dirty="0"/>
          </a:p>
        </p:txBody>
      </p:sp>
      <p:sp>
        <p:nvSpPr>
          <p:cNvPr id="26" name="Shape 21"/>
          <p:cNvSpPr/>
          <p:nvPr/>
        </p:nvSpPr>
        <p:spPr>
          <a:xfrm>
            <a:off x="640080" y="3447288"/>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7" name="Shape 22"/>
          <p:cNvSpPr/>
          <p:nvPr/>
        </p:nvSpPr>
        <p:spPr>
          <a:xfrm>
            <a:off x="877824" y="3721608"/>
            <a:ext cx="566928" cy="566928"/>
          </a:xfrm>
          <a:prstGeom prst="ellipse">
            <a:avLst/>
          </a:prstGeom>
          <a:solidFill>
            <a:srgbClr val="1A2540"/>
          </a:solidFill>
          <a:ln w="22225">
            <a:solidFill>
              <a:srgbClr val="A78BFA"/>
            </a:solidFill>
            <a:prstDash val="solid"/>
          </a:ln>
        </p:spPr>
      </p:sp>
      <p:pic>
        <p:nvPicPr>
          <p:cNvPr id="28" name="Image 3" descr="preencoded.png">    </p:cNvPr>
          <p:cNvPicPr>
            <a:picLocks noChangeAspect="1"/>
          </p:cNvPicPr>
          <p:nvPr/>
        </p:nvPicPr>
        <p:blipFill>
          <a:blip r:embed="rId4"/>
          <a:stretch>
            <a:fillRect/>
          </a:stretch>
        </p:blipFill>
        <p:spPr>
          <a:xfrm>
            <a:off x="1042233" y="3886017"/>
            <a:ext cx="238110" cy="238110"/>
          </a:xfrm>
          <a:prstGeom prst="rect">
            <a:avLst/>
          </a:prstGeom>
        </p:spPr>
      </p:pic>
      <p:sp>
        <p:nvSpPr>
          <p:cNvPr id="29" name="Text 23"/>
          <p:cNvSpPr/>
          <p:nvPr/>
        </p:nvSpPr>
        <p:spPr>
          <a:xfrm>
            <a:off x="3246120" y="3575304"/>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04</a:t>
            </a:r>
            <a:endParaRPr lang="en-US" sz="2100" dirty="0"/>
          </a:p>
        </p:txBody>
      </p:sp>
      <p:sp>
        <p:nvSpPr>
          <p:cNvPr id="30" name="Text 24"/>
          <p:cNvSpPr/>
          <p:nvPr/>
        </p:nvSpPr>
        <p:spPr>
          <a:xfrm>
            <a:off x="1591056" y="3739896"/>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Model</a:t>
            </a:r>
            <a:endParaRPr lang="en-US" sz="1450" dirty="0"/>
          </a:p>
        </p:txBody>
      </p:sp>
      <p:sp>
        <p:nvSpPr>
          <p:cNvPr id="31" name="Text 25"/>
          <p:cNvSpPr/>
          <p:nvPr/>
        </p:nvSpPr>
        <p:spPr>
          <a:xfrm>
            <a:off x="1591056" y="4142232"/>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Relational schema</a:t>
            </a:r>
            <a:endParaRPr lang="en-US" sz="1100" dirty="0"/>
          </a:p>
        </p:txBody>
      </p:sp>
      <p:sp>
        <p:nvSpPr>
          <p:cNvPr id="32" name="Shape 26"/>
          <p:cNvSpPr/>
          <p:nvPr/>
        </p:nvSpPr>
        <p:spPr>
          <a:xfrm>
            <a:off x="4453128" y="3447288"/>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3" name="Shape 27"/>
          <p:cNvSpPr/>
          <p:nvPr/>
        </p:nvSpPr>
        <p:spPr>
          <a:xfrm>
            <a:off x="4690872" y="3721608"/>
            <a:ext cx="566928" cy="566928"/>
          </a:xfrm>
          <a:prstGeom prst="ellipse">
            <a:avLst/>
          </a:prstGeom>
          <a:solidFill>
            <a:srgbClr val="1A2540"/>
          </a:solidFill>
          <a:ln w="22225">
            <a:solidFill>
              <a:srgbClr val="38BDF8"/>
            </a:solidFill>
            <a:prstDash val="solid"/>
          </a:ln>
        </p:spPr>
      </p:sp>
      <p:pic>
        <p:nvPicPr>
          <p:cNvPr id="34" name="Image 4" descr="preencoded.png">    </p:cNvPr>
          <p:cNvPicPr>
            <a:picLocks noChangeAspect="1"/>
          </p:cNvPicPr>
          <p:nvPr/>
        </p:nvPicPr>
        <p:blipFill>
          <a:blip r:embed="rId5"/>
          <a:stretch>
            <a:fillRect/>
          </a:stretch>
        </p:blipFill>
        <p:spPr>
          <a:xfrm>
            <a:off x="4855281" y="3886017"/>
            <a:ext cx="238110" cy="238110"/>
          </a:xfrm>
          <a:prstGeom prst="rect">
            <a:avLst/>
          </a:prstGeom>
        </p:spPr>
      </p:pic>
      <p:sp>
        <p:nvSpPr>
          <p:cNvPr id="35" name="Text 28"/>
          <p:cNvSpPr/>
          <p:nvPr/>
        </p:nvSpPr>
        <p:spPr>
          <a:xfrm>
            <a:off x="7059168" y="3575304"/>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05</a:t>
            </a:r>
            <a:endParaRPr lang="en-US" sz="2100" dirty="0"/>
          </a:p>
        </p:txBody>
      </p:sp>
      <p:sp>
        <p:nvSpPr>
          <p:cNvPr id="36" name="Text 29"/>
          <p:cNvSpPr/>
          <p:nvPr/>
        </p:nvSpPr>
        <p:spPr>
          <a:xfrm>
            <a:off x="5404104" y="3739896"/>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Core Banking</a:t>
            </a:r>
            <a:endParaRPr lang="en-US" sz="1450" dirty="0"/>
          </a:p>
        </p:txBody>
      </p:sp>
      <p:sp>
        <p:nvSpPr>
          <p:cNvPr id="37" name="Text 30"/>
          <p:cNvSpPr/>
          <p:nvPr/>
        </p:nvSpPr>
        <p:spPr>
          <a:xfrm>
            <a:off x="5404104" y="4142232"/>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Accounts &amp; transfers</a:t>
            </a:r>
            <a:endParaRPr lang="en-US" sz="1100" dirty="0"/>
          </a:p>
        </p:txBody>
      </p:sp>
      <p:sp>
        <p:nvSpPr>
          <p:cNvPr id="38" name="Shape 31"/>
          <p:cNvSpPr/>
          <p:nvPr/>
        </p:nvSpPr>
        <p:spPr>
          <a:xfrm>
            <a:off x="8266176" y="3447288"/>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9" name="Shape 32"/>
          <p:cNvSpPr/>
          <p:nvPr/>
        </p:nvSpPr>
        <p:spPr>
          <a:xfrm>
            <a:off x="8503920" y="3721608"/>
            <a:ext cx="566928" cy="566928"/>
          </a:xfrm>
          <a:prstGeom prst="ellipse">
            <a:avLst/>
          </a:prstGeom>
          <a:solidFill>
            <a:srgbClr val="1A2540"/>
          </a:solidFill>
          <a:ln w="22225">
            <a:solidFill>
              <a:srgbClr val="D4AF37"/>
            </a:solidFill>
            <a:prstDash val="solid"/>
          </a:ln>
        </p:spPr>
      </p:sp>
      <p:pic>
        <p:nvPicPr>
          <p:cNvPr id="40" name="Image 5" descr="preencoded.png">    </p:cNvPr>
          <p:cNvPicPr>
            <a:picLocks noChangeAspect="1"/>
          </p:cNvPicPr>
          <p:nvPr/>
        </p:nvPicPr>
        <p:blipFill>
          <a:blip r:embed="rId6"/>
          <a:stretch>
            <a:fillRect/>
          </a:stretch>
        </p:blipFill>
        <p:spPr>
          <a:xfrm>
            <a:off x="8668329" y="3886017"/>
            <a:ext cx="238110" cy="238110"/>
          </a:xfrm>
          <a:prstGeom prst="rect">
            <a:avLst/>
          </a:prstGeom>
        </p:spPr>
      </p:pic>
      <p:sp>
        <p:nvSpPr>
          <p:cNvPr id="41" name="Text 33"/>
          <p:cNvSpPr/>
          <p:nvPr/>
        </p:nvSpPr>
        <p:spPr>
          <a:xfrm>
            <a:off x="10872216" y="3575304"/>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06</a:t>
            </a:r>
            <a:endParaRPr lang="en-US" sz="2100" dirty="0"/>
          </a:p>
        </p:txBody>
      </p:sp>
      <p:sp>
        <p:nvSpPr>
          <p:cNvPr id="42" name="Text 34"/>
          <p:cNvSpPr/>
          <p:nvPr/>
        </p:nvSpPr>
        <p:spPr>
          <a:xfrm>
            <a:off x="9217152" y="3739896"/>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Budgeting &amp; Bills</a:t>
            </a:r>
            <a:endParaRPr lang="en-US" sz="1450" dirty="0"/>
          </a:p>
        </p:txBody>
      </p:sp>
      <p:sp>
        <p:nvSpPr>
          <p:cNvPr id="43" name="Text 35"/>
          <p:cNvSpPr/>
          <p:nvPr/>
        </p:nvSpPr>
        <p:spPr>
          <a:xfrm>
            <a:off x="9217152" y="4142232"/>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Spend control</a:t>
            </a:r>
            <a:endParaRPr lang="en-US" sz="1100" dirty="0"/>
          </a:p>
        </p:txBody>
      </p:sp>
      <p:sp>
        <p:nvSpPr>
          <p:cNvPr id="44" name="Shape 36"/>
          <p:cNvSpPr/>
          <p:nvPr/>
        </p:nvSpPr>
        <p:spPr>
          <a:xfrm>
            <a:off x="640080" y="5111496"/>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45" name="Shape 37"/>
          <p:cNvSpPr/>
          <p:nvPr/>
        </p:nvSpPr>
        <p:spPr>
          <a:xfrm>
            <a:off x="877824" y="5385816"/>
            <a:ext cx="566928" cy="566928"/>
          </a:xfrm>
          <a:prstGeom prst="ellipse">
            <a:avLst/>
          </a:prstGeom>
          <a:solidFill>
            <a:srgbClr val="1A2540"/>
          </a:solidFill>
          <a:ln w="22225">
            <a:solidFill>
              <a:srgbClr val="34D399"/>
            </a:solidFill>
            <a:prstDash val="solid"/>
          </a:ln>
        </p:spPr>
      </p:sp>
      <p:pic>
        <p:nvPicPr>
          <p:cNvPr id="46" name="Image 6" descr="preencoded.png">    </p:cNvPr>
          <p:cNvPicPr>
            <a:picLocks noChangeAspect="1"/>
          </p:cNvPicPr>
          <p:nvPr/>
        </p:nvPicPr>
        <p:blipFill>
          <a:blip r:embed="rId7"/>
          <a:stretch>
            <a:fillRect/>
          </a:stretch>
        </p:blipFill>
        <p:spPr>
          <a:xfrm>
            <a:off x="1042233" y="5550225"/>
            <a:ext cx="238110" cy="238110"/>
          </a:xfrm>
          <a:prstGeom prst="rect">
            <a:avLst/>
          </a:prstGeom>
        </p:spPr>
      </p:pic>
      <p:sp>
        <p:nvSpPr>
          <p:cNvPr id="47" name="Text 38"/>
          <p:cNvSpPr/>
          <p:nvPr/>
        </p:nvSpPr>
        <p:spPr>
          <a:xfrm>
            <a:off x="3246120" y="5239512"/>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07</a:t>
            </a:r>
            <a:endParaRPr lang="en-US" sz="2100" dirty="0"/>
          </a:p>
        </p:txBody>
      </p:sp>
      <p:sp>
        <p:nvSpPr>
          <p:cNvPr id="48" name="Text 39"/>
          <p:cNvSpPr/>
          <p:nvPr/>
        </p:nvSpPr>
        <p:spPr>
          <a:xfrm>
            <a:off x="1591056" y="5404104"/>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Loan &amp; EMI Engine</a:t>
            </a:r>
            <a:endParaRPr lang="en-US" sz="1450" dirty="0"/>
          </a:p>
        </p:txBody>
      </p:sp>
      <p:sp>
        <p:nvSpPr>
          <p:cNvPr id="49" name="Text 40"/>
          <p:cNvSpPr/>
          <p:nvPr/>
        </p:nvSpPr>
        <p:spPr>
          <a:xfrm>
            <a:off x="1591056" y="5806440"/>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Reducing-balance</a:t>
            </a:r>
            <a:endParaRPr lang="en-US" sz="1100" dirty="0"/>
          </a:p>
        </p:txBody>
      </p:sp>
      <p:sp>
        <p:nvSpPr>
          <p:cNvPr id="50" name="Shape 41"/>
          <p:cNvSpPr/>
          <p:nvPr/>
        </p:nvSpPr>
        <p:spPr>
          <a:xfrm>
            <a:off x="4453128" y="5111496"/>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51" name="Shape 42"/>
          <p:cNvSpPr/>
          <p:nvPr/>
        </p:nvSpPr>
        <p:spPr>
          <a:xfrm>
            <a:off x="4690872" y="5385816"/>
            <a:ext cx="566928" cy="566928"/>
          </a:xfrm>
          <a:prstGeom prst="ellipse">
            <a:avLst/>
          </a:prstGeom>
          <a:solidFill>
            <a:srgbClr val="1A2540"/>
          </a:solidFill>
          <a:ln w="22225">
            <a:solidFill>
              <a:srgbClr val="FB7185"/>
            </a:solidFill>
            <a:prstDash val="solid"/>
          </a:ln>
        </p:spPr>
      </p:sp>
      <p:pic>
        <p:nvPicPr>
          <p:cNvPr id="52" name="Image 7" descr="preencoded.png">    </p:cNvPr>
          <p:cNvPicPr>
            <a:picLocks noChangeAspect="1"/>
          </p:cNvPicPr>
          <p:nvPr/>
        </p:nvPicPr>
        <p:blipFill>
          <a:blip r:embed="rId8"/>
          <a:stretch>
            <a:fillRect/>
          </a:stretch>
        </p:blipFill>
        <p:spPr>
          <a:xfrm>
            <a:off x="4855281" y="5550225"/>
            <a:ext cx="238110" cy="238110"/>
          </a:xfrm>
          <a:prstGeom prst="rect">
            <a:avLst/>
          </a:prstGeom>
        </p:spPr>
      </p:pic>
      <p:sp>
        <p:nvSpPr>
          <p:cNvPr id="53" name="Text 43"/>
          <p:cNvSpPr/>
          <p:nvPr/>
        </p:nvSpPr>
        <p:spPr>
          <a:xfrm>
            <a:off x="7059168" y="5239512"/>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08</a:t>
            </a:r>
            <a:endParaRPr lang="en-US" sz="2100" dirty="0"/>
          </a:p>
        </p:txBody>
      </p:sp>
      <p:sp>
        <p:nvSpPr>
          <p:cNvPr id="54" name="Text 44"/>
          <p:cNvSpPr/>
          <p:nvPr/>
        </p:nvSpPr>
        <p:spPr>
          <a:xfrm>
            <a:off x="5404104" y="5404104"/>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Admin Analytics</a:t>
            </a:r>
            <a:endParaRPr lang="en-US" sz="1450" dirty="0"/>
          </a:p>
        </p:txBody>
      </p:sp>
      <p:sp>
        <p:nvSpPr>
          <p:cNvPr id="55" name="Text 45"/>
          <p:cNvSpPr/>
          <p:nvPr/>
        </p:nvSpPr>
        <p:spPr>
          <a:xfrm>
            <a:off x="5404104" y="5806440"/>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Insights &amp; audit</a:t>
            </a:r>
            <a:endParaRPr lang="en-US" sz="1100" dirty="0"/>
          </a:p>
        </p:txBody>
      </p:sp>
      <p:sp>
        <p:nvSpPr>
          <p:cNvPr id="56" name="Shape 46"/>
          <p:cNvSpPr/>
          <p:nvPr/>
        </p:nvSpPr>
        <p:spPr>
          <a:xfrm>
            <a:off x="8266176" y="5111496"/>
            <a:ext cx="3520440" cy="1371600"/>
          </a:xfrm>
          <a:prstGeom prst="roundRect">
            <a:avLst>
              <a:gd name="adj" fmla="val 6000"/>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57" name="Shape 47"/>
          <p:cNvSpPr/>
          <p:nvPr/>
        </p:nvSpPr>
        <p:spPr>
          <a:xfrm>
            <a:off x="8503920" y="5385816"/>
            <a:ext cx="566928" cy="566928"/>
          </a:xfrm>
          <a:prstGeom prst="ellipse">
            <a:avLst/>
          </a:prstGeom>
          <a:solidFill>
            <a:srgbClr val="1A2540"/>
          </a:solidFill>
          <a:ln w="22225">
            <a:solidFill>
              <a:srgbClr val="D4AF37"/>
            </a:solidFill>
            <a:prstDash val="solid"/>
          </a:ln>
        </p:spPr>
      </p:sp>
      <p:pic>
        <p:nvPicPr>
          <p:cNvPr id="58" name="Image 8" descr="preencoded.png">    </p:cNvPr>
          <p:cNvPicPr>
            <a:picLocks noChangeAspect="1"/>
          </p:cNvPicPr>
          <p:nvPr/>
        </p:nvPicPr>
        <p:blipFill>
          <a:blip r:embed="rId9"/>
          <a:stretch>
            <a:fillRect/>
          </a:stretch>
        </p:blipFill>
        <p:spPr>
          <a:xfrm>
            <a:off x="8668329" y="5550225"/>
            <a:ext cx="238110" cy="238110"/>
          </a:xfrm>
          <a:prstGeom prst="rect">
            <a:avLst/>
          </a:prstGeom>
        </p:spPr>
      </p:pic>
      <p:sp>
        <p:nvSpPr>
          <p:cNvPr id="59" name="Text 48"/>
          <p:cNvSpPr/>
          <p:nvPr/>
        </p:nvSpPr>
        <p:spPr>
          <a:xfrm>
            <a:off x="10872216" y="5239512"/>
            <a:ext cx="777240" cy="457200"/>
          </a:xfrm>
          <a:prstGeom prst="rect">
            <a:avLst/>
          </a:prstGeom>
          <a:noFill/>
          <a:ln/>
        </p:spPr>
        <p:txBody>
          <a:bodyPr wrap="square" lIns="0" tIns="0" rIns="0" bIns="0" rtlCol="0" anchor="ctr"/>
          <a:lstStyle/>
          <a:p>
            <a:pPr algn="r" indent="0" marL="0">
              <a:buNone/>
            </a:pPr>
            <a:r>
              <a:rPr lang="en-US" sz="2100" b="1" dirty="0">
                <a:solidFill>
                  <a:srgbClr val="32436B"/>
                </a:solidFill>
                <a:latin typeface="Bookman Old Style" pitchFamily="34" charset="0"/>
                <a:ea typeface="Bookman Old Style" pitchFamily="34" charset="-122"/>
                <a:cs typeface="Bookman Old Style" pitchFamily="34" charset="-120"/>
              </a:rPr>
              <a:t>09</a:t>
            </a:r>
            <a:endParaRPr lang="en-US" sz="2100" dirty="0"/>
          </a:p>
        </p:txBody>
      </p:sp>
      <p:sp>
        <p:nvSpPr>
          <p:cNvPr id="60" name="Text 49"/>
          <p:cNvSpPr/>
          <p:nvPr/>
        </p:nvSpPr>
        <p:spPr>
          <a:xfrm>
            <a:off x="9217152" y="5404104"/>
            <a:ext cx="1783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Achievements &amp; Future</a:t>
            </a:r>
            <a:endParaRPr lang="en-US" sz="1450" dirty="0"/>
          </a:p>
        </p:txBody>
      </p:sp>
      <p:sp>
        <p:nvSpPr>
          <p:cNvPr id="61" name="Text 50"/>
          <p:cNvSpPr/>
          <p:nvPr/>
        </p:nvSpPr>
        <p:spPr>
          <a:xfrm>
            <a:off x="9217152" y="5806440"/>
            <a:ext cx="2377440" cy="502920"/>
          </a:xfrm>
          <a:prstGeom prst="rect">
            <a:avLst/>
          </a:prstGeom>
          <a:noFill/>
          <a:ln/>
        </p:spPr>
        <p:txBody>
          <a:bodyPr wrap="square" lIns="0" tIns="0" rIns="0" bIns="0" rtlCol="0" anchor="ctr"/>
          <a:lstStyle/>
          <a:p>
            <a:pPr indent="0" marL="0">
              <a:buNone/>
            </a:pPr>
            <a:r>
              <a:rPr lang="en-US" sz="1100" dirty="0">
                <a:solidFill>
                  <a:srgbClr val="7E8BA8"/>
                </a:solidFill>
                <a:latin typeface="Calibri" pitchFamily="34" charset="0"/>
                <a:ea typeface="Calibri" pitchFamily="34" charset="-122"/>
                <a:cs typeface="Calibri" pitchFamily="34" charset="-120"/>
              </a:rPr>
              <a:t>What's next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WHY NEOBANK 360</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The Problem &amp; Our Solution</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5257800" cy="4480560"/>
          </a:xfrm>
          <a:prstGeom prst="roundRect">
            <a:avLst>
              <a:gd name="adj" fmla="val 204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932688" y="2075688"/>
            <a:ext cx="585216" cy="585216"/>
          </a:xfrm>
          <a:prstGeom prst="ellipse">
            <a:avLst/>
          </a:prstGeom>
          <a:solidFill>
            <a:srgbClr val="FB7185"/>
          </a:solidFill>
          <a:ln/>
          <a:effectLst>
            <a:outerShdw sx="100000" sy="100000" kx="0" ky="0" algn="bl" rotWithShape="0" blurRad="228600" dist="50800" dir="16200000">
              <a:srgbClr val="FB7185">
                <a:alpha val="50000"/>
              </a:srgbClr>
            </a:outerShdw>
          </a:effectLst>
        </p:spPr>
      </p:sp>
      <p:pic>
        <p:nvPicPr>
          <p:cNvPr id="10" name="Image 0" descr="preencoded.png">    </p:cNvPr>
          <p:cNvPicPr>
            <a:picLocks noChangeAspect="1"/>
          </p:cNvPicPr>
          <p:nvPr/>
        </p:nvPicPr>
        <p:blipFill>
          <a:blip r:embed="rId1"/>
          <a:stretch>
            <a:fillRect/>
          </a:stretch>
        </p:blipFill>
        <p:spPr>
          <a:xfrm>
            <a:off x="1090696" y="2233696"/>
            <a:ext cx="269199" cy="269199"/>
          </a:xfrm>
          <a:prstGeom prst="rect">
            <a:avLst/>
          </a:prstGeom>
        </p:spPr>
      </p:pic>
      <p:sp>
        <p:nvSpPr>
          <p:cNvPr id="11" name="Text 8"/>
          <p:cNvSpPr/>
          <p:nvPr/>
        </p:nvSpPr>
        <p:spPr>
          <a:xfrm>
            <a:off x="1645920" y="2093976"/>
            <a:ext cx="4069080" cy="548640"/>
          </a:xfrm>
          <a:prstGeom prst="rect">
            <a:avLst/>
          </a:prstGeom>
          <a:noFill/>
          <a:ln/>
        </p:spPr>
        <p:txBody>
          <a:bodyPr wrap="square" lIns="0" tIns="0" rIns="0" bIns="0" rtlCol="0" anchor="ctr"/>
          <a:lstStyle/>
          <a:p>
            <a:pPr indent="0" marL="0">
              <a:buNone/>
            </a:pPr>
            <a:r>
              <a:rPr lang="en-US" sz="1500" b="1" spc="150" kern="0" dirty="0">
                <a:solidFill>
                  <a:srgbClr val="FFFFFF"/>
                </a:solidFill>
                <a:latin typeface="Calibri" pitchFamily="34" charset="0"/>
                <a:ea typeface="Calibri" pitchFamily="34" charset="-122"/>
                <a:cs typeface="Calibri" pitchFamily="34" charset="-120"/>
              </a:rPr>
              <a:t>THE PROBLEM</a:t>
            </a:r>
            <a:endParaRPr lang="en-US" sz="1500" dirty="0"/>
          </a:p>
        </p:txBody>
      </p:sp>
      <p:sp>
        <p:nvSpPr>
          <p:cNvPr id="12" name="Shape 9"/>
          <p:cNvSpPr/>
          <p:nvPr/>
        </p:nvSpPr>
        <p:spPr>
          <a:xfrm>
            <a:off x="1005840" y="2999232"/>
            <a:ext cx="137160" cy="137160"/>
          </a:xfrm>
          <a:prstGeom prst="ellipse">
            <a:avLst/>
          </a:prstGeom>
          <a:solidFill>
            <a:srgbClr val="FB7185"/>
          </a:solidFill>
          <a:ln/>
        </p:spPr>
      </p:sp>
      <p:sp>
        <p:nvSpPr>
          <p:cNvPr id="13" name="Text 10"/>
          <p:cNvSpPr/>
          <p:nvPr/>
        </p:nvSpPr>
        <p:spPr>
          <a:xfrm>
            <a:off x="1298448" y="2898648"/>
            <a:ext cx="4251960" cy="749808"/>
          </a:xfrm>
          <a:prstGeom prst="rect">
            <a:avLst/>
          </a:prstGeom>
          <a:noFill/>
          <a:ln/>
        </p:spPr>
        <p:txBody>
          <a:bodyPr wrap="square" lIns="0" tIns="0" rIns="0" bIns="0" rtlCol="0" anchor="ctr"/>
          <a:lstStyle/>
          <a:p>
            <a:pPr indent="0" marL="0">
              <a:lnSpc>
                <a:spcPct val="105000"/>
              </a:lnSpc>
              <a:buNone/>
            </a:pPr>
            <a:r>
              <a:rPr lang="en-US" sz="1250" dirty="0">
                <a:solidFill>
                  <a:srgbClr val="C7D0E0"/>
                </a:solidFill>
                <a:latin typeface="Calibri" pitchFamily="34" charset="0"/>
                <a:ea typeface="Calibri" pitchFamily="34" charset="-122"/>
                <a:cs typeface="Calibri" pitchFamily="34" charset="-120"/>
              </a:rPr>
              <a:t>Banking lives in disconnected silos — accounts, transfers, loans and budgeting rarely share one source of truth.</a:t>
            </a:r>
            <a:endParaRPr lang="en-US" sz="1250" dirty="0"/>
          </a:p>
        </p:txBody>
      </p:sp>
      <p:sp>
        <p:nvSpPr>
          <p:cNvPr id="14" name="Shape 11"/>
          <p:cNvSpPr/>
          <p:nvPr/>
        </p:nvSpPr>
        <p:spPr>
          <a:xfrm>
            <a:off x="1005840" y="3767328"/>
            <a:ext cx="137160" cy="137160"/>
          </a:xfrm>
          <a:prstGeom prst="ellipse">
            <a:avLst/>
          </a:prstGeom>
          <a:solidFill>
            <a:srgbClr val="FB7185"/>
          </a:solidFill>
          <a:ln/>
        </p:spPr>
      </p:sp>
      <p:sp>
        <p:nvSpPr>
          <p:cNvPr id="15" name="Text 12"/>
          <p:cNvSpPr/>
          <p:nvPr/>
        </p:nvSpPr>
        <p:spPr>
          <a:xfrm>
            <a:off x="1298448" y="3666744"/>
            <a:ext cx="4251960" cy="749808"/>
          </a:xfrm>
          <a:prstGeom prst="rect">
            <a:avLst/>
          </a:prstGeom>
          <a:noFill/>
          <a:ln/>
        </p:spPr>
        <p:txBody>
          <a:bodyPr wrap="square" lIns="0" tIns="0" rIns="0" bIns="0" rtlCol="0" anchor="ctr"/>
          <a:lstStyle/>
          <a:p>
            <a:pPr indent="0" marL="0">
              <a:lnSpc>
                <a:spcPct val="105000"/>
              </a:lnSpc>
              <a:buNone/>
            </a:pPr>
            <a:r>
              <a:rPr lang="en-US" sz="1250" dirty="0">
                <a:solidFill>
                  <a:srgbClr val="C7D0E0"/>
                </a:solidFill>
                <a:latin typeface="Calibri" pitchFamily="34" charset="0"/>
                <a:ea typeface="Calibri" pitchFamily="34" charset="-122"/>
                <a:cs typeface="Calibri" pitchFamily="34" charset="-120"/>
              </a:rPr>
              <a:t>Manual EMI tracking and bill reminders are error-prone and easy to miss.</a:t>
            </a:r>
            <a:endParaRPr lang="en-US" sz="1250" dirty="0"/>
          </a:p>
        </p:txBody>
      </p:sp>
      <p:sp>
        <p:nvSpPr>
          <p:cNvPr id="16" name="Shape 13"/>
          <p:cNvSpPr/>
          <p:nvPr/>
        </p:nvSpPr>
        <p:spPr>
          <a:xfrm>
            <a:off x="1005840" y="4535424"/>
            <a:ext cx="137160" cy="137160"/>
          </a:xfrm>
          <a:prstGeom prst="ellipse">
            <a:avLst/>
          </a:prstGeom>
          <a:solidFill>
            <a:srgbClr val="FB7185"/>
          </a:solidFill>
          <a:ln/>
        </p:spPr>
      </p:sp>
      <p:sp>
        <p:nvSpPr>
          <p:cNvPr id="17" name="Text 14"/>
          <p:cNvSpPr/>
          <p:nvPr/>
        </p:nvSpPr>
        <p:spPr>
          <a:xfrm>
            <a:off x="1298448" y="4434840"/>
            <a:ext cx="4251960" cy="749808"/>
          </a:xfrm>
          <a:prstGeom prst="rect">
            <a:avLst/>
          </a:prstGeom>
          <a:noFill/>
          <a:ln/>
        </p:spPr>
        <p:txBody>
          <a:bodyPr wrap="square" lIns="0" tIns="0" rIns="0" bIns="0" rtlCol="0" anchor="ctr"/>
          <a:lstStyle/>
          <a:p>
            <a:pPr indent="0" marL="0">
              <a:lnSpc>
                <a:spcPct val="105000"/>
              </a:lnSpc>
              <a:buNone/>
            </a:pPr>
            <a:r>
              <a:rPr lang="en-US" sz="1250" dirty="0">
                <a:solidFill>
                  <a:srgbClr val="C7D0E0"/>
                </a:solidFill>
                <a:latin typeface="Calibri" pitchFamily="34" charset="0"/>
                <a:ea typeface="Calibri" pitchFamily="34" charset="-122"/>
                <a:cs typeface="Calibri" pitchFamily="34" charset="-120"/>
              </a:rPr>
              <a:t>Customers lack a single, real-time view of spending, savings and obligations.</a:t>
            </a:r>
            <a:endParaRPr lang="en-US" sz="1250" dirty="0"/>
          </a:p>
        </p:txBody>
      </p:sp>
      <p:sp>
        <p:nvSpPr>
          <p:cNvPr id="18" name="Shape 15"/>
          <p:cNvSpPr/>
          <p:nvPr/>
        </p:nvSpPr>
        <p:spPr>
          <a:xfrm>
            <a:off x="1005840" y="5303520"/>
            <a:ext cx="137160" cy="137160"/>
          </a:xfrm>
          <a:prstGeom prst="ellipse">
            <a:avLst/>
          </a:prstGeom>
          <a:solidFill>
            <a:srgbClr val="FB7185"/>
          </a:solidFill>
          <a:ln/>
        </p:spPr>
      </p:sp>
      <p:sp>
        <p:nvSpPr>
          <p:cNvPr id="19" name="Text 16"/>
          <p:cNvSpPr/>
          <p:nvPr/>
        </p:nvSpPr>
        <p:spPr>
          <a:xfrm>
            <a:off x="1298448" y="5202936"/>
            <a:ext cx="4251960" cy="749808"/>
          </a:xfrm>
          <a:prstGeom prst="rect">
            <a:avLst/>
          </a:prstGeom>
          <a:noFill/>
          <a:ln/>
        </p:spPr>
        <p:txBody>
          <a:bodyPr wrap="square" lIns="0" tIns="0" rIns="0" bIns="0" rtlCol="0" anchor="ctr"/>
          <a:lstStyle/>
          <a:p>
            <a:pPr indent="0" marL="0">
              <a:lnSpc>
                <a:spcPct val="105000"/>
              </a:lnSpc>
              <a:buNone/>
            </a:pPr>
            <a:r>
              <a:rPr lang="en-US" sz="1250" dirty="0">
                <a:solidFill>
                  <a:srgbClr val="C7D0E0"/>
                </a:solidFill>
                <a:latin typeface="Calibri" pitchFamily="34" charset="0"/>
                <a:ea typeface="Calibri" pitchFamily="34" charset="-122"/>
                <a:cs typeface="Calibri" pitchFamily="34" charset="-120"/>
              </a:rPr>
              <a:t>Admins have no unified console for loan decisions, analytics and audit trails.</a:t>
            </a:r>
            <a:endParaRPr lang="en-US" sz="1250" dirty="0"/>
          </a:p>
        </p:txBody>
      </p:sp>
      <p:sp>
        <p:nvSpPr>
          <p:cNvPr id="20" name="Shape 17"/>
          <p:cNvSpPr/>
          <p:nvPr/>
        </p:nvSpPr>
        <p:spPr>
          <a:xfrm>
            <a:off x="6263640" y="1783080"/>
            <a:ext cx="5285232" cy="4480560"/>
          </a:xfrm>
          <a:prstGeom prst="roundRect">
            <a:avLst>
              <a:gd name="adj" fmla="val 2041"/>
            </a:avLst>
          </a:prstGeom>
          <a:solidFill>
            <a:srgbClr val="1A2540"/>
          </a:solidFill>
          <a:ln w="15875">
            <a:solidFill>
              <a:srgbClr val="8A6D1F"/>
            </a:solidFill>
            <a:prstDash val="solid"/>
          </a:ln>
          <a:effectLst>
            <a:outerShdw sx="100000" sy="100000" kx="0" ky="0" algn="bl" rotWithShape="0" blurRad="152400" dist="50800" dir="5400000">
              <a:srgbClr val="000000">
                <a:alpha val="45000"/>
              </a:srgbClr>
            </a:outerShdw>
          </a:effectLst>
        </p:spPr>
      </p:sp>
      <p:sp>
        <p:nvSpPr>
          <p:cNvPr id="21" name="Shape 18"/>
          <p:cNvSpPr/>
          <p:nvPr/>
        </p:nvSpPr>
        <p:spPr>
          <a:xfrm>
            <a:off x="6556248" y="2075688"/>
            <a:ext cx="585216" cy="585216"/>
          </a:xfrm>
          <a:prstGeom prst="ellipse">
            <a:avLst/>
          </a:prstGeom>
          <a:solidFill>
            <a:srgbClr val="D4AF37"/>
          </a:solidFill>
          <a:ln w="9525">
            <a:solidFill>
              <a:srgbClr val="F0CE6B"/>
            </a:solidFill>
            <a:prstDash val="solid"/>
          </a:ln>
          <a:effectLst>
            <a:outerShdw sx="100000" sy="100000" kx="0" ky="0" algn="bl" rotWithShape="0" blurRad="228600" dist="50800" dir="16200000">
              <a:srgbClr val="D4AF37">
                <a:alpha val="50000"/>
              </a:srgbClr>
            </a:outerShdw>
          </a:effectLst>
        </p:spPr>
      </p:sp>
      <p:pic>
        <p:nvPicPr>
          <p:cNvPr id="22" name="Image 1" descr="preencoded.png">    </p:cNvPr>
          <p:cNvPicPr>
            <a:picLocks noChangeAspect="1"/>
          </p:cNvPicPr>
          <p:nvPr/>
        </p:nvPicPr>
        <p:blipFill>
          <a:blip r:embed="rId2"/>
          <a:stretch>
            <a:fillRect/>
          </a:stretch>
        </p:blipFill>
        <p:spPr>
          <a:xfrm>
            <a:off x="6714256" y="2233696"/>
            <a:ext cx="269199" cy="269199"/>
          </a:xfrm>
          <a:prstGeom prst="rect">
            <a:avLst/>
          </a:prstGeom>
        </p:spPr>
      </p:pic>
      <p:sp>
        <p:nvSpPr>
          <p:cNvPr id="23" name="Text 19"/>
          <p:cNvSpPr/>
          <p:nvPr/>
        </p:nvSpPr>
        <p:spPr>
          <a:xfrm>
            <a:off x="7269480" y="2093976"/>
            <a:ext cx="4096512" cy="548640"/>
          </a:xfrm>
          <a:prstGeom prst="rect">
            <a:avLst/>
          </a:prstGeom>
          <a:noFill/>
          <a:ln/>
        </p:spPr>
        <p:txBody>
          <a:bodyPr wrap="square" lIns="0" tIns="0" rIns="0" bIns="0" rtlCol="0" anchor="ctr"/>
          <a:lstStyle/>
          <a:p>
            <a:pPr indent="0" marL="0">
              <a:buNone/>
            </a:pPr>
            <a:r>
              <a:rPr lang="en-US" sz="1500" b="1" spc="150" kern="0" dirty="0">
                <a:solidFill>
                  <a:srgbClr val="D4AF37"/>
                </a:solidFill>
                <a:latin typeface="Calibri" pitchFamily="34" charset="0"/>
                <a:ea typeface="Calibri" pitchFamily="34" charset="-122"/>
                <a:cs typeface="Calibri" pitchFamily="34" charset="-120"/>
              </a:rPr>
              <a:t>OUR SOLUTION</a:t>
            </a:r>
            <a:endParaRPr lang="en-US" sz="1500" dirty="0"/>
          </a:p>
        </p:txBody>
      </p:sp>
      <p:sp>
        <p:nvSpPr>
          <p:cNvPr id="24" name="Shape 20"/>
          <p:cNvSpPr/>
          <p:nvPr/>
        </p:nvSpPr>
        <p:spPr>
          <a:xfrm>
            <a:off x="6629400" y="2990088"/>
            <a:ext cx="164592" cy="164592"/>
          </a:xfrm>
          <a:prstGeom prst="ellipse">
            <a:avLst/>
          </a:prstGeom>
          <a:solidFill>
            <a:srgbClr val="D4AF37"/>
          </a:solidFill>
          <a:ln/>
        </p:spPr>
      </p:sp>
      <p:sp>
        <p:nvSpPr>
          <p:cNvPr id="25" name="Text 21"/>
          <p:cNvSpPr/>
          <p:nvPr/>
        </p:nvSpPr>
        <p:spPr>
          <a:xfrm>
            <a:off x="6940296" y="2880360"/>
            <a:ext cx="4279392"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One unified platform</a:t>
            </a:r>
            <a:endParaRPr lang="en-US" sz="1350" dirty="0"/>
          </a:p>
        </p:txBody>
      </p:sp>
      <p:sp>
        <p:nvSpPr>
          <p:cNvPr id="26" name="Text 22"/>
          <p:cNvSpPr/>
          <p:nvPr/>
        </p:nvSpPr>
        <p:spPr>
          <a:xfrm>
            <a:off x="6940296" y="3154680"/>
            <a:ext cx="4279392" cy="50292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Every banking primitive on a single secure core with shared transactional integrity.</a:t>
            </a:r>
            <a:endParaRPr lang="en-US" sz="1100" dirty="0"/>
          </a:p>
        </p:txBody>
      </p:sp>
      <p:sp>
        <p:nvSpPr>
          <p:cNvPr id="27" name="Shape 23"/>
          <p:cNvSpPr/>
          <p:nvPr/>
        </p:nvSpPr>
        <p:spPr>
          <a:xfrm>
            <a:off x="6629400" y="3776472"/>
            <a:ext cx="164592" cy="164592"/>
          </a:xfrm>
          <a:prstGeom prst="ellipse">
            <a:avLst/>
          </a:prstGeom>
          <a:solidFill>
            <a:srgbClr val="2DD4BF"/>
          </a:solidFill>
          <a:ln/>
        </p:spPr>
      </p:sp>
      <p:sp>
        <p:nvSpPr>
          <p:cNvPr id="28" name="Text 24"/>
          <p:cNvSpPr/>
          <p:nvPr/>
        </p:nvSpPr>
        <p:spPr>
          <a:xfrm>
            <a:off x="6940296" y="3666744"/>
            <a:ext cx="4279392"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Money that runs itself</a:t>
            </a:r>
            <a:endParaRPr lang="en-US" sz="1350" dirty="0"/>
          </a:p>
        </p:txBody>
      </p:sp>
      <p:sp>
        <p:nvSpPr>
          <p:cNvPr id="29" name="Text 25"/>
          <p:cNvSpPr/>
          <p:nvPr/>
        </p:nvSpPr>
        <p:spPr>
          <a:xfrm>
            <a:off x="6940296" y="3941064"/>
            <a:ext cx="4279392" cy="50292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Atomic transfers, computed EMI schedules and live bill status — minimal manual effort.</a:t>
            </a:r>
            <a:endParaRPr lang="en-US" sz="1100" dirty="0"/>
          </a:p>
        </p:txBody>
      </p:sp>
      <p:sp>
        <p:nvSpPr>
          <p:cNvPr id="30" name="Shape 26"/>
          <p:cNvSpPr/>
          <p:nvPr/>
        </p:nvSpPr>
        <p:spPr>
          <a:xfrm>
            <a:off x="6629400" y="4562856"/>
            <a:ext cx="164592" cy="164592"/>
          </a:xfrm>
          <a:prstGeom prst="ellipse">
            <a:avLst/>
          </a:prstGeom>
          <a:solidFill>
            <a:srgbClr val="38BDF8"/>
          </a:solidFill>
          <a:ln/>
        </p:spPr>
      </p:sp>
      <p:sp>
        <p:nvSpPr>
          <p:cNvPr id="31" name="Text 27"/>
          <p:cNvSpPr/>
          <p:nvPr/>
        </p:nvSpPr>
        <p:spPr>
          <a:xfrm>
            <a:off x="6940296" y="4453128"/>
            <a:ext cx="4279392"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 true 360° view</a:t>
            </a:r>
            <a:endParaRPr lang="en-US" sz="1350" dirty="0"/>
          </a:p>
        </p:txBody>
      </p:sp>
      <p:sp>
        <p:nvSpPr>
          <p:cNvPr id="32" name="Text 28"/>
          <p:cNvSpPr/>
          <p:nvPr/>
        </p:nvSpPr>
        <p:spPr>
          <a:xfrm>
            <a:off x="6940296" y="4727448"/>
            <a:ext cx="4279392" cy="50292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Live dashboards for balances, budgets, rewards and obligations in one place.</a:t>
            </a:r>
            <a:endParaRPr lang="en-US" sz="1100" dirty="0"/>
          </a:p>
        </p:txBody>
      </p:sp>
      <p:sp>
        <p:nvSpPr>
          <p:cNvPr id="33" name="Shape 29"/>
          <p:cNvSpPr/>
          <p:nvPr/>
        </p:nvSpPr>
        <p:spPr>
          <a:xfrm>
            <a:off x="6629400" y="5349240"/>
            <a:ext cx="164592" cy="164592"/>
          </a:xfrm>
          <a:prstGeom prst="ellipse">
            <a:avLst/>
          </a:prstGeom>
          <a:solidFill>
            <a:srgbClr val="A78BFA"/>
          </a:solidFill>
          <a:ln/>
        </p:spPr>
      </p:sp>
      <p:sp>
        <p:nvSpPr>
          <p:cNvPr id="34" name="Text 30"/>
          <p:cNvSpPr/>
          <p:nvPr/>
        </p:nvSpPr>
        <p:spPr>
          <a:xfrm>
            <a:off x="6940296" y="5239512"/>
            <a:ext cx="4279392"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Full admin control</a:t>
            </a:r>
            <a:endParaRPr lang="en-US" sz="1350" dirty="0"/>
          </a:p>
        </p:txBody>
      </p:sp>
      <p:sp>
        <p:nvSpPr>
          <p:cNvPr id="35" name="Text 31"/>
          <p:cNvSpPr/>
          <p:nvPr/>
        </p:nvSpPr>
        <p:spPr>
          <a:xfrm>
            <a:off x="6940296" y="5513832"/>
            <a:ext cx="4279392" cy="50292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Loan decisions, analytics and an AOP-driven audit trail in one console.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ENGINEERING FOUNDATION</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Technology Stack</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3611880" cy="4480560"/>
          </a:xfrm>
          <a:prstGeom prst="roundRect">
            <a:avLst>
              <a:gd name="adj" fmla="val 2532"/>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640080" y="1783080"/>
            <a:ext cx="3611880" cy="1078992"/>
          </a:xfrm>
          <a:prstGeom prst="roundRect">
            <a:avLst>
              <a:gd name="adj" fmla="val 8475"/>
            </a:avLst>
          </a:prstGeom>
          <a:solidFill>
            <a:srgbClr val="1A2540"/>
          </a:solidFill>
          <a:ln/>
        </p:spPr>
      </p:sp>
      <p:sp>
        <p:nvSpPr>
          <p:cNvPr id="10" name="Shape 8"/>
          <p:cNvSpPr/>
          <p:nvPr/>
        </p:nvSpPr>
        <p:spPr>
          <a:xfrm>
            <a:off x="932688" y="2039112"/>
            <a:ext cx="566928" cy="566928"/>
          </a:xfrm>
          <a:prstGeom prst="ellipse">
            <a:avLst/>
          </a:prstGeom>
          <a:solidFill>
            <a:srgbClr val="38BDF8"/>
          </a:solidFill>
          <a:ln/>
          <a:effectLst>
            <a:outerShdw sx="100000" sy="100000" kx="0" ky="0" algn="bl" rotWithShape="0" blurRad="228600" dist="50800" dir="16200000">
              <a:srgbClr val="38BDF8">
                <a:alpha val="50000"/>
              </a:srgbClr>
            </a:outerShdw>
          </a:effectLst>
        </p:spPr>
      </p:sp>
      <p:pic>
        <p:nvPicPr>
          <p:cNvPr id="11" name="Image 0" descr="preencoded.png">    </p:cNvPr>
          <p:cNvPicPr>
            <a:picLocks noChangeAspect="1"/>
          </p:cNvPicPr>
          <p:nvPr/>
        </p:nvPicPr>
        <p:blipFill>
          <a:blip r:embed="rId1"/>
          <a:stretch>
            <a:fillRect/>
          </a:stretch>
        </p:blipFill>
        <p:spPr>
          <a:xfrm>
            <a:off x="1085759" y="2192183"/>
            <a:ext cx="260787" cy="260787"/>
          </a:xfrm>
          <a:prstGeom prst="rect">
            <a:avLst/>
          </a:prstGeom>
        </p:spPr>
      </p:pic>
      <p:sp>
        <p:nvSpPr>
          <p:cNvPr id="12" name="Text 9"/>
          <p:cNvSpPr/>
          <p:nvPr/>
        </p:nvSpPr>
        <p:spPr>
          <a:xfrm>
            <a:off x="1627632" y="2039112"/>
            <a:ext cx="2423160" cy="566928"/>
          </a:xfrm>
          <a:prstGeom prst="rect">
            <a:avLst/>
          </a:prstGeom>
          <a:noFill/>
          <a:ln/>
        </p:spPr>
        <p:txBody>
          <a:bodyPr wrap="square" lIns="0" tIns="0" rIns="0" bIns="0" rtlCol="0" anchor="ctr"/>
          <a:lstStyle/>
          <a:p>
            <a:pPr indent="0" marL="0">
              <a:buNone/>
            </a:pPr>
            <a:r>
              <a:rPr lang="en-US" sz="1450" b="1" spc="150" kern="0" dirty="0">
                <a:solidFill>
                  <a:srgbClr val="FFFFFF"/>
                </a:solidFill>
                <a:latin typeface="Calibri" pitchFamily="34" charset="0"/>
                <a:ea typeface="Calibri" pitchFamily="34" charset="-122"/>
                <a:cs typeface="Calibri" pitchFamily="34" charset="-120"/>
              </a:rPr>
              <a:t>FRONTEND</a:t>
            </a:r>
            <a:endParaRPr lang="en-US" sz="1450" dirty="0"/>
          </a:p>
        </p:txBody>
      </p:sp>
      <p:sp>
        <p:nvSpPr>
          <p:cNvPr id="13" name="Shape 10"/>
          <p:cNvSpPr/>
          <p:nvPr/>
        </p:nvSpPr>
        <p:spPr>
          <a:xfrm>
            <a:off x="950976" y="3145536"/>
            <a:ext cx="146304" cy="146304"/>
          </a:xfrm>
          <a:prstGeom prst="ellipse">
            <a:avLst/>
          </a:prstGeom>
          <a:solidFill>
            <a:srgbClr val="38BDF8"/>
          </a:solidFill>
          <a:ln/>
        </p:spPr>
      </p:sp>
      <p:sp>
        <p:nvSpPr>
          <p:cNvPr id="14" name="Text 11"/>
          <p:cNvSpPr/>
          <p:nvPr/>
        </p:nvSpPr>
        <p:spPr>
          <a:xfrm>
            <a:off x="1225296" y="3017520"/>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Angular 21</a:t>
            </a:r>
            <a:endParaRPr lang="en-US" sz="1300" dirty="0"/>
          </a:p>
        </p:txBody>
      </p:sp>
      <p:sp>
        <p:nvSpPr>
          <p:cNvPr id="15" name="Text 12"/>
          <p:cNvSpPr/>
          <p:nvPr/>
        </p:nvSpPr>
        <p:spPr>
          <a:xfrm>
            <a:off x="1225296" y="3300984"/>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Standalone SPA</a:t>
            </a:r>
            <a:endParaRPr lang="en-US" sz="1050" dirty="0"/>
          </a:p>
        </p:txBody>
      </p:sp>
      <p:sp>
        <p:nvSpPr>
          <p:cNvPr id="16" name="Shape 13"/>
          <p:cNvSpPr/>
          <p:nvPr/>
        </p:nvSpPr>
        <p:spPr>
          <a:xfrm>
            <a:off x="950976" y="3895344"/>
            <a:ext cx="146304" cy="146304"/>
          </a:xfrm>
          <a:prstGeom prst="ellipse">
            <a:avLst/>
          </a:prstGeom>
          <a:solidFill>
            <a:srgbClr val="38BDF8"/>
          </a:solidFill>
          <a:ln/>
        </p:spPr>
      </p:sp>
      <p:sp>
        <p:nvSpPr>
          <p:cNvPr id="17" name="Text 14"/>
          <p:cNvSpPr/>
          <p:nvPr/>
        </p:nvSpPr>
        <p:spPr>
          <a:xfrm>
            <a:off x="1225296" y="3767328"/>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TypeScript</a:t>
            </a:r>
            <a:endParaRPr lang="en-US" sz="1300" dirty="0"/>
          </a:p>
        </p:txBody>
      </p:sp>
      <p:sp>
        <p:nvSpPr>
          <p:cNvPr id="18" name="Text 15"/>
          <p:cNvSpPr/>
          <p:nvPr/>
        </p:nvSpPr>
        <p:spPr>
          <a:xfrm>
            <a:off x="1225296" y="4050792"/>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Type-safe UI</a:t>
            </a:r>
            <a:endParaRPr lang="en-US" sz="1050" dirty="0"/>
          </a:p>
        </p:txBody>
      </p:sp>
      <p:sp>
        <p:nvSpPr>
          <p:cNvPr id="19" name="Shape 16"/>
          <p:cNvSpPr/>
          <p:nvPr/>
        </p:nvSpPr>
        <p:spPr>
          <a:xfrm>
            <a:off x="950976" y="4645152"/>
            <a:ext cx="146304" cy="146304"/>
          </a:xfrm>
          <a:prstGeom prst="ellipse">
            <a:avLst/>
          </a:prstGeom>
          <a:solidFill>
            <a:srgbClr val="38BDF8"/>
          </a:solidFill>
          <a:ln/>
        </p:spPr>
      </p:sp>
      <p:sp>
        <p:nvSpPr>
          <p:cNvPr id="20" name="Text 17"/>
          <p:cNvSpPr/>
          <p:nvPr/>
        </p:nvSpPr>
        <p:spPr>
          <a:xfrm>
            <a:off x="1225296" y="4517136"/>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Chart.js</a:t>
            </a:r>
            <a:endParaRPr lang="en-US" sz="1300" dirty="0"/>
          </a:p>
        </p:txBody>
      </p:sp>
      <p:sp>
        <p:nvSpPr>
          <p:cNvPr id="21" name="Text 18"/>
          <p:cNvSpPr/>
          <p:nvPr/>
        </p:nvSpPr>
        <p:spPr>
          <a:xfrm>
            <a:off x="1225296" y="4800600"/>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Live analytics</a:t>
            </a:r>
            <a:endParaRPr lang="en-US" sz="1050" dirty="0"/>
          </a:p>
        </p:txBody>
      </p:sp>
      <p:sp>
        <p:nvSpPr>
          <p:cNvPr id="22" name="Shape 19"/>
          <p:cNvSpPr/>
          <p:nvPr/>
        </p:nvSpPr>
        <p:spPr>
          <a:xfrm>
            <a:off x="950976" y="5394960"/>
            <a:ext cx="146304" cy="146304"/>
          </a:xfrm>
          <a:prstGeom prst="ellipse">
            <a:avLst/>
          </a:prstGeom>
          <a:solidFill>
            <a:srgbClr val="38BDF8"/>
          </a:solidFill>
          <a:ln/>
        </p:spPr>
      </p:sp>
      <p:sp>
        <p:nvSpPr>
          <p:cNvPr id="23" name="Text 20"/>
          <p:cNvSpPr/>
          <p:nvPr/>
        </p:nvSpPr>
        <p:spPr>
          <a:xfrm>
            <a:off x="1225296" y="5266944"/>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RxJS + Guards</a:t>
            </a:r>
            <a:endParaRPr lang="en-US" sz="1300" dirty="0"/>
          </a:p>
        </p:txBody>
      </p:sp>
      <p:sp>
        <p:nvSpPr>
          <p:cNvPr id="24" name="Text 21"/>
          <p:cNvSpPr/>
          <p:nvPr/>
        </p:nvSpPr>
        <p:spPr>
          <a:xfrm>
            <a:off x="1225296" y="5550408"/>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Reactive, secured routes</a:t>
            </a:r>
            <a:endParaRPr lang="en-US" sz="1050" dirty="0"/>
          </a:p>
        </p:txBody>
      </p:sp>
      <p:sp>
        <p:nvSpPr>
          <p:cNvPr id="25" name="Shape 22"/>
          <p:cNvSpPr/>
          <p:nvPr/>
        </p:nvSpPr>
        <p:spPr>
          <a:xfrm>
            <a:off x="4498848" y="1783080"/>
            <a:ext cx="3611880" cy="4480560"/>
          </a:xfrm>
          <a:prstGeom prst="roundRect">
            <a:avLst>
              <a:gd name="adj" fmla="val 2532"/>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6" name="Shape 23"/>
          <p:cNvSpPr/>
          <p:nvPr/>
        </p:nvSpPr>
        <p:spPr>
          <a:xfrm>
            <a:off x="4498848" y="1783080"/>
            <a:ext cx="3611880" cy="1078992"/>
          </a:xfrm>
          <a:prstGeom prst="roundRect">
            <a:avLst>
              <a:gd name="adj" fmla="val 8475"/>
            </a:avLst>
          </a:prstGeom>
          <a:solidFill>
            <a:srgbClr val="1A2540"/>
          </a:solidFill>
          <a:ln/>
        </p:spPr>
      </p:sp>
      <p:sp>
        <p:nvSpPr>
          <p:cNvPr id="27" name="Shape 24"/>
          <p:cNvSpPr/>
          <p:nvPr/>
        </p:nvSpPr>
        <p:spPr>
          <a:xfrm>
            <a:off x="4791456" y="2039112"/>
            <a:ext cx="566928" cy="566928"/>
          </a:xfrm>
          <a:prstGeom prst="ellipse">
            <a:avLst/>
          </a:prstGeom>
          <a:solidFill>
            <a:srgbClr val="D4AF37"/>
          </a:solidFill>
          <a:ln/>
          <a:effectLst>
            <a:outerShdw sx="100000" sy="100000" kx="0" ky="0" algn="bl" rotWithShape="0" blurRad="228600" dist="50800" dir="16200000">
              <a:srgbClr val="D4AF37">
                <a:alpha val="50000"/>
              </a:srgbClr>
            </a:outerShdw>
          </a:effectLst>
        </p:spPr>
      </p:sp>
      <p:pic>
        <p:nvPicPr>
          <p:cNvPr id="28" name="Image 1" descr="preencoded.png">    </p:cNvPr>
          <p:cNvPicPr>
            <a:picLocks noChangeAspect="1"/>
          </p:cNvPicPr>
          <p:nvPr/>
        </p:nvPicPr>
        <p:blipFill>
          <a:blip r:embed="rId2"/>
          <a:stretch>
            <a:fillRect/>
          </a:stretch>
        </p:blipFill>
        <p:spPr>
          <a:xfrm>
            <a:off x="4944527" y="2192183"/>
            <a:ext cx="260787" cy="260787"/>
          </a:xfrm>
          <a:prstGeom prst="rect">
            <a:avLst/>
          </a:prstGeom>
        </p:spPr>
      </p:pic>
      <p:sp>
        <p:nvSpPr>
          <p:cNvPr id="29" name="Text 25"/>
          <p:cNvSpPr/>
          <p:nvPr/>
        </p:nvSpPr>
        <p:spPr>
          <a:xfrm>
            <a:off x="5486400" y="2039112"/>
            <a:ext cx="2423160" cy="566928"/>
          </a:xfrm>
          <a:prstGeom prst="rect">
            <a:avLst/>
          </a:prstGeom>
          <a:noFill/>
          <a:ln/>
        </p:spPr>
        <p:txBody>
          <a:bodyPr wrap="square" lIns="0" tIns="0" rIns="0" bIns="0" rtlCol="0" anchor="ctr"/>
          <a:lstStyle/>
          <a:p>
            <a:pPr indent="0" marL="0">
              <a:buNone/>
            </a:pPr>
            <a:r>
              <a:rPr lang="en-US" sz="1450" b="1" spc="150" kern="0" dirty="0">
                <a:solidFill>
                  <a:srgbClr val="FFFFFF"/>
                </a:solidFill>
                <a:latin typeface="Calibri" pitchFamily="34" charset="0"/>
                <a:ea typeface="Calibri" pitchFamily="34" charset="-122"/>
                <a:cs typeface="Calibri" pitchFamily="34" charset="-120"/>
              </a:rPr>
              <a:t>BACKEND</a:t>
            </a:r>
            <a:endParaRPr lang="en-US" sz="1450" dirty="0"/>
          </a:p>
        </p:txBody>
      </p:sp>
      <p:sp>
        <p:nvSpPr>
          <p:cNvPr id="30" name="Shape 26"/>
          <p:cNvSpPr/>
          <p:nvPr/>
        </p:nvSpPr>
        <p:spPr>
          <a:xfrm>
            <a:off x="4809744" y="3145536"/>
            <a:ext cx="146304" cy="146304"/>
          </a:xfrm>
          <a:prstGeom prst="ellipse">
            <a:avLst/>
          </a:prstGeom>
          <a:solidFill>
            <a:srgbClr val="D4AF37"/>
          </a:solidFill>
          <a:ln/>
        </p:spPr>
      </p:sp>
      <p:sp>
        <p:nvSpPr>
          <p:cNvPr id="31" name="Text 27"/>
          <p:cNvSpPr/>
          <p:nvPr/>
        </p:nvSpPr>
        <p:spPr>
          <a:xfrm>
            <a:off x="5084064" y="3017520"/>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Spring Boot 4</a:t>
            </a:r>
            <a:endParaRPr lang="en-US" sz="1300" dirty="0"/>
          </a:p>
        </p:txBody>
      </p:sp>
      <p:sp>
        <p:nvSpPr>
          <p:cNvPr id="32" name="Text 28"/>
          <p:cNvSpPr/>
          <p:nvPr/>
        </p:nvSpPr>
        <p:spPr>
          <a:xfrm>
            <a:off x="5084064" y="3300984"/>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Modular monolith</a:t>
            </a:r>
            <a:endParaRPr lang="en-US" sz="1050" dirty="0"/>
          </a:p>
        </p:txBody>
      </p:sp>
      <p:sp>
        <p:nvSpPr>
          <p:cNvPr id="33" name="Shape 29"/>
          <p:cNvSpPr/>
          <p:nvPr/>
        </p:nvSpPr>
        <p:spPr>
          <a:xfrm>
            <a:off x="4809744" y="3895344"/>
            <a:ext cx="146304" cy="146304"/>
          </a:xfrm>
          <a:prstGeom prst="ellipse">
            <a:avLst/>
          </a:prstGeom>
          <a:solidFill>
            <a:srgbClr val="D4AF37"/>
          </a:solidFill>
          <a:ln/>
        </p:spPr>
      </p:sp>
      <p:sp>
        <p:nvSpPr>
          <p:cNvPr id="34" name="Text 30"/>
          <p:cNvSpPr/>
          <p:nvPr/>
        </p:nvSpPr>
        <p:spPr>
          <a:xfrm>
            <a:off x="5084064" y="3767328"/>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Java 21</a:t>
            </a:r>
            <a:endParaRPr lang="en-US" sz="1300" dirty="0"/>
          </a:p>
        </p:txBody>
      </p:sp>
      <p:sp>
        <p:nvSpPr>
          <p:cNvPr id="35" name="Text 31"/>
          <p:cNvSpPr/>
          <p:nvPr/>
        </p:nvSpPr>
        <p:spPr>
          <a:xfrm>
            <a:off x="5084064" y="4050792"/>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Modern LTS runtime</a:t>
            </a:r>
            <a:endParaRPr lang="en-US" sz="1050" dirty="0"/>
          </a:p>
        </p:txBody>
      </p:sp>
      <p:sp>
        <p:nvSpPr>
          <p:cNvPr id="36" name="Shape 32"/>
          <p:cNvSpPr/>
          <p:nvPr/>
        </p:nvSpPr>
        <p:spPr>
          <a:xfrm>
            <a:off x="4809744" y="4645152"/>
            <a:ext cx="146304" cy="146304"/>
          </a:xfrm>
          <a:prstGeom prst="ellipse">
            <a:avLst/>
          </a:prstGeom>
          <a:solidFill>
            <a:srgbClr val="D4AF37"/>
          </a:solidFill>
          <a:ln/>
        </p:spPr>
      </p:sp>
      <p:sp>
        <p:nvSpPr>
          <p:cNvPr id="37" name="Text 33"/>
          <p:cNvSpPr/>
          <p:nvPr/>
        </p:nvSpPr>
        <p:spPr>
          <a:xfrm>
            <a:off x="5084064" y="4517136"/>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Spring Security + JWT</a:t>
            </a:r>
            <a:endParaRPr lang="en-US" sz="1300" dirty="0"/>
          </a:p>
        </p:txBody>
      </p:sp>
      <p:sp>
        <p:nvSpPr>
          <p:cNvPr id="38" name="Text 34"/>
          <p:cNvSpPr/>
          <p:nvPr/>
        </p:nvSpPr>
        <p:spPr>
          <a:xfrm>
            <a:off x="5084064" y="4800600"/>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Stateless HS256 auth</a:t>
            </a:r>
            <a:endParaRPr lang="en-US" sz="1050" dirty="0"/>
          </a:p>
        </p:txBody>
      </p:sp>
      <p:sp>
        <p:nvSpPr>
          <p:cNvPr id="39" name="Shape 35"/>
          <p:cNvSpPr/>
          <p:nvPr/>
        </p:nvSpPr>
        <p:spPr>
          <a:xfrm>
            <a:off x="4809744" y="5394960"/>
            <a:ext cx="146304" cy="146304"/>
          </a:xfrm>
          <a:prstGeom prst="ellipse">
            <a:avLst/>
          </a:prstGeom>
          <a:solidFill>
            <a:srgbClr val="D4AF37"/>
          </a:solidFill>
          <a:ln/>
        </p:spPr>
      </p:sp>
      <p:sp>
        <p:nvSpPr>
          <p:cNvPr id="40" name="Text 36"/>
          <p:cNvSpPr/>
          <p:nvPr/>
        </p:nvSpPr>
        <p:spPr>
          <a:xfrm>
            <a:off x="5084064" y="5266944"/>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Spring AOP</a:t>
            </a:r>
            <a:endParaRPr lang="en-US" sz="1300" dirty="0"/>
          </a:p>
        </p:txBody>
      </p:sp>
      <p:sp>
        <p:nvSpPr>
          <p:cNvPr id="41" name="Text 37"/>
          <p:cNvSpPr/>
          <p:nvPr/>
        </p:nvSpPr>
        <p:spPr>
          <a:xfrm>
            <a:off x="5084064" y="5550408"/>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Audit-log aspect</a:t>
            </a:r>
            <a:endParaRPr lang="en-US" sz="1050" dirty="0"/>
          </a:p>
        </p:txBody>
      </p:sp>
      <p:sp>
        <p:nvSpPr>
          <p:cNvPr id="42" name="Shape 38"/>
          <p:cNvSpPr/>
          <p:nvPr/>
        </p:nvSpPr>
        <p:spPr>
          <a:xfrm>
            <a:off x="8357616" y="1783080"/>
            <a:ext cx="3611880" cy="4480560"/>
          </a:xfrm>
          <a:prstGeom prst="roundRect">
            <a:avLst>
              <a:gd name="adj" fmla="val 2532"/>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43" name="Shape 39"/>
          <p:cNvSpPr/>
          <p:nvPr/>
        </p:nvSpPr>
        <p:spPr>
          <a:xfrm>
            <a:off x="8357616" y="1783080"/>
            <a:ext cx="3611880" cy="1078992"/>
          </a:xfrm>
          <a:prstGeom prst="roundRect">
            <a:avLst>
              <a:gd name="adj" fmla="val 8475"/>
            </a:avLst>
          </a:prstGeom>
          <a:solidFill>
            <a:srgbClr val="1A2540"/>
          </a:solidFill>
          <a:ln/>
        </p:spPr>
      </p:sp>
      <p:sp>
        <p:nvSpPr>
          <p:cNvPr id="44" name="Shape 40"/>
          <p:cNvSpPr/>
          <p:nvPr/>
        </p:nvSpPr>
        <p:spPr>
          <a:xfrm>
            <a:off x="8650224" y="2039112"/>
            <a:ext cx="566928" cy="566928"/>
          </a:xfrm>
          <a:prstGeom prst="ellipse">
            <a:avLst/>
          </a:prstGeom>
          <a:solidFill>
            <a:srgbClr val="2DD4BF"/>
          </a:solidFill>
          <a:ln/>
          <a:effectLst>
            <a:outerShdw sx="100000" sy="100000" kx="0" ky="0" algn="bl" rotWithShape="0" blurRad="228600" dist="50800" dir="16200000">
              <a:srgbClr val="2DD4BF">
                <a:alpha val="50000"/>
              </a:srgbClr>
            </a:outerShdw>
          </a:effectLst>
        </p:spPr>
      </p:sp>
      <p:pic>
        <p:nvPicPr>
          <p:cNvPr id="45" name="Image 2" descr="preencoded.png">    </p:cNvPr>
          <p:cNvPicPr>
            <a:picLocks noChangeAspect="1"/>
          </p:cNvPicPr>
          <p:nvPr/>
        </p:nvPicPr>
        <p:blipFill>
          <a:blip r:embed="rId3"/>
          <a:stretch>
            <a:fillRect/>
          </a:stretch>
        </p:blipFill>
        <p:spPr>
          <a:xfrm>
            <a:off x="8803295" y="2192183"/>
            <a:ext cx="260787" cy="260787"/>
          </a:xfrm>
          <a:prstGeom prst="rect">
            <a:avLst/>
          </a:prstGeom>
        </p:spPr>
      </p:pic>
      <p:sp>
        <p:nvSpPr>
          <p:cNvPr id="46" name="Text 41"/>
          <p:cNvSpPr/>
          <p:nvPr/>
        </p:nvSpPr>
        <p:spPr>
          <a:xfrm>
            <a:off x="9345168" y="2039112"/>
            <a:ext cx="2423160" cy="566928"/>
          </a:xfrm>
          <a:prstGeom prst="rect">
            <a:avLst/>
          </a:prstGeom>
          <a:noFill/>
          <a:ln/>
        </p:spPr>
        <p:txBody>
          <a:bodyPr wrap="square" lIns="0" tIns="0" rIns="0" bIns="0" rtlCol="0" anchor="ctr"/>
          <a:lstStyle/>
          <a:p>
            <a:pPr indent="0" marL="0">
              <a:buNone/>
            </a:pPr>
            <a:r>
              <a:rPr lang="en-US" sz="1450" b="1" spc="150" kern="0" dirty="0">
                <a:solidFill>
                  <a:srgbClr val="FFFFFF"/>
                </a:solidFill>
                <a:latin typeface="Calibri" pitchFamily="34" charset="0"/>
                <a:ea typeface="Calibri" pitchFamily="34" charset="-122"/>
                <a:cs typeface="Calibri" pitchFamily="34" charset="-120"/>
              </a:rPr>
              <a:t>DATA &amp; SECURITY</a:t>
            </a:r>
            <a:endParaRPr lang="en-US" sz="1450" dirty="0"/>
          </a:p>
        </p:txBody>
      </p:sp>
      <p:sp>
        <p:nvSpPr>
          <p:cNvPr id="47" name="Shape 42"/>
          <p:cNvSpPr/>
          <p:nvPr/>
        </p:nvSpPr>
        <p:spPr>
          <a:xfrm>
            <a:off x="8668512" y="3145536"/>
            <a:ext cx="146304" cy="146304"/>
          </a:xfrm>
          <a:prstGeom prst="ellipse">
            <a:avLst/>
          </a:prstGeom>
          <a:solidFill>
            <a:srgbClr val="2DD4BF"/>
          </a:solidFill>
          <a:ln/>
        </p:spPr>
      </p:sp>
      <p:sp>
        <p:nvSpPr>
          <p:cNvPr id="48" name="Text 43"/>
          <p:cNvSpPr/>
          <p:nvPr/>
        </p:nvSpPr>
        <p:spPr>
          <a:xfrm>
            <a:off x="8942832" y="3017520"/>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a:t>
            </a:r>
            <a:endParaRPr lang="en-US" sz="1300" dirty="0"/>
          </a:p>
        </p:txBody>
      </p:sp>
      <p:sp>
        <p:nvSpPr>
          <p:cNvPr id="49" name="Text 44"/>
          <p:cNvSpPr/>
          <p:nvPr/>
        </p:nvSpPr>
        <p:spPr>
          <a:xfrm>
            <a:off x="8942832" y="3300984"/>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Relational store</a:t>
            </a:r>
            <a:endParaRPr lang="en-US" sz="1050" dirty="0"/>
          </a:p>
        </p:txBody>
      </p:sp>
      <p:sp>
        <p:nvSpPr>
          <p:cNvPr id="50" name="Shape 45"/>
          <p:cNvSpPr/>
          <p:nvPr/>
        </p:nvSpPr>
        <p:spPr>
          <a:xfrm>
            <a:off x="8668512" y="3895344"/>
            <a:ext cx="146304" cy="146304"/>
          </a:xfrm>
          <a:prstGeom prst="ellipse">
            <a:avLst/>
          </a:prstGeom>
          <a:solidFill>
            <a:srgbClr val="2DD4BF"/>
          </a:solidFill>
          <a:ln/>
        </p:spPr>
      </p:sp>
      <p:sp>
        <p:nvSpPr>
          <p:cNvPr id="51" name="Text 46"/>
          <p:cNvSpPr/>
          <p:nvPr/>
        </p:nvSpPr>
        <p:spPr>
          <a:xfrm>
            <a:off x="8942832" y="3767328"/>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Spring Data JPA</a:t>
            </a:r>
            <a:endParaRPr lang="en-US" sz="1300" dirty="0"/>
          </a:p>
        </p:txBody>
      </p:sp>
      <p:sp>
        <p:nvSpPr>
          <p:cNvPr id="52" name="Text 47"/>
          <p:cNvSpPr/>
          <p:nvPr/>
        </p:nvSpPr>
        <p:spPr>
          <a:xfrm>
            <a:off x="8942832" y="4050792"/>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Hibernate ORM</a:t>
            </a:r>
            <a:endParaRPr lang="en-US" sz="1050" dirty="0"/>
          </a:p>
        </p:txBody>
      </p:sp>
      <p:sp>
        <p:nvSpPr>
          <p:cNvPr id="53" name="Shape 48"/>
          <p:cNvSpPr/>
          <p:nvPr/>
        </p:nvSpPr>
        <p:spPr>
          <a:xfrm>
            <a:off x="8668512" y="4645152"/>
            <a:ext cx="146304" cy="146304"/>
          </a:xfrm>
          <a:prstGeom prst="ellipse">
            <a:avLst/>
          </a:prstGeom>
          <a:solidFill>
            <a:srgbClr val="2DD4BF"/>
          </a:solidFill>
          <a:ln/>
        </p:spPr>
      </p:sp>
      <p:sp>
        <p:nvSpPr>
          <p:cNvPr id="54" name="Text 49"/>
          <p:cNvSpPr/>
          <p:nvPr/>
        </p:nvSpPr>
        <p:spPr>
          <a:xfrm>
            <a:off x="8942832" y="4517136"/>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JJWT + BCrypt</a:t>
            </a:r>
            <a:endParaRPr lang="en-US" sz="1300" dirty="0"/>
          </a:p>
        </p:txBody>
      </p:sp>
      <p:sp>
        <p:nvSpPr>
          <p:cNvPr id="55" name="Text 50"/>
          <p:cNvSpPr/>
          <p:nvPr/>
        </p:nvSpPr>
        <p:spPr>
          <a:xfrm>
            <a:off x="8942832" y="4800600"/>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Signing &amp; hashing</a:t>
            </a:r>
            <a:endParaRPr lang="en-US" sz="1050" dirty="0"/>
          </a:p>
        </p:txBody>
      </p:sp>
      <p:sp>
        <p:nvSpPr>
          <p:cNvPr id="56" name="Shape 51"/>
          <p:cNvSpPr/>
          <p:nvPr/>
        </p:nvSpPr>
        <p:spPr>
          <a:xfrm>
            <a:off x="8668512" y="5394960"/>
            <a:ext cx="146304" cy="146304"/>
          </a:xfrm>
          <a:prstGeom prst="ellipse">
            <a:avLst/>
          </a:prstGeom>
          <a:solidFill>
            <a:srgbClr val="2DD4BF"/>
          </a:solidFill>
          <a:ln/>
        </p:spPr>
      </p:sp>
      <p:sp>
        <p:nvSpPr>
          <p:cNvPr id="57" name="Text 52"/>
          <p:cNvSpPr/>
          <p:nvPr/>
        </p:nvSpPr>
        <p:spPr>
          <a:xfrm>
            <a:off x="8942832" y="5266944"/>
            <a:ext cx="27889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DTO + Validation</a:t>
            </a:r>
            <a:endParaRPr lang="en-US" sz="1300" dirty="0"/>
          </a:p>
        </p:txBody>
      </p:sp>
      <p:sp>
        <p:nvSpPr>
          <p:cNvPr id="58" name="Text 53"/>
          <p:cNvSpPr/>
          <p:nvPr/>
        </p:nvSpPr>
        <p:spPr>
          <a:xfrm>
            <a:off x="8942832" y="5550408"/>
            <a:ext cx="2788920" cy="274320"/>
          </a:xfrm>
          <a:prstGeom prst="rect">
            <a:avLst/>
          </a:prstGeom>
          <a:noFill/>
          <a:ln/>
        </p:spPr>
        <p:txBody>
          <a:bodyPr wrap="square" lIns="0" tIns="0" rIns="0" bIns="0" rtlCol="0" anchor="ctr"/>
          <a:lstStyle/>
          <a:p>
            <a:pPr indent="0" marL="0">
              <a:buNone/>
            </a:pPr>
            <a:r>
              <a:rPr lang="en-US" sz="1050" dirty="0">
                <a:solidFill>
                  <a:srgbClr val="7E8BA8"/>
                </a:solidFill>
                <a:latin typeface="Calibri" pitchFamily="34" charset="0"/>
                <a:ea typeface="Calibri" pitchFamily="34" charset="-122"/>
                <a:cs typeface="Calibri" pitchFamily="34" charset="-120"/>
              </a:rPr>
              <a:t>Clean API contracts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END TO END</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System Architecture</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00784"/>
            <a:ext cx="2249424" cy="512064"/>
          </a:xfrm>
          <a:prstGeom prst="roundRect">
            <a:avLst>
              <a:gd name="adj" fmla="val 12500"/>
            </a:avLst>
          </a:prstGeom>
          <a:solidFill>
            <a:srgbClr val="1A2540"/>
          </a:solidFill>
          <a:ln w="15875">
            <a:solidFill>
              <a:srgbClr val="38BDF8"/>
            </a:solidFill>
            <a:prstDash val="solid"/>
          </a:ln>
        </p:spPr>
      </p:sp>
      <p:sp>
        <p:nvSpPr>
          <p:cNvPr id="9" name="Shape 7"/>
          <p:cNvSpPr/>
          <p:nvPr/>
        </p:nvSpPr>
        <p:spPr>
          <a:xfrm>
            <a:off x="749808" y="1792224"/>
            <a:ext cx="329184" cy="329184"/>
          </a:xfrm>
          <a:prstGeom prst="ellipse">
            <a:avLst/>
          </a:prstGeom>
          <a:solidFill>
            <a:srgbClr val="38BDF8"/>
          </a:solidFill>
          <a:ln/>
          <a:effectLst>
            <a:outerShdw sx="100000" sy="100000" kx="0" ky="0" algn="bl" rotWithShape="0" blurRad="228600" dist="50800" dir="16200000">
              <a:srgbClr val="38BDF8">
                <a:alpha val="50000"/>
              </a:srgbClr>
            </a:outerShdw>
          </a:effectLst>
        </p:spPr>
      </p:sp>
      <p:pic>
        <p:nvPicPr>
          <p:cNvPr id="10" name="Image 0" descr="preencoded.png">    </p:cNvPr>
          <p:cNvPicPr>
            <a:picLocks noChangeAspect="1"/>
          </p:cNvPicPr>
          <p:nvPr/>
        </p:nvPicPr>
        <p:blipFill>
          <a:blip r:embed="rId1"/>
          <a:stretch>
            <a:fillRect/>
          </a:stretch>
        </p:blipFill>
        <p:spPr>
          <a:xfrm>
            <a:off x="838688" y="1881104"/>
            <a:ext cx="151425" cy="151425"/>
          </a:xfrm>
          <a:prstGeom prst="rect">
            <a:avLst/>
          </a:prstGeom>
        </p:spPr>
      </p:pic>
      <p:sp>
        <p:nvSpPr>
          <p:cNvPr id="11" name="Text 8"/>
          <p:cNvSpPr/>
          <p:nvPr/>
        </p:nvSpPr>
        <p:spPr>
          <a:xfrm>
            <a:off x="1152144" y="1700784"/>
            <a:ext cx="1609344" cy="512064"/>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CLIENT</a:t>
            </a:r>
            <a:endParaRPr lang="en-US" sz="1200" dirty="0"/>
          </a:p>
        </p:txBody>
      </p:sp>
      <p:sp>
        <p:nvSpPr>
          <p:cNvPr id="12" name="Shape 9"/>
          <p:cNvSpPr/>
          <p:nvPr/>
        </p:nvSpPr>
        <p:spPr>
          <a:xfrm>
            <a:off x="3712464" y="1700784"/>
            <a:ext cx="2249424" cy="512064"/>
          </a:xfrm>
          <a:prstGeom prst="roundRect">
            <a:avLst>
              <a:gd name="adj" fmla="val 12500"/>
            </a:avLst>
          </a:prstGeom>
          <a:solidFill>
            <a:srgbClr val="1A2540"/>
          </a:solidFill>
          <a:ln w="15875">
            <a:solidFill>
              <a:srgbClr val="D4AF37"/>
            </a:solidFill>
            <a:prstDash val="solid"/>
          </a:ln>
        </p:spPr>
      </p:sp>
      <p:sp>
        <p:nvSpPr>
          <p:cNvPr id="13" name="Shape 10"/>
          <p:cNvSpPr/>
          <p:nvPr/>
        </p:nvSpPr>
        <p:spPr>
          <a:xfrm>
            <a:off x="3822192" y="1792224"/>
            <a:ext cx="329184" cy="329184"/>
          </a:xfrm>
          <a:prstGeom prst="ellipse">
            <a:avLst/>
          </a:prstGeom>
          <a:solidFill>
            <a:srgbClr val="D4AF37"/>
          </a:solidFill>
          <a:ln/>
          <a:effectLst>
            <a:outerShdw sx="100000" sy="100000" kx="0" ky="0" algn="bl" rotWithShape="0" blurRad="228600" dist="50800" dir="16200000">
              <a:srgbClr val="D4AF37">
                <a:alpha val="50000"/>
              </a:srgbClr>
            </a:outerShdw>
          </a:effectLst>
        </p:spPr>
      </p:sp>
      <p:pic>
        <p:nvPicPr>
          <p:cNvPr id="14" name="Image 1" descr="preencoded.png">    </p:cNvPr>
          <p:cNvPicPr>
            <a:picLocks noChangeAspect="1"/>
          </p:cNvPicPr>
          <p:nvPr/>
        </p:nvPicPr>
        <p:blipFill>
          <a:blip r:embed="rId2"/>
          <a:stretch>
            <a:fillRect/>
          </a:stretch>
        </p:blipFill>
        <p:spPr>
          <a:xfrm>
            <a:off x="3911072" y="1881104"/>
            <a:ext cx="151425" cy="151425"/>
          </a:xfrm>
          <a:prstGeom prst="rect">
            <a:avLst/>
          </a:prstGeom>
        </p:spPr>
      </p:pic>
      <p:sp>
        <p:nvSpPr>
          <p:cNvPr id="15" name="Text 11"/>
          <p:cNvSpPr/>
          <p:nvPr/>
        </p:nvSpPr>
        <p:spPr>
          <a:xfrm>
            <a:off x="4224528" y="1700784"/>
            <a:ext cx="1609344" cy="512064"/>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SECURITY</a:t>
            </a:r>
            <a:endParaRPr lang="en-US" sz="1200" dirty="0"/>
          </a:p>
        </p:txBody>
      </p:sp>
      <p:sp>
        <p:nvSpPr>
          <p:cNvPr id="16" name="Shape 12"/>
          <p:cNvSpPr/>
          <p:nvPr/>
        </p:nvSpPr>
        <p:spPr>
          <a:xfrm>
            <a:off x="6784848" y="1700784"/>
            <a:ext cx="2249424" cy="512064"/>
          </a:xfrm>
          <a:prstGeom prst="roundRect">
            <a:avLst>
              <a:gd name="adj" fmla="val 12500"/>
            </a:avLst>
          </a:prstGeom>
          <a:solidFill>
            <a:srgbClr val="1A2540"/>
          </a:solidFill>
          <a:ln w="15875">
            <a:solidFill>
              <a:srgbClr val="2DD4BF"/>
            </a:solidFill>
            <a:prstDash val="solid"/>
          </a:ln>
        </p:spPr>
      </p:sp>
      <p:sp>
        <p:nvSpPr>
          <p:cNvPr id="17" name="Shape 13"/>
          <p:cNvSpPr/>
          <p:nvPr/>
        </p:nvSpPr>
        <p:spPr>
          <a:xfrm>
            <a:off x="6894576" y="1792224"/>
            <a:ext cx="329184" cy="329184"/>
          </a:xfrm>
          <a:prstGeom prst="ellipse">
            <a:avLst/>
          </a:prstGeom>
          <a:solidFill>
            <a:srgbClr val="2DD4BF"/>
          </a:solidFill>
          <a:ln/>
          <a:effectLst>
            <a:outerShdw sx="100000" sy="100000" kx="0" ky="0" algn="bl" rotWithShape="0" blurRad="228600" dist="50800" dir="16200000">
              <a:srgbClr val="2DD4BF">
                <a:alpha val="50000"/>
              </a:srgbClr>
            </a:outerShdw>
          </a:effectLst>
        </p:spPr>
      </p:sp>
      <p:pic>
        <p:nvPicPr>
          <p:cNvPr id="18" name="Image 2" descr="preencoded.png">    </p:cNvPr>
          <p:cNvPicPr>
            <a:picLocks noChangeAspect="1"/>
          </p:cNvPicPr>
          <p:nvPr/>
        </p:nvPicPr>
        <p:blipFill>
          <a:blip r:embed="rId3"/>
          <a:stretch>
            <a:fillRect/>
          </a:stretch>
        </p:blipFill>
        <p:spPr>
          <a:xfrm>
            <a:off x="6983456" y="1881104"/>
            <a:ext cx="151425" cy="151425"/>
          </a:xfrm>
          <a:prstGeom prst="rect">
            <a:avLst/>
          </a:prstGeom>
        </p:spPr>
      </p:pic>
      <p:sp>
        <p:nvSpPr>
          <p:cNvPr id="19" name="Text 14"/>
          <p:cNvSpPr/>
          <p:nvPr/>
        </p:nvSpPr>
        <p:spPr>
          <a:xfrm>
            <a:off x="7296912" y="1700784"/>
            <a:ext cx="1609344" cy="512064"/>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20" name="Shape 15"/>
          <p:cNvSpPr/>
          <p:nvPr/>
        </p:nvSpPr>
        <p:spPr>
          <a:xfrm>
            <a:off x="9857232" y="1700784"/>
            <a:ext cx="2249424" cy="512064"/>
          </a:xfrm>
          <a:prstGeom prst="roundRect">
            <a:avLst>
              <a:gd name="adj" fmla="val 12500"/>
            </a:avLst>
          </a:prstGeom>
          <a:solidFill>
            <a:srgbClr val="1A2540"/>
          </a:solidFill>
          <a:ln w="15875">
            <a:solidFill>
              <a:srgbClr val="A78BFA"/>
            </a:solidFill>
            <a:prstDash val="solid"/>
          </a:ln>
        </p:spPr>
      </p:sp>
      <p:sp>
        <p:nvSpPr>
          <p:cNvPr id="21" name="Shape 16"/>
          <p:cNvSpPr/>
          <p:nvPr/>
        </p:nvSpPr>
        <p:spPr>
          <a:xfrm>
            <a:off x="9966960" y="1792224"/>
            <a:ext cx="329184" cy="329184"/>
          </a:xfrm>
          <a:prstGeom prst="ellipse">
            <a:avLst/>
          </a:prstGeom>
          <a:solidFill>
            <a:srgbClr val="A78BFA"/>
          </a:solidFill>
          <a:ln/>
          <a:effectLst>
            <a:outerShdw sx="100000" sy="100000" kx="0" ky="0" algn="bl" rotWithShape="0" blurRad="228600" dist="50800" dir="16200000">
              <a:srgbClr val="A78BFA">
                <a:alpha val="50000"/>
              </a:srgbClr>
            </a:outerShdw>
          </a:effectLst>
        </p:spPr>
      </p:sp>
      <p:pic>
        <p:nvPicPr>
          <p:cNvPr id="22" name="Image 3" descr="preencoded.png">    </p:cNvPr>
          <p:cNvPicPr>
            <a:picLocks noChangeAspect="1"/>
          </p:cNvPicPr>
          <p:nvPr/>
        </p:nvPicPr>
        <p:blipFill>
          <a:blip r:embed="rId4"/>
          <a:stretch>
            <a:fillRect/>
          </a:stretch>
        </p:blipFill>
        <p:spPr>
          <a:xfrm>
            <a:off x="10055840" y="1881104"/>
            <a:ext cx="151425" cy="151425"/>
          </a:xfrm>
          <a:prstGeom prst="rect">
            <a:avLst/>
          </a:prstGeom>
        </p:spPr>
      </p:pic>
      <p:sp>
        <p:nvSpPr>
          <p:cNvPr id="23" name="Text 17"/>
          <p:cNvSpPr/>
          <p:nvPr/>
        </p:nvSpPr>
        <p:spPr>
          <a:xfrm>
            <a:off x="10369296" y="1700784"/>
            <a:ext cx="1609344" cy="512064"/>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DATA</a:t>
            </a:r>
            <a:endParaRPr lang="en-US" sz="1200" dirty="0"/>
          </a:p>
        </p:txBody>
      </p:sp>
      <p:sp>
        <p:nvSpPr>
          <p:cNvPr id="24" name="Shape 18"/>
          <p:cNvSpPr/>
          <p:nvPr/>
        </p:nvSpPr>
        <p:spPr>
          <a:xfrm>
            <a:off x="640080" y="2432304"/>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5" name="Shape 19"/>
          <p:cNvSpPr/>
          <p:nvPr/>
        </p:nvSpPr>
        <p:spPr>
          <a:xfrm>
            <a:off x="786384" y="2596896"/>
            <a:ext cx="109728" cy="109728"/>
          </a:xfrm>
          <a:prstGeom prst="ellipse">
            <a:avLst/>
          </a:prstGeom>
          <a:solidFill>
            <a:srgbClr val="38BDF8"/>
          </a:solidFill>
          <a:ln/>
        </p:spPr>
      </p:sp>
      <p:sp>
        <p:nvSpPr>
          <p:cNvPr id="26" name="Text 20"/>
          <p:cNvSpPr/>
          <p:nvPr/>
        </p:nvSpPr>
        <p:spPr>
          <a:xfrm>
            <a:off x="987552" y="2523744"/>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Angular 21 SPA</a:t>
            </a:r>
            <a:endParaRPr lang="en-US" sz="1150" dirty="0"/>
          </a:p>
        </p:txBody>
      </p:sp>
      <p:sp>
        <p:nvSpPr>
          <p:cNvPr id="27" name="Text 21"/>
          <p:cNvSpPr/>
          <p:nvPr/>
        </p:nvSpPr>
        <p:spPr>
          <a:xfrm>
            <a:off x="786384" y="2834640"/>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Standalone components</a:t>
            </a:r>
            <a:endParaRPr lang="en-US" sz="950" dirty="0"/>
          </a:p>
        </p:txBody>
      </p:sp>
      <p:sp>
        <p:nvSpPr>
          <p:cNvPr id="28" name="Shape 22"/>
          <p:cNvSpPr/>
          <p:nvPr/>
        </p:nvSpPr>
        <p:spPr>
          <a:xfrm>
            <a:off x="640080" y="3419856"/>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9" name="Shape 23"/>
          <p:cNvSpPr/>
          <p:nvPr/>
        </p:nvSpPr>
        <p:spPr>
          <a:xfrm>
            <a:off x="786384" y="3584448"/>
            <a:ext cx="109728" cy="109728"/>
          </a:xfrm>
          <a:prstGeom prst="ellipse">
            <a:avLst/>
          </a:prstGeom>
          <a:solidFill>
            <a:srgbClr val="38BDF8"/>
          </a:solidFill>
          <a:ln/>
        </p:spPr>
      </p:sp>
      <p:sp>
        <p:nvSpPr>
          <p:cNvPr id="30" name="Text 24"/>
          <p:cNvSpPr/>
          <p:nvPr/>
        </p:nvSpPr>
        <p:spPr>
          <a:xfrm>
            <a:off x="987552" y="3511296"/>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JWT Interceptor</a:t>
            </a:r>
            <a:endParaRPr lang="en-US" sz="1150" dirty="0"/>
          </a:p>
        </p:txBody>
      </p:sp>
      <p:sp>
        <p:nvSpPr>
          <p:cNvPr id="31" name="Text 25"/>
          <p:cNvSpPr/>
          <p:nvPr/>
        </p:nvSpPr>
        <p:spPr>
          <a:xfrm>
            <a:off x="786384" y="3822192"/>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Attaches Bearer token</a:t>
            </a:r>
            <a:endParaRPr lang="en-US" sz="950" dirty="0"/>
          </a:p>
        </p:txBody>
      </p:sp>
      <p:sp>
        <p:nvSpPr>
          <p:cNvPr id="32" name="Shape 26"/>
          <p:cNvSpPr/>
          <p:nvPr/>
        </p:nvSpPr>
        <p:spPr>
          <a:xfrm>
            <a:off x="640080" y="4407408"/>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3" name="Shape 27"/>
          <p:cNvSpPr/>
          <p:nvPr/>
        </p:nvSpPr>
        <p:spPr>
          <a:xfrm>
            <a:off x="786384" y="4572000"/>
            <a:ext cx="109728" cy="109728"/>
          </a:xfrm>
          <a:prstGeom prst="ellipse">
            <a:avLst/>
          </a:prstGeom>
          <a:solidFill>
            <a:srgbClr val="38BDF8"/>
          </a:solidFill>
          <a:ln/>
        </p:spPr>
      </p:sp>
      <p:sp>
        <p:nvSpPr>
          <p:cNvPr id="34" name="Text 28"/>
          <p:cNvSpPr/>
          <p:nvPr/>
        </p:nvSpPr>
        <p:spPr>
          <a:xfrm>
            <a:off x="987552" y="4498848"/>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Route Guards</a:t>
            </a:r>
            <a:endParaRPr lang="en-US" sz="1150" dirty="0"/>
          </a:p>
        </p:txBody>
      </p:sp>
      <p:sp>
        <p:nvSpPr>
          <p:cNvPr id="35" name="Text 29"/>
          <p:cNvSpPr/>
          <p:nvPr/>
        </p:nvSpPr>
        <p:spPr>
          <a:xfrm>
            <a:off x="786384" y="4809744"/>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Auth · Admin · Guest</a:t>
            </a:r>
            <a:endParaRPr lang="en-US" sz="950" dirty="0"/>
          </a:p>
        </p:txBody>
      </p:sp>
      <p:sp>
        <p:nvSpPr>
          <p:cNvPr id="36" name="Shape 30"/>
          <p:cNvSpPr/>
          <p:nvPr/>
        </p:nvSpPr>
        <p:spPr>
          <a:xfrm>
            <a:off x="640080" y="5394960"/>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7" name="Shape 31"/>
          <p:cNvSpPr/>
          <p:nvPr/>
        </p:nvSpPr>
        <p:spPr>
          <a:xfrm>
            <a:off x="786384" y="5559552"/>
            <a:ext cx="109728" cy="109728"/>
          </a:xfrm>
          <a:prstGeom prst="ellipse">
            <a:avLst/>
          </a:prstGeom>
          <a:solidFill>
            <a:srgbClr val="38BDF8"/>
          </a:solidFill>
          <a:ln/>
        </p:spPr>
      </p:sp>
      <p:sp>
        <p:nvSpPr>
          <p:cNvPr id="38" name="Text 32"/>
          <p:cNvSpPr/>
          <p:nvPr/>
        </p:nvSpPr>
        <p:spPr>
          <a:xfrm>
            <a:off x="987552" y="5486400"/>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Chart.js Dashboards</a:t>
            </a:r>
            <a:endParaRPr lang="en-US" sz="1150" dirty="0"/>
          </a:p>
        </p:txBody>
      </p:sp>
      <p:sp>
        <p:nvSpPr>
          <p:cNvPr id="39" name="Text 33"/>
          <p:cNvSpPr/>
          <p:nvPr/>
        </p:nvSpPr>
        <p:spPr>
          <a:xfrm>
            <a:off x="786384" y="5797296"/>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Customer &amp; Admin</a:t>
            </a:r>
            <a:endParaRPr lang="en-US" sz="950" dirty="0"/>
          </a:p>
        </p:txBody>
      </p:sp>
      <p:sp>
        <p:nvSpPr>
          <p:cNvPr id="40" name="Shape 34"/>
          <p:cNvSpPr/>
          <p:nvPr/>
        </p:nvSpPr>
        <p:spPr>
          <a:xfrm>
            <a:off x="3712464" y="2432304"/>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41" name="Shape 35"/>
          <p:cNvSpPr/>
          <p:nvPr/>
        </p:nvSpPr>
        <p:spPr>
          <a:xfrm>
            <a:off x="3858768" y="2596896"/>
            <a:ext cx="109728" cy="109728"/>
          </a:xfrm>
          <a:prstGeom prst="ellipse">
            <a:avLst/>
          </a:prstGeom>
          <a:solidFill>
            <a:srgbClr val="D4AF37"/>
          </a:solidFill>
          <a:ln/>
        </p:spPr>
      </p:sp>
      <p:sp>
        <p:nvSpPr>
          <p:cNvPr id="42" name="Text 36"/>
          <p:cNvSpPr/>
          <p:nvPr/>
        </p:nvSpPr>
        <p:spPr>
          <a:xfrm>
            <a:off x="4059936" y="2523744"/>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JwtAuthFilter</a:t>
            </a:r>
            <a:endParaRPr lang="en-US" sz="1150" dirty="0"/>
          </a:p>
        </p:txBody>
      </p:sp>
      <p:sp>
        <p:nvSpPr>
          <p:cNvPr id="43" name="Text 37"/>
          <p:cNvSpPr/>
          <p:nvPr/>
        </p:nvSpPr>
        <p:spPr>
          <a:xfrm>
            <a:off x="3858768" y="2834640"/>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Reads &amp; validates token</a:t>
            </a:r>
            <a:endParaRPr lang="en-US" sz="950" dirty="0"/>
          </a:p>
        </p:txBody>
      </p:sp>
      <p:sp>
        <p:nvSpPr>
          <p:cNvPr id="44" name="Shape 38"/>
          <p:cNvSpPr/>
          <p:nvPr/>
        </p:nvSpPr>
        <p:spPr>
          <a:xfrm>
            <a:off x="3712464" y="3419856"/>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45" name="Shape 39"/>
          <p:cNvSpPr/>
          <p:nvPr/>
        </p:nvSpPr>
        <p:spPr>
          <a:xfrm>
            <a:off x="3858768" y="3584448"/>
            <a:ext cx="109728" cy="109728"/>
          </a:xfrm>
          <a:prstGeom prst="ellipse">
            <a:avLst/>
          </a:prstGeom>
          <a:solidFill>
            <a:srgbClr val="D4AF37"/>
          </a:solidFill>
          <a:ln/>
        </p:spPr>
      </p:sp>
      <p:sp>
        <p:nvSpPr>
          <p:cNvPr id="46" name="Text 40"/>
          <p:cNvSpPr/>
          <p:nvPr/>
        </p:nvSpPr>
        <p:spPr>
          <a:xfrm>
            <a:off x="4059936" y="3511296"/>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Security Filter Chain</a:t>
            </a:r>
            <a:endParaRPr lang="en-US" sz="1150" dirty="0"/>
          </a:p>
        </p:txBody>
      </p:sp>
      <p:sp>
        <p:nvSpPr>
          <p:cNvPr id="47" name="Text 41"/>
          <p:cNvSpPr/>
          <p:nvPr/>
        </p:nvSpPr>
        <p:spPr>
          <a:xfrm>
            <a:off x="3858768" y="3822192"/>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Stateless · CSRF-off · CORS</a:t>
            </a:r>
            <a:endParaRPr lang="en-US" sz="950" dirty="0"/>
          </a:p>
        </p:txBody>
      </p:sp>
      <p:sp>
        <p:nvSpPr>
          <p:cNvPr id="48" name="Shape 42"/>
          <p:cNvSpPr/>
          <p:nvPr/>
        </p:nvSpPr>
        <p:spPr>
          <a:xfrm>
            <a:off x="3712464" y="4407408"/>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49" name="Shape 43"/>
          <p:cNvSpPr/>
          <p:nvPr/>
        </p:nvSpPr>
        <p:spPr>
          <a:xfrm>
            <a:off x="3858768" y="4572000"/>
            <a:ext cx="109728" cy="109728"/>
          </a:xfrm>
          <a:prstGeom prst="ellipse">
            <a:avLst/>
          </a:prstGeom>
          <a:solidFill>
            <a:srgbClr val="D4AF37"/>
          </a:solidFill>
          <a:ln/>
        </p:spPr>
      </p:sp>
      <p:sp>
        <p:nvSpPr>
          <p:cNvPr id="50" name="Text 44"/>
          <p:cNvSpPr/>
          <p:nvPr/>
        </p:nvSpPr>
        <p:spPr>
          <a:xfrm>
            <a:off x="4059936" y="4498848"/>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UserDetailsService</a:t>
            </a:r>
            <a:endParaRPr lang="en-US" sz="1150" dirty="0"/>
          </a:p>
        </p:txBody>
      </p:sp>
      <p:sp>
        <p:nvSpPr>
          <p:cNvPr id="51" name="Text 45"/>
          <p:cNvSpPr/>
          <p:nvPr/>
        </p:nvSpPr>
        <p:spPr>
          <a:xfrm>
            <a:off x="3858768" y="4809744"/>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Loads principal + role</a:t>
            </a:r>
            <a:endParaRPr lang="en-US" sz="950" dirty="0"/>
          </a:p>
        </p:txBody>
      </p:sp>
      <p:sp>
        <p:nvSpPr>
          <p:cNvPr id="52" name="Shape 46"/>
          <p:cNvSpPr/>
          <p:nvPr/>
        </p:nvSpPr>
        <p:spPr>
          <a:xfrm>
            <a:off x="3712464" y="5394960"/>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53" name="Shape 47"/>
          <p:cNvSpPr/>
          <p:nvPr/>
        </p:nvSpPr>
        <p:spPr>
          <a:xfrm>
            <a:off x="3858768" y="5559552"/>
            <a:ext cx="109728" cy="109728"/>
          </a:xfrm>
          <a:prstGeom prst="ellipse">
            <a:avLst/>
          </a:prstGeom>
          <a:solidFill>
            <a:srgbClr val="D4AF37"/>
          </a:solidFill>
          <a:ln/>
        </p:spPr>
      </p:sp>
      <p:sp>
        <p:nvSpPr>
          <p:cNvPr id="54" name="Text 48"/>
          <p:cNvSpPr/>
          <p:nvPr/>
        </p:nvSpPr>
        <p:spPr>
          <a:xfrm>
            <a:off x="4059936" y="5486400"/>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Authorization</a:t>
            </a:r>
            <a:endParaRPr lang="en-US" sz="1150" dirty="0"/>
          </a:p>
        </p:txBody>
      </p:sp>
      <p:sp>
        <p:nvSpPr>
          <p:cNvPr id="55" name="Text 49"/>
          <p:cNvSpPr/>
          <p:nvPr/>
        </p:nvSpPr>
        <p:spPr>
          <a:xfrm>
            <a:off x="3858768" y="5797296"/>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/admin/** → ADMIN role</a:t>
            </a:r>
            <a:endParaRPr lang="en-US" sz="950" dirty="0"/>
          </a:p>
        </p:txBody>
      </p:sp>
      <p:sp>
        <p:nvSpPr>
          <p:cNvPr id="56" name="Shape 50"/>
          <p:cNvSpPr/>
          <p:nvPr/>
        </p:nvSpPr>
        <p:spPr>
          <a:xfrm>
            <a:off x="6784848" y="2432304"/>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57" name="Shape 51"/>
          <p:cNvSpPr/>
          <p:nvPr/>
        </p:nvSpPr>
        <p:spPr>
          <a:xfrm>
            <a:off x="6931152" y="2596896"/>
            <a:ext cx="109728" cy="109728"/>
          </a:xfrm>
          <a:prstGeom prst="ellipse">
            <a:avLst/>
          </a:prstGeom>
          <a:solidFill>
            <a:srgbClr val="2DD4BF"/>
          </a:solidFill>
          <a:ln/>
        </p:spPr>
      </p:sp>
      <p:sp>
        <p:nvSpPr>
          <p:cNvPr id="58" name="Text 52"/>
          <p:cNvSpPr/>
          <p:nvPr/>
        </p:nvSpPr>
        <p:spPr>
          <a:xfrm>
            <a:off x="7132320" y="2523744"/>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REST Controllers</a:t>
            </a:r>
            <a:endParaRPr lang="en-US" sz="1150" dirty="0"/>
          </a:p>
        </p:txBody>
      </p:sp>
      <p:sp>
        <p:nvSpPr>
          <p:cNvPr id="59" name="Text 53"/>
          <p:cNvSpPr/>
          <p:nvPr/>
        </p:nvSpPr>
        <p:spPr>
          <a:xfrm>
            <a:off x="6931152" y="2834640"/>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Accounts · Transfers · Loans…</a:t>
            </a:r>
            <a:endParaRPr lang="en-US" sz="950" dirty="0"/>
          </a:p>
        </p:txBody>
      </p:sp>
      <p:sp>
        <p:nvSpPr>
          <p:cNvPr id="60" name="Shape 54"/>
          <p:cNvSpPr/>
          <p:nvPr/>
        </p:nvSpPr>
        <p:spPr>
          <a:xfrm>
            <a:off x="6784848" y="3419856"/>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61" name="Shape 55"/>
          <p:cNvSpPr/>
          <p:nvPr/>
        </p:nvSpPr>
        <p:spPr>
          <a:xfrm>
            <a:off x="6931152" y="3584448"/>
            <a:ext cx="109728" cy="109728"/>
          </a:xfrm>
          <a:prstGeom prst="ellipse">
            <a:avLst/>
          </a:prstGeom>
          <a:solidFill>
            <a:srgbClr val="2DD4BF"/>
          </a:solidFill>
          <a:ln/>
        </p:spPr>
      </p:sp>
      <p:sp>
        <p:nvSpPr>
          <p:cNvPr id="62" name="Text 56"/>
          <p:cNvSpPr/>
          <p:nvPr/>
        </p:nvSpPr>
        <p:spPr>
          <a:xfrm>
            <a:off x="7132320" y="3511296"/>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Service Layer</a:t>
            </a:r>
            <a:endParaRPr lang="en-US" sz="1150" dirty="0"/>
          </a:p>
        </p:txBody>
      </p:sp>
      <p:sp>
        <p:nvSpPr>
          <p:cNvPr id="63" name="Text 57"/>
          <p:cNvSpPr/>
          <p:nvPr/>
        </p:nvSpPr>
        <p:spPr>
          <a:xfrm>
            <a:off x="6931152" y="3822192"/>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Business rules &amp; @Transactional</a:t>
            </a:r>
            <a:endParaRPr lang="en-US" sz="950" dirty="0"/>
          </a:p>
        </p:txBody>
      </p:sp>
      <p:sp>
        <p:nvSpPr>
          <p:cNvPr id="64" name="Shape 58"/>
          <p:cNvSpPr/>
          <p:nvPr/>
        </p:nvSpPr>
        <p:spPr>
          <a:xfrm>
            <a:off x="6784848" y="4407408"/>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65" name="Shape 59"/>
          <p:cNvSpPr/>
          <p:nvPr/>
        </p:nvSpPr>
        <p:spPr>
          <a:xfrm>
            <a:off x="6931152" y="4572000"/>
            <a:ext cx="109728" cy="109728"/>
          </a:xfrm>
          <a:prstGeom prst="ellipse">
            <a:avLst/>
          </a:prstGeom>
          <a:solidFill>
            <a:srgbClr val="2DD4BF"/>
          </a:solidFill>
          <a:ln/>
        </p:spPr>
      </p:sp>
      <p:sp>
        <p:nvSpPr>
          <p:cNvPr id="66" name="Text 60"/>
          <p:cNvSpPr/>
          <p:nvPr/>
        </p:nvSpPr>
        <p:spPr>
          <a:xfrm>
            <a:off x="7132320" y="4498848"/>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AuditLogAspect (AOP)</a:t>
            </a:r>
            <a:endParaRPr lang="en-US" sz="1150" dirty="0"/>
          </a:p>
        </p:txBody>
      </p:sp>
      <p:sp>
        <p:nvSpPr>
          <p:cNvPr id="67" name="Text 61"/>
          <p:cNvSpPr/>
          <p:nvPr/>
        </p:nvSpPr>
        <p:spPr>
          <a:xfrm>
            <a:off x="6931152" y="4809744"/>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Wraps every controller call</a:t>
            </a:r>
            <a:endParaRPr lang="en-US" sz="950" dirty="0"/>
          </a:p>
        </p:txBody>
      </p:sp>
      <p:sp>
        <p:nvSpPr>
          <p:cNvPr id="68" name="Shape 62"/>
          <p:cNvSpPr/>
          <p:nvPr/>
        </p:nvSpPr>
        <p:spPr>
          <a:xfrm>
            <a:off x="6784848" y="5394960"/>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69" name="Shape 63"/>
          <p:cNvSpPr/>
          <p:nvPr/>
        </p:nvSpPr>
        <p:spPr>
          <a:xfrm>
            <a:off x="6931152" y="5559552"/>
            <a:ext cx="109728" cy="109728"/>
          </a:xfrm>
          <a:prstGeom prst="ellipse">
            <a:avLst/>
          </a:prstGeom>
          <a:solidFill>
            <a:srgbClr val="2DD4BF"/>
          </a:solidFill>
          <a:ln/>
        </p:spPr>
      </p:sp>
      <p:sp>
        <p:nvSpPr>
          <p:cNvPr id="70" name="Text 64"/>
          <p:cNvSpPr/>
          <p:nvPr/>
        </p:nvSpPr>
        <p:spPr>
          <a:xfrm>
            <a:off x="7132320" y="5486400"/>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DTO + Enum Domain</a:t>
            </a:r>
            <a:endParaRPr lang="en-US" sz="1150" dirty="0"/>
          </a:p>
        </p:txBody>
      </p:sp>
      <p:sp>
        <p:nvSpPr>
          <p:cNvPr id="71" name="Text 65"/>
          <p:cNvSpPr/>
          <p:nvPr/>
        </p:nvSpPr>
        <p:spPr>
          <a:xfrm>
            <a:off x="6931152" y="5797296"/>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Validated request/response</a:t>
            </a:r>
            <a:endParaRPr lang="en-US" sz="950" dirty="0"/>
          </a:p>
        </p:txBody>
      </p:sp>
      <p:sp>
        <p:nvSpPr>
          <p:cNvPr id="72" name="Shape 66"/>
          <p:cNvSpPr/>
          <p:nvPr/>
        </p:nvSpPr>
        <p:spPr>
          <a:xfrm>
            <a:off x="9857232" y="2432304"/>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73" name="Shape 67"/>
          <p:cNvSpPr/>
          <p:nvPr/>
        </p:nvSpPr>
        <p:spPr>
          <a:xfrm>
            <a:off x="10003536" y="2596896"/>
            <a:ext cx="109728" cy="109728"/>
          </a:xfrm>
          <a:prstGeom prst="ellipse">
            <a:avLst/>
          </a:prstGeom>
          <a:solidFill>
            <a:srgbClr val="A78BFA"/>
          </a:solidFill>
          <a:ln/>
        </p:spPr>
      </p:sp>
      <p:sp>
        <p:nvSpPr>
          <p:cNvPr id="74" name="Text 68"/>
          <p:cNvSpPr/>
          <p:nvPr/>
        </p:nvSpPr>
        <p:spPr>
          <a:xfrm>
            <a:off x="10204704" y="2523744"/>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JPA Repositories</a:t>
            </a:r>
            <a:endParaRPr lang="en-US" sz="1150" dirty="0"/>
          </a:p>
        </p:txBody>
      </p:sp>
      <p:sp>
        <p:nvSpPr>
          <p:cNvPr id="75" name="Text 69"/>
          <p:cNvSpPr/>
          <p:nvPr/>
        </p:nvSpPr>
        <p:spPr>
          <a:xfrm>
            <a:off x="10003536" y="2834640"/>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Spring Data + Hibernate</a:t>
            </a:r>
            <a:endParaRPr lang="en-US" sz="950" dirty="0"/>
          </a:p>
        </p:txBody>
      </p:sp>
      <p:sp>
        <p:nvSpPr>
          <p:cNvPr id="76" name="Shape 70"/>
          <p:cNvSpPr/>
          <p:nvPr/>
        </p:nvSpPr>
        <p:spPr>
          <a:xfrm>
            <a:off x="9857232" y="3419856"/>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77" name="Shape 71"/>
          <p:cNvSpPr/>
          <p:nvPr/>
        </p:nvSpPr>
        <p:spPr>
          <a:xfrm>
            <a:off x="10003536" y="3584448"/>
            <a:ext cx="109728" cy="109728"/>
          </a:xfrm>
          <a:prstGeom prst="ellipse">
            <a:avLst/>
          </a:prstGeom>
          <a:solidFill>
            <a:srgbClr val="A78BFA"/>
          </a:solidFill>
          <a:ln/>
        </p:spPr>
      </p:sp>
      <p:sp>
        <p:nvSpPr>
          <p:cNvPr id="78" name="Text 72"/>
          <p:cNvSpPr/>
          <p:nvPr/>
        </p:nvSpPr>
        <p:spPr>
          <a:xfrm>
            <a:off x="10204704" y="3511296"/>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MySQL 8</a:t>
            </a:r>
            <a:endParaRPr lang="en-US" sz="1150" dirty="0"/>
          </a:p>
        </p:txBody>
      </p:sp>
      <p:sp>
        <p:nvSpPr>
          <p:cNvPr id="79" name="Text 73"/>
          <p:cNvSpPr/>
          <p:nvPr/>
        </p:nvSpPr>
        <p:spPr>
          <a:xfrm>
            <a:off x="10003536" y="3822192"/>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Relational source of truth</a:t>
            </a:r>
            <a:endParaRPr lang="en-US" sz="950" dirty="0"/>
          </a:p>
        </p:txBody>
      </p:sp>
      <p:sp>
        <p:nvSpPr>
          <p:cNvPr id="80" name="Shape 74"/>
          <p:cNvSpPr/>
          <p:nvPr/>
        </p:nvSpPr>
        <p:spPr>
          <a:xfrm>
            <a:off x="9857232" y="4407408"/>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81" name="Shape 75"/>
          <p:cNvSpPr/>
          <p:nvPr/>
        </p:nvSpPr>
        <p:spPr>
          <a:xfrm>
            <a:off x="10003536" y="4572000"/>
            <a:ext cx="109728" cy="109728"/>
          </a:xfrm>
          <a:prstGeom prst="ellipse">
            <a:avLst/>
          </a:prstGeom>
          <a:solidFill>
            <a:srgbClr val="A78BFA"/>
          </a:solidFill>
          <a:ln/>
        </p:spPr>
      </p:sp>
      <p:sp>
        <p:nvSpPr>
          <p:cNvPr id="82" name="Text 76"/>
          <p:cNvSpPr/>
          <p:nvPr/>
        </p:nvSpPr>
        <p:spPr>
          <a:xfrm>
            <a:off x="10204704" y="4498848"/>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EmiCalculatorUtil</a:t>
            </a:r>
            <a:endParaRPr lang="en-US" sz="1150" dirty="0"/>
          </a:p>
        </p:txBody>
      </p:sp>
      <p:sp>
        <p:nvSpPr>
          <p:cNvPr id="83" name="Text 77"/>
          <p:cNvSpPr/>
          <p:nvPr/>
        </p:nvSpPr>
        <p:spPr>
          <a:xfrm>
            <a:off x="10003536" y="4809744"/>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Reducing-balance schedule</a:t>
            </a:r>
            <a:endParaRPr lang="en-US" sz="950" dirty="0"/>
          </a:p>
        </p:txBody>
      </p:sp>
      <p:sp>
        <p:nvSpPr>
          <p:cNvPr id="84" name="Shape 78"/>
          <p:cNvSpPr/>
          <p:nvPr/>
        </p:nvSpPr>
        <p:spPr>
          <a:xfrm>
            <a:off x="9857232" y="5394960"/>
            <a:ext cx="2249424" cy="841248"/>
          </a:xfrm>
          <a:prstGeom prst="roundRect">
            <a:avLst>
              <a:gd name="adj" fmla="val 7609"/>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85" name="Shape 79"/>
          <p:cNvSpPr/>
          <p:nvPr/>
        </p:nvSpPr>
        <p:spPr>
          <a:xfrm>
            <a:off x="10003536" y="5559552"/>
            <a:ext cx="109728" cy="109728"/>
          </a:xfrm>
          <a:prstGeom prst="ellipse">
            <a:avLst/>
          </a:prstGeom>
          <a:solidFill>
            <a:srgbClr val="A78BFA"/>
          </a:solidFill>
          <a:ln/>
        </p:spPr>
      </p:sp>
      <p:sp>
        <p:nvSpPr>
          <p:cNvPr id="86" name="Text 80"/>
          <p:cNvSpPr/>
          <p:nvPr/>
        </p:nvSpPr>
        <p:spPr>
          <a:xfrm>
            <a:off x="10204704" y="5486400"/>
            <a:ext cx="1792224"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system_audit_log</a:t>
            </a:r>
            <a:endParaRPr lang="en-US" sz="1150" dirty="0"/>
          </a:p>
        </p:txBody>
      </p:sp>
      <p:sp>
        <p:nvSpPr>
          <p:cNvPr id="87" name="Text 81"/>
          <p:cNvSpPr/>
          <p:nvPr/>
        </p:nvSpPr>
        <p:spPr>
          <a:xfrm>
            <a:off x="10003536" y="5797296"/>
            <a:ext cx="1956816" cy="365760"/>
          </a:xfrm>
          <a:prstGeom prst="rect">
            <a:avLst/>
          </a:prstGeom>
          <a:noFill/>
          <a:ln/>
        </p:spPr>
        <p:txBody>
          <a:bodyPr wrap="square" lIns="0" tIns="0" rIns="0" bIns="0" rtlCol="0" anchor="ctr"/>
          <a:lstStyle/>
          <a:p>
            <a:pPr indent="0" marL="0">
              <a:lnSpc>
                <a:spcPct val="95000"/>
              </a:lnSpc>
              <a:buNone/>
            </a:pPr>
            <a:r>
              <a:rPr lang="en-US" sz="950" dirty="0">
                <a:solidFill>
                  <a:srgbClr val="7E8BA8"/>
                </a:solidFill>
                <a:latin typeface="Calibri" pitchFamily="34" charset="0"/>
                <a:ea typeface="Calibri" pitchFamily="34" charset="-122"/>
                <a:cs typeface="Calibri" pitchFamily="34" charset="-120"/>
              </a:rPr>
              <a:t>Endpoint · status · latency</a:t>
            </a:r>
            <a:endParaRPr lang="en-US" sz="950" dirty="0"/>
          </a:p>
        </p:txBody>
      </p:sp>
      <p:sp>
        <p:nvSpPr>
          <p:cNvPr id="88" name="Shape 82"/>
          <p:cNvSpPr/>
          <p:nvPr/>
        </p:nvSpPr>
        <p:spPr>
          <a:xfrm>
            <a:off x="2907792" y="1856232"/>
            <a:ext cx="201168" cy="201168"/>
          </a:xfrm>
          <a:prstGeom prst="ellipse">
            <a:avLst/>
          </a:prstGeom>
          <a:solidFill>
            <a:srgbClr val="D4AF37"/>
          </a:solidFill>
          <a:ln/>
          <a:effectLst>
            <a:outerShdw sx="100000" sy="100000" kx="0" ky="0" algn="bl" rotWithShape="0" blurRad="228600" dist="50800" dir="16200000">
              <a:srgbClr val="D4AF37">
                <a:alpha val="50000"/>
              </a:srgbClr>
            </a:outerShdw>
          </a:effectLst>
        </p:spPr>
      </p:sp>
      <p:sp>
        <p:nvSpPr>
          <p:cNvPr id="89" name="Text 83"/>
          <p:cNvSpPr/>
          <p:nvPr/>
        </p:nvSpPr>
        <p:spPr>
          <a:xfrm>
            <a:off x="2907792" y="1792224"/>
            <a:ext cx="201168" cy="329184"/>
          </a:xfrm>
          <a:prstGeom prst="rect">
            <a:avLst/>
          </a:prstGeom>
          <a:noFill/>
          <a:ln/>
        </p:spPr>
        <p:txBody>
          <a:bodyPr wrap="square" lIns="0" tIns="0" rIns="0" bIns="0" rtlCol="0" anchor="ctr"/>
          <a:lstStyle/>
          <a:p>
            <a:pPr algn="ctr" indent="0" marL="0">
              <a:buNone/>
            </a:pPr>
            <a:r>
              <a:rPr lang="en-US" sz="1500" b="1" dirty="0">
                <a:solidFill>
                  <a:srgbClr val="0A0E1A"/>
                </a:solidFill>
                <a:latin typeface="Calibri" pitchFamily="34" charset="0"/>
                <a:ea typeface="Calibri" pitchFamily="34" charset="-122"/>
                <a:cs typeface="Calibri" pitchFamily="34" charset="-120"/>
              </a:rPr>
              <a:t>›</a:t>
            </a:r>
            <a:endParaRPr lang="en-US" sz="1500" dirty="0"/>
          </a:p>
        </p:txBody>
      </p:sp>
      <p:sp>
        <p:nvSpPr>
          <p:cNvPr id="90" name="Shape 84"/>
          <p:cNvSpPr/>
          <p:nvPr/>
        </p:nvSpPr>
        <p:spPr>
          <a:xfrm>
            <a:off x="5980176" y="1856232"/>
            <a:ext cx="201168" cy="201168"/>
          </a:xfrm>
          <a:prstGeom prst="ellipse">
            <a:avLst/>
          </a:prstGeom>
          <a:solidFill>
            <a:srgbClr val="D4AF37"/>
          </a:solidFill>
          <a:ln/>
          <a:effectLst>
            <a:outerShdw sx="100000" sy="100000" kx="0" ky="0" algn="bl" rotWithShape="0" blurRad="228600" dist="50800" dir="16200000">
              <a:srgbClr val="D4AF37">
                <a:alpha val="50000"/>
              </a:srgbClr>
            </a:outerShdw>
          </a:effectLst>
        </p:spPr>
      </p:sp>
      <p:sp>
        <p:nvSpPr>
          <p:cNvPr id="91" name="Text 85"/>
          <p:cNvSpPr/>
          <p:nvPr/>
        </p:nvSpPr>
        <p:spPr>
          <a:xfrm>
            <a:off x="5980176" y="1792224"/>
            <a:ext cx="201168" cy="329184"/>
          </a:xfrm>
          <a:prstGeom prst="rect">
            <a:avLst/>
          </a:prstGeom>
          <a:noFill/>
          <a:ln/>
        </p:spPr>
        <p:txBody>
          <a:bodyPr wrap="square" lIns="0" tIns="0" rIns="0" bIns="0" rtlCol="0" anchor="ctr"/>
          <a:lstStyle/>
          <a:p>
            <a:pPr algn="ctr" indent="0" marL="0">
              <a:buNone/>
            </a:pPr>
            <a:r>
              <a:rPr lang="en-US" sz="1500" b="1" dirty="0">
                <a:solidFill>
                  <a:srgbClr val="0A0E1A"/>
                </a:solidFill>
                <a:latin typeface="Calibri" pitchFamily="34" charset="0"/>
                <a:ea typeface="Calibri" pitchFamily="34" charset="-122"/>
                <a:cs typeface="Calibri" pitchFamily="34" charset="-120"/>
              </a:rPr>
              <a:t>›</a:t>
            </a:r>
            <a:endParaRPr lang="en-US" sz="1500" dirty="0"/>
          </a:p>
        </p:txBody>
      </p:sp>
      <p:sp>
        <p:nvSpPr>
          <p:cNvPr id="92" name="Shape 86"/>
          <p:cNvSpPr/>
          <p:nvPr/>
        </p:nvSpPr>
        <p:spPr>
          <a:xfrm>
            <a:off x="9052560" y="1856232"/>
            <a:ext cx="201168" cy="201168"/>
          </a:xfrm>
          <a:prstGeom prst="ellipse">
            <a:avLst/>
          </a:prstGeom>
          <a:solidFill>
            <a:srgbClr val="D4AF37"/>
          </a:solidFill>
          <a:ln/>
          <a:effectLst>
            <a:outerShdw sx="100000" sy="100000" kx="0" ky="0" algn="bl" rotWithShape="0" blurRad="228600" dist="50800" dir="16200000">
              <a:srgbClr val="D4AF37">
                <a:alpha val="50000"/>
              </a:srgbClr>
            </a:outerShdw>
          </a:effectLst>
        </p:spPr>
      </p:sp>
      <p:sp>
        <p:nvSpPr>
          <p:cNvPr id="93" name="Text 87"/>
          <p:cNvSpPr/>
          <p:nvPr/>
        </p:nvSpPr>
        <p:spPr>
          <a:xfrm>
            <a:off x="9052560" y="1792224"/>
            <a:ext cx="201168" cy="329184"/>
          </a:xfrm>
          <a:prstGeom prst="rect">
            <a:avLst/>
          </a:prstGeom>
          <a:noFill/>
          <a:ln/>
        </p:spPr>
        <p:txBody>
          <a:bodyPr wrap="square" lIns="0" tIns="0" rIns="0" bIns="0" rtlCol="0" anchor="ctr"/>
          <a:lstStyle/>
          <a:p>
            <a:pPr algn="ctr" indent="0" marL="0">
              <a:buNone/>
            </a:pPr>
            <a:r>
              <a:rPr lang="en-US" sz="1500" b="1" dirty="0">
                <a:solidFill>
                  <a:srgbClr val="0A0E1A"/>
                </a:solidFill>
                <a:latin typeface="Calibri" pitchFamily="34" charset="0"/>
                <a:ea typeface="Calibri" pitchFamily="34" charset="-122"/>
                <a:cs typeface="Calibri" pitchFamily="34" charset="-120"/>
              </a:rPr>
              <a:t>›</a:t>
            </a:r>
            <a:endParaRPr lang="en-US" sz="1500" dirty="0"/>
          </a:p>
        </p:txBody>
      </p:sp>
      <p:sp>
        <p:nvSpPr>
          <p:cNvPr id="94" name="Shape 88"/>
          <p:cNvSpPr/>
          <p:nvPr/>
        </p:nvSpPr>
        <p:spPr>
          <a:xfrm>
            <a:off x="640080" y="6199632"/>
            <a:ext cx="10908792" cy="457200"/>
          </a:xfrm>
          <a:prstGeom prst="roundRect">
            <a:avLst>
              <a:gd name="adj" fmla="val 16000"/>
            </a:avLst>
          </a:prstGeom>
          <a:solidFill>
            <a:srgbClr val="1A2540"/>
          </a:solidFill>
          <a:ln w="12700">
            <a:solidFill>
              <a:srgbClr val="32436B"/>
            </a:solidFill>
            <a:prstDash val="solid"/>
          </a:ln>
        </p:spPr>
      </p:sp>
      <p:sp>
        <p:nvSpPr>
          <p:cNvPr id="95" name="Text 89"/>
          <p:cNvSpPr/>
          <p:nvPr/>
        </p:nvSpPr>
        <p:spPr>
          <a:xfrm>
            <a:off x="822960" y="6199632"/>
            <a:ext cx="10607040" cy="45720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Request flow:  </a:t>
            </a:r>
            <a:pPr indent="0" marL="0">
              <a:buNone/>
            </a:pPr>
            <a:r>
              <a:rPr lang="en-US" sz="1100" dirty="0">
                <a:solidFill>
                  <a:srgbClr val="C7D0E0"/>
                </a:solidFill>
                <a:latin typeface="Calibri" pitchFamily="34" charset="0"/>
                <a:ea typeface="Calibri" pitchFamily="34" charset="-122"/>
                <a:cs typeface="Calibri" pitchFamily="34" charset="-120"/>
              </a:rPr>
              <a:t>SPA  ›  JWT Interceptor  ›  JwtAuthFilter  ›  Security Chain  ›  Controller  ›  Service  ›  Repository  ›  MySQL</a:t>
            </a:r>
            <a:pPr indent="0" marL="0">
              <a:buNone/>
            </a:pPr>
            <a:r>
              <a:rPr lang="en-US" sz="1100" i="1" dirty="0">
                <a:solidFill>
                  <a:srgbClr val="7E8BA8"/>
                </a:solidFill>
                <a:latin typeface="Calibri" pitchFamily="34" charset="0"/>
                <a:ea typeface="Calibri" pitchFamily="34" charset="-122"/>
                <a:cs typeface="Calibri" pitchFamily="34" charset="-120"/>
              </a:rPr>
              <a:t>   —   every call captured by the audit aspect.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RELATIONAL CORE</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Data Model</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67512" y="1673352"/>
            <a:ext cx="4011077" cy="4379976"/>
          </a:xfrm>
          <a:prstGeom prst="roundRect">
            <a:avLst>
              <a:gd name="adj" fmla="val 1824"/>
            </a:avLst>
          </a:prstGeom>
          <a:solidFill>
            <a:srgbClr val="FFFFFF"/>
          </a:solidFill>
          <a:ln w="15875">
            <a:solidFill>
              <a:srgbClr val="8A6D1F"/>
            </a:solidFill>
            <a:prstDash val="solid"/>
          </a:ln>
          <a:effectLst>
            <a:outerShdw sx="100000" sy="100000" kx="0" ky="0" algn="bl" rotWithShape="0" blurRad="152400" dist="50800" dir="5400000">
              <a:srgbClr val="000000">
                <a:alpha val="45000"/>
              </a:srgbClr>
            </a:outerShdw>
          </a:effectLst>
        </p:spPr>
      </p:sp>
      <p:pic>
        <p:nvPicPr>
          <p:cNvPr id="9" name="Image 0" descr="er_diagram.png">    </p:cNvPr>
          <p:cNvPicPr>
            <a:picLocks noChangeAspect="1"/>
          </p:cNvPicPr>
          <p:nvPr/>
        </p:nvPicPr>
        <p:blipFill>
          <a:blip r:embed="rId1"/>
          <a:stretch>
            <a:fillRect/>
          </a:stretch>
        </p:blipFill>
        <p:spPr>
          <a:xfrm>
            <a:off x="777240" y="1783080"/>
            <a:ext cx="3791621" cy="4160520"/>
          </a:xfrm>
          <a:prstGeom prst="rect">
            <a:avLst/>
          </a:prstGeom>
        </p:spPr>
      </p:pic>
      <p:sp>
        <p:nvSpPr>
          <p:cNvPr id="10" name="Text 7"/>
          <p:cNvSpPr/>
          <p:nvPr/>
        </p:nvSpPr>
        <p:spPr>
          <a:xfrm>
            <a:off x="777240" y="6071616"/>
            <a:ext cx="3791621" cy="274320"/>
          </a:xfrm>
          <a:prstGeom prst="rect">
            <a:avLst/>
          </a:prstGeom>
          <a:noFill/>
          <a:ln/>
        </p:spPr>
        <p:txBody>
          <a:bodyPr wrap="square" lIns="0" tIns="0" rIns="0" bIns="0" rtlCol="0" anchor="ctr"/>
          <a:lstStyle/>
          <a:p>
            <a:pPr algn="ctr" indent="0" marL="0">
              <a:buNone/>
            </a:pPr>
            <a:r>
              <a:rPr lang="en-US" sz="1050" i="1" dirty="0">
                <a:solidFill>
                  <a:srgbClr val="7E8BA8"/>
                </a:solidFill>
                <a:latin typeface="Calibri" pitchFamily="34" charset="0"/>
                <a:ea typeface="Calibri" pitchFamily="34" charset="-122"/>
                <a:cs typeface="Calibri" pitchFamily="34" charset="-120"/>
              </a:rPr>
              <a:t>Full relational schema</a:t>
            </a:r>
            <a:endParaRPr lang="en-US" sz="1050" dirty="0"/>
          </a:p>
        </p:txBody>
      </p:sp>
      <p:sp>
        <p:nvSpPr>
          <p:cNvPr id="11" name="Shape 8"/>
          <p:cNvSpPr/>
          <p:nvPr/>
        </p:nvSpPr>
        <p:spPr>
          <a:xfrm>
            <a:off x="5117501" y="1783080"/>
            <a:ext cx="6434115" cy="804672"/>
          </a:xfrm>
          <a:prstGeom prst="roundRect">
            <a:avLst>
              <a:gd name="adj" fmla="val 90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2" name="Shape 9"/>
          <p:cNvSpPr/>
          <p:nvPr/>
        </p:nvSpPr>
        <p:spPr>
          <a:xfrm>
            <a:off x="5300381" y="1947672"/>
            <a:ext cx="457200" cy="457200"/>
          </a:xfrm>
          <a:prstGeom prst="ellipse">
            <a:avLst/>
          </a:prstGeom>
          <a:solidFill>
            <a:srgbClr val="1A2540"/>
          </a:solidFill>
          <a:ln w="22225">
            <a:solidFill>
              <a:srgbClr val="38BDF8"/>
            </a:solidFill>
            <a:prstDash val="solid"/>
          </a:ln>
        </p:spPr>
      </p:sp>
      <p:pic>
        <p:nvPicPr>
          <p:cNvPr id="13" name="Image 1" descr="preencoded.png">    </p:cNvPr>
          <p:cNvPicPr>
            <a:picLocks noChangeAspect="1"/>
          </p:cNvPicPr>
          <p:nvPr/>
        </p:nvPicPr>
        <p:blipFill>
          <a:blip r:embed="rId2"/>
          <a:stretch>
            <a:fillRect/>
          </a:stretch>
        </p:blipFill>
        <p:spPr>
          <a:xfrm>
            <a:off x="5432969" y="2080260"/>
            <a:ext cx="192024" cy="192024"/>
          </a:xfrm>
          <a:prstGeom prst="rect">
            <a:avLst/>
          </a:prstGeom>
        </p:spPr>
      </p:pic>
      <p:sp>
        <p:nvSpPr>
          <p:cNvPr id="14" name="Text 10"/>
          <p:cNvSpPr/>
          <p:nvPr/>
        </p:nvSpPr>
        <p:spPr>
          <a:xfrm>
            <a:off x="5903885" y="1911096"/>
            <a:ext cx="5519715"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Identity &amp; Access</a:t>
            </a:r>
            <a:endParaRPr lang="en-US" sz="1300" dirty="0"/>
          </a:p>
        </p:txBody>
      </p:sp>
      <p:sp>
        <p:nvSpPr>
          <p:cNvPr id="15" name="Text 11"/>
          <p:cNvSpPr/>
          <p:nvPr/>
        </p:nvSpPr>
        <p:spPr>
          <a:xfrm>
            <a:off x="5903885" y="2203704"/>
            <a:ext cx="5519715" cy="310896"/>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Users, roles &amp; JWT-secured access</a:t>
            </a:r>
            <a:endParaRPr lang="en-US" sz="1000" dirty="0"/>
          </a:p>
        </p:txBody>
      </p:sp>
      <p:sp>
        <p:nvSpPr>
          <p:cNvPr id="16" name="Shape 12"/>
          <p:cNvSpPr/>
          <p:nvPr/>
        </p:nvSpPr>
        <p:spPr>
          <a:xfrm>
            <a:off x="5117501" y="2715768"/>
            <a:ext cx="6434115" cy="804672"/>
          </a:xfrm>
          <a:prstGeom prst="roundRect">
            <a:avLst>
              <a:gd name="adj" fmla="val 90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7" name="Shape 13"/>
          <p:cNvSpPr/>
          <p:nvPr/>
        </p:nvSpPr>
        <p:spPr>
          <a:xfrm>
            <a:off x="5300381" y="2880360"/>
            <a:ext cx="457200" cy="457200"/>
          </a:xfrm>
          <a:prstGeom prst="ellipse">
            <a:avLst/>
          </a:prstGeom>
          <a:solidFill>
            <a:srgbClr val="1A2540"/>
          </a:solidFill>
          <a:ln w="22225">
            <a:solidFill>
              <a:srgbClr val="2DD4BF"/>
            </a:solidFill>
            <a:prstDash val="solid"/>
          </a:ln>
        </p:spPr>
      </p:sp>
      <p:pic>
        <p:nvPicPr>
          <p:cNvPr id="18" name="Image 2" descr="preencoded.png">    </p:cNvPr>
          <p:cNvPicPr>
            <a:picLocks noChangeAspect="1"/>
          </p:cNvPicPr>
          <p:nvPr/>
        </p:nvPicPr>
        <p:blipFill>
          <a:blip r:embed="rId3"/>
          <a:stretch>
            <a:fillRect/>
          </a:stretch>
        </p:blipFill>
        <p:spPr>
          <a:xfrm>
            <a:off x="5432969" y="3012948"/>
            <a:ext cx="192024" cy="192024"/>
          </a:xfrm>
          <a:prstGeom prst="rect">
            <a:avLst/>
          </a:prstGeom>
        </p:spPr>
      </p:pic>
      <p:sp>
        <p:nvSpPr>
          <p:cNvPr id="19" name="Text 14"/>
          <p:cNvSpPr/>
          <p:nvPr/>
        </p:nvSpPr>
        <p:spPr>
          <a:xfrm>
            <a:off x="5903885" y="2843784"/>
            <a:ext cx="5519715"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Accounts &amp; Money Flow</a:t>
            </a:r>
            <a:endParaRPr lang="en-US" sz="1300" dirty="0"/>
          </a:p>
        </p:txBody>
      </p:sp>
      <p:sp>
        <p:nvSpPr>
          <p:cNvPr id="20" name="Text 15"/>
          <p:cNvSpPr/>
          <p:nvPr/>
        </p:nvSpPr>
        <p:spPr>
          <a:xfrm>
            <a:off x="5903885" y="3136392"/>
            <a:ext cx="5519715" cy="310896"/>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Accounts and the transaction ledger</a:t>
            </a:r>
            <a:endParaRPr lang="en-US" sz="1000" dirty="0"/>
          </a:p>
        </p:txBody>
      </p:sp>
      <p:sp>
        <p:nvSpPr>
          <p:cNvPr id="21" name="Shape 16"/>
          <p:cNvSpPr/>
          <p:nvPr/>
        </p:nvSpPr>
        <p:spPr>
          <a:xfrm>
            <a:off x="5117501" y="3648456"/>
            <a:ext cx="6434115" cy="804672"/>
          </a:xfrm>
          <a:prstGeom prst="roundRect">
            <a:avLst>
              <a:gd name="adj" fmla="val 90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2" name="Shape 17"/>
          <p:cNvSpPr/>
          <p:nvPr/>
        </p:nvSpPr>
        <p:spPr>
          <a:xfrm>
            <a:off x="5300381" y="3813048"/>
            <a:ext cx="457200" cy="457200"/>
          </a:xfrm>
          <a:prstGeom prst="ellipse">
            <a:avLst/>
          </a:prstGeom>
          <a:solidFill>
            <a:srgbClr val="1A2540"/>
          </a:solidFill>
          <a:ln w="22225">
            <a:solidFill>
              <a:srgbClr val="A78BFA"/>
            </a:solidFill>
            <a:prstDash val="solid"/>
          </a:ln>
        </p:spPr>
      </p:sp>
      <p:pic>
        <p:nvPicPr>
          <p:cNvPr id="23" name="Image 3" descr="preencoded.png">    </p:cNvPr>
          <p:cNvPicPr>
            <a:picLocks noChangeAspect="1"/>
          </p:cNvPicPr>
          <p:nvPr/>
        </p:nvPicPr>
        <p:blipFill>
          <a:blip r:embed="rId4"/>
          <a:stretch>
            <a:fillRect/>
          </a:stretch>
        </p:blipFill>
        <p:spPr>
          <a:xfrm>
            <a:off x="5432969" y="3945636"/>
            <a:ext cx="192024" cy="192024"/>
          </a:xfrm>
          <a:prstGeom prst="rect">
            <a:avLst/>
          </a:prstGeom>
        </p:spPr>
      </p:pic>
      <p:sp>
        <p:nvSpPr>
          <p:cNvPr id="24" name="Text 18"/>
          <p:cNvSpPr/>
          <p:nvPr/>
        </p:nvSpPr>
        <p:spPr>
          <a:xfrm>
            <a:off x="5903885" y="3776472"/>
            <a:ext cx="5519715"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Lending</a:t>
            </a:r>
            <a:endParaRPr lang="en-US" sz="1300" dirty="0"/>
          </a:p>
        </p:txBody>
      </p:sp>
      <p:sp>
        <p:nvSpPr>
          <p:cNvPr id="25" name="Text 19"/>
          <p:cNvSpPr/>
          <p:nvPr/>
        </p:nvSpPr>
        <p:spPr>
          <a:xfrm>
            <a:off x="5903885" y="4069080"/>
            <a:ext cx="5519715" cy="310896"/>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Products → applications → accounts → repayments</a:t>
            </a:r>
            <a:endParaRPr lang="en-US" sz="1000" dirty="0"/>
          </a:p>
        </p:txBody>
      </p:sp>
      <p:sp>
        <p:nvSpPr>
          <p:cNvPr id="26" name="Shape 20"/>
          <p:cNvSpPr/>
          <p:nvPr/>
        </p:nvSpPr>
        <p:spPr>
          <a:xfrm>
            <a:off x="5117501" y="4581144"/>
            <a:ext cx="6434115" cy="804672"/>
          </a:xfrm>
          <a:prstGeom prst="roundRect">
            <a:avLst>
              <a:gd name="adj" fmla="val 90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7" name="Shape 21"/>
          <p:cNvSpPr/>
          <p:nvPr/>
        </p:nvSpPr>
        <p:spPr>
          <a:xfrm>
            <a:off x="5300381" y="4745736"/>
            <a:ext cx="457200" cy="457200"/>
          </a:xfrm>
          <a:prstGeom prst="ellipse">
            <a:avLst/>
          </a:prstGeom>
          <a:solidFill>
            <a:srgbClr val="1A2540"/>
          </a:solidFill>
          <a:ln w="22225">
            <a:solidFill>
              <a:srgbClr val="FB7185"/>
            </a:solidFill>
            <a:prstDash val="solid"/>
          </a:ln>
        </p:spPr>
      </p:sp>
      <p:pic>
        <p:nvPicPr>
          <p:cNvPr id="28" name="Image 4" descr="preencoded.png">    </p:cNvPr>
          <p:cNvPicPr>
            <a:picLocks noChangeAspect="1"/>
          </p:cNvPicPr>
          <p:nvPr/>
        </p:nvPicPr>
        <p:blipFill>
          <a:blip r:embed="rId5"/>
          <a:stretch>
            <a:fillRect/>
          </a:stretch>
        </p:blipFill>
        <p:spPr>
          <a:xfrm>
            <a:off x="5432969" y="4878324"/>
            <a:ext cx="192024" cy="192024"/>
          </a:xfrm>
          <a:prstGeom prst="rect">
            <a:avLst/>
          </a:prstGeom>
        </p:spPr>
      </p:pic>
      <p:sp>
        <p:nvSpPr>
          <p:cNvPr id="29" name="Text 22"/>
          <p:cNvSpPr/>
          <p:nvPr/>
        </p:nvSpPr>
        <p:spPr>
          <a:xfrm>
            <a:off x="5903885" y="4709160"/>
            <a:ext cx="5519715"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Personal Finance</a:t>
            </a:r>
            <a:endParaRPr lang="en-US" sz="1300" dirty="0"/>
          </a:p>
        </p:txBody>
      </p:sp>
      <p:sp>
        <p:nvSpPr>
          <p:cNvPr id="30" name="Text 23"/>
          <p:cNvSpPr/>
          <p:nvPr/>
        </p:nvSpPr>
        <p:spPr>
          <a:xfrm>
            <a:off x="5903885" y="5001768"/>
            <a:ext cx="5519715" cy="310896"/>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Budgets, bills &amp; reward points</a:t>
            </a:r>
            <a:endParaRPr lang="en-US" sz="1000" dirty="0"/>
          </a:p>
        </p:txBody>
      </p:sp>
      <p:sp>
        <p:nvSpPr>
          <p:cNvPr id="31" name="Shape 24"/>
          <p:cNvSpPr/>
          <p:nvPr/>
        </p:nvSpPr>
        <p:spPr>
          <a:xfrm>
            <a:off x="5117501" y="5513832"/>
            <a:ext cx="6434115" cy="804672"/>
          </a:xfrm>
          <a:prstGeom prst="roundRect">
            <a:avLst>
              <a:gd name="adj" fmla="val 90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2" name="Shape 25"/>
          <p:cNvSpPr/>
          <p:nvPr/>
        </p:nvSpPr>
        <p:spPr>
          <a:xfrm>
            <a:off x="5300381" y="5678424"/>
            <a:ext cx="457200" cy="457200"/>
          </a:xfrm>
          <a:prstGeom prst="ellipse">
            <a:avLst/>
          </a:prstGeom>
          <a:solidFill>
            <a:srgbClr val="1A2540"/>
          </a:solidFill>
          <a:ln w="22225">
            <a:solidFill>
              <a:srgbClr val="D4AF37"/>
            </a:solidFill>
            <a:prstDash val="solid"/>
          </a:ln>
        </p:spPr>
      </p:sp>
      <p:pic>
        <p:nvPicPr>
          <p:cNvPr id="33" name="Image 5" descr="preencoded.png">    </p:cNvPr>
          <p:cNvPicPr>
            <a:picLocks noChangeAspect="1"/>
          </p:cNvPicPr>
          <p:nvPr/>
        </p:nvPicPr>
        <p:blipFill>
          <a:blip r:embed="rId6"/>
          <a:stretch>
            <a:fillRect/>
          </a:stretch>
        </p:blipFill>
        <p:spPr>
          <a:xfrm>
            <a:off x="5432969" y="5811012"/>
            <a:ext cx="192024" cy="192024"/>
          </a:xfrm>
          <a:prstGeom prst="rect">
            <a:avLst/>
          </a:prstGeom>
        </p:spPr>
      </p:pic>
      <p:sp>
        <p:nvSpPr>
          <p:cNvPr id="34" name="Text 26"/>
          <p:cNvSpPr/>
          <p:nvPr/>
        </p:nvSpPr>
        <p:spPr>
          <a:xfrm>
            <a:off x="5903885" y="5641848"/>
            <a:ext cx="5519715"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Operations &amp; Audit</a:t>
            </a:r>
            <a:endParaRPr lang="en-US" sz="1300" dirty="0"/>
          </a:p>
        </p:txBody>
      </p:sp>
      <p:sp>
        <p:nvSpPr>
          <p:cNvPr id="35" name="Text 27"/>
          <p:cNvSpPr/>
          <p:nvPr/>
        </p:nvSpPr>
        <p:spPr>
          <a:xfrm>
            <a:off x="5903885" y="5934456"/>
            <a:ext cx="5519715" cy="310896"/>
          </a:xfrm>
          <a:prstGeom prst="rect">
            <a:avLst/>
          </a:prstGeom>
          <a:noFill/>
          <a:ln/>
        </p:spPr>
        <p:txBody>
          <a:bodyPr wrap="square" lIns="0" tIns="0" rIns="0" bIns="0" rtlCol="0" anchor="ctr"/>
          <a:lstStyle/>
          <a:p>
            <a:pPr indent="0" marL="0">
              <a:buNone/>
            </a:pPr>
            <a:r>
              <a:rPr lang="en-US" sz="1000" dirty="0">
                <a:solidFill>
                  <a:srgbClr val="7E8BA8"/>
                </a:solidFill>
                <a:latin typeface="Calibri" pitchFamily="34" charset="0"/>
                <a:ea typeface="Calibri" pitchFamily="34" charset="-122"/>
                <a:cs typeface="Calibri" pitchFamily="34" charset="-120"/>
              </a:rPr>
              <a:t>System-wide audit logging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ENGINE 01</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Core Banking &amp; Transactions</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5285232" cy="1993392"/>
          </a:xfrm>
          <a:prstGeom prst="roundRect">
            <a:avLst>
              <a:gd name="adj" fmla="val 458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950976" y="2112264"/>
            <a:ext cx="749808" cy="749808"/>
          </a:xfrm>
          <a:prstGeom prst="ellipse">
            <a:avLst/>
          </a:prstGeom>
          <a:solidFill>
            <a:srgbClr val="1A2540"/>
          </a:solidFill>
          <a:ln w="22225">
            <a:solidFill>
              <a:srgbClr val="38BDF8"/>
            </a:solidFill>
            <a:prstDash val="solid"/>
          </a:ln>
        </p:spPr>
      </p:sp>
      <p:pic>
        <p:nvPicPr>
          <p:cNvPr id="10" name="Image 0" descr="preencoded.png">    </p:cNvPr>
          <p:cNvPicPr>
            <a:picLocks noChangeAspect="1"/>
          </p:cNvPicPr>
          <p:nvPr/>
        </p:nvPicPr>
        <p:blipFill>
          <a:blip r:embed="rId1"/>
          <a:stretch>
            <a:fillRect/>
          </a:stretch>
        </p:blipFill>
        <p:spPr>
          <a:xfrm>
            <a:off x="1168420" y="2329708"/>
            <a:ext cx="314919" cy="314919"/>
          </a:xfrm>
          <a:prstGeom prst="rect">
            <a:avLst/>
          </a:prstGeom>
        </p:spPr>
      </p:pic>
      <p:sp>
        <p:nvSpPr>
          <p:cNvPr id="11" name="Text 8"/>
          <p:cNvSpPr/>
          <p:nvPr/>
        </p:nvSpPr>
        <p:spPr>
          <a:xfrm>
            <a:off x="1920240" y="2167128"/>
            <a:ext cx="3730752"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Account Lifecycle</a:t>
            </a:r>
            <a:endParaRPr lang="en-US" sz="1700" dirty="0"/>
          </a:p>
        </p:txBody>
      </p:sp>
      <p:sp>
        <p:nvSpPr>
          <p:cNvPr id="12" name="Text 9"/>
          <p:cNvSpPr/>
          <p:nvPr/>
        </p:nvSpPr>
        <p:spPr>
          <a:xfrm>
            <a:off x="969264" y="2971800"/>
            <a:ext cx="4626864" cy="713232"/>
          </a:xfrm>
          <a:prstGeom prst="rect">
            <a:avLst/>
          </a:prstGeom>
          <a:noFill/>
          <a:ln/>
        </p:spPr>
        <p:txBody>
          <a:bodyPr wrap="square" lIns="0" tIns="0" rIns="0" bIns="0" rtlCol="0" anchor="ctr"/>
          <a:lstStyle/>
          <a:p>
            <a:pPr indent="0" marL="0">
              <a:lnSpc>
                <a:spcPct val="108000"/>
              </a:lnSpc>
              <a:buNone/>
            </a:pPr>
            <a:r>
              <a:rPr lang="en-US" sz="1250" dirty="0">
                <a:solidFill>
                  <a:srgbClr val="C7D0E0"/>
                </a:solidFill>
                <a:latin typeface="Calibri" pitchFamily="34" charset="0"/>
                <a:ea typeface="Calibri" pitchFamily="34" charset="-122"/>
                <a:cs typeface="Calibri" pitchFamily="34" charset="-120"/>
              </a:rPr>
              <a:t>Each customer holds an account with type, status and live balance — their banking home base.</a:t>
            </a:r>
            <a:endParaRPr lang="en-US" sz="1250" dirty="0"/>
          </a:p>
        </p:txBody>
      </p:sp>
      <p:sp>
        <p:nvSpPr>
          <p:cNvPr id="13" name="Shape 10"/>
          <p:cNvSpPr/>
          <p:nvPr/>
        </p:nvSpPr>
        <p:spPr>
          <a:xfrm>
            <a:off x="6245352" y="1783080"/>
            <a:ext cx="5285232" cy="1993392"/>
          </a:xfrm>
          <a:prstGeom prst="roundRect">
            <a:avLst>
              <a:gd name="adj" fmla="val 458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4" name="Shape 11"/>
          <p:cNvSpPr/>
          <p:nvPr/>
        </p:nvSpPr>
        <p:spPr>
          <a:xfrm>
            <a:off x="6556248" y="2112264"/>
            <a:ext cx="749808" cy="749808"/>
          </a:xfrm>
          <a:prstGeom prst="ellipse">
            <a:avLst/>
          </a:prstGeom>
          <a:solidFill>
            <a:srgbClr val="1A2540"/>
          </a:solidFill>
          <a:ln w="22225">
            <a:solidFill>
              <a:srgbClr val="D4AF37"/>
            </a:solidFill>
            <a:prstDash val="solid"/>
          </a:ln>
        </p:spPr>
      </p:sp>
      <p:pic>
        <p:nvPicPr>
          <p:cNvPr id="15" name="Image 1" descr="preencoded.png">    </p:cNvPr>
          <p:cNvPicPr>
            <a:picLocks noChangeAspect="1"/>
          </p:cNvPicPr>
          <p:nvPr/>
        </p:nvPicPr>
        <p:blipFill>
          <a:blip r:embed="rId2"/>
          <a:stretch>
            <a:fillRect/>
          </a:stretch>
        </p:blipFill>
        <p:spPr>
          <a:xfrm>
            <a:off x="6773692" y="2329708"/>
            <a:ext cx="314919" cy="314919"/>
          </a:xfrm>
          <a:prstGeom prst="rect">
            <a:avLst/>
          </a:prstGeom>
        </p:spPr>
      </p:pic>
      <p:sp>
        <p:nvSpPr>
          <p:cNvPr id="16" name="Text 12"/>
          <p:cNvSpPr/>
          <p:nvPr/>
        </p:nvSpPr>
        <p:spPr>
          <a:xfrm>
            <a:off x="7525512" y="2167128"/>
            <a:ext cx="3730752"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Atomic Transfers</a:t>
            </a:r>
            <a:endParaRPr lang="en-US" sz="1700" dirty="0"/>
          </a:p>
        </p:txBody>
      </p:sp>
      <p:sp>
        <p:nvSpPr>
          <p:cNvPr id="17" name="Text 13"/>
          <p:cNvSpPr/>
          <p:nvPr/>
        </p:nvSpPr>
        <p:spPr>
          <a:xfrm>
            <a:off x="6574536" y="2971800"/>
            <a:ext cx="4626864" cy="713232"/>
          </a:xfrm>
          <a:prstGeom prst="rect">
            <a:avLst/>
          </a:prstGeom>
          <a:noFill/>
          <a:ln/>
        </p:spPr>
        <p:txBody>
          <a:bodyPr wrap="square" lIns="0" tIns="0" rIns="0" bIns="0" rtlCol="0" anchor="ctr"/>
          <a:lstStyle/>
          <a:p>
            <a:pPr indent="0" marL="0">
              <a:lnSpc>
                <a:spcPct val="108000"/>
              </a:lnSpc>
              <a:buNone/>
            </a:pPr>
            <a:r>
              <a:rPr lang="en-US" sz="1250" dirty="0">
                <a:solidFill>
                  <a:srgbClr val="C7D0E0"/>
                </a:solidFill>
                <a:latin typeface="Calibri" pitchFamily="34" charset="0"/>
                <a:ea typeface="Calibri" pitchFamily="34" charset="-122"/>
                <a:cs typeface="Calibri" pitchFamily="34" charset="-120"/>
              </a:rPr>
              <a:t>TransferService validates ownership &amp; balance, then moves debit and credit legs in one transaction.</a:t>
            </a:r>
            <a:endParaRPr lang="en-US" sz="1250" dirty="0"/>
          </a:p>
        </p:txBody>
      </p:sp>
      <p:sp>
        <p:nvSpPr>
          <p:cNvPr id="18" name="Shape 14"/>
          <p:cNvSpPr/>
          <p:nvPr/>
        </p:nvSpPr>
        <p:spPr>
          <a:xfrm>
            <a:off x="640080" y="4050792"/>
            <a:ext cx="5285232" cy="1993392"/>
          </a:xfrm>
          <a:prstGeom prst="roundRect">
            <a:avLst>
              <a:gd name="adj" fmla="val 458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9" name="Shape 15"/>
          <p:cNvSpPr/>
          <p:nvPr/>
        </p:nvSpPr>
        <p:spPr>
          <a:xfrm>
            <a:off x="950976" y="4379976"/>
            <a:ext cx="749808" cy="749808"/>
          </a:xfrm>
          <a:prstGeom prst="ellipse">
            <a:avLst/>
          </a:prstGeom>
          <a:solidFill>
            <a:srgbClr val="1A2540"/>
          </a:solidFill>
          <a:ln w="22225">
            <a:solidFill>
              <a:srgbClr val="2DD4BF"/>
            </a:solidFill>
            <a:prstDash val="solid"/>
          </a:ln>
        </p:spPr>
      </p:sp>
      <p:pic>
        <p:nvPicPr>
          <p:cNvPr id="20" name="Image 2" descr="preencoded.png">    </p:cNvPr>
          <p:cNvPicPr>
            <a:picLocks noChangeAspect="1"/>
          </p:cNvPicPr>
          <p:nvPr/>
        </p:nvPicPr>
        <p:blipFill>
          <a:blip r:embed="rId3"/>
          <a:stretch>
            <a:fillRect/>
          </a:stretch>
        </p:blipFill>
        <p:spPr>
          <a:xfrm>
            <a:off x="1168420" y="4597420"/>
            <a:ext cx="314919" cy="314919"/>
          </a:xfrm>
          <a:prstGeom prst="rect">
            <a:avLst/>
          </a:prstGeom>
        </p:spPr>
      </p:pic>
      <p:sp>
        <p:nvSpPr>
          <p:cNvPr id="21" name="Text 16"/>
          <p:cNvSpPr/>
          <p:nvPr/>
        </p:nvSpPr>
        <p:spPr>
          <a:xfrm>
            <a:off x="1920240" y="4434840"/>
            <a:ext cx="3730752"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Transaction Ledger</a:t>
            </a:r>
            <a:endParaRPr lang="en-US" sz="1700" dirty="0"/>
          </a:p>
        </p:txBody>
      </p:sp>
      <p:sp>
        <p:nvSpPr>
          <p:cNvPr id="22" name="Text 17"/>
          <p:cNvSpPr/>
          <p:nvPr/>
        </p:nvSpPr>
        <p:spPr>
          <a:xfrm>
            <a:off x="969264" y="5239512"/>
            <a:ext cx="4626864" cy="713232"/>
          </a:xfrm>
          <a:prstGeom prst="rect">
            <a:avLst/>
          </a:prstGeom>
          <a:noFill/>
          <a:ln/>
        </p:spPr>
        <p:txBody>
          <a:bodyPr wrap="square" lIns="0" tIns="0" rIns="0" bIns="0" rtlCol="0" anchor="ctr"/>
          <a:lstStyle/>
          <a:p>
            <a:pPr indent="0" marL="0">
              <a:lnSpc>
                <a:spcPct val="108000"/>
              </a:lnSpc>
              <a:buNone/>
            </a:pPr>
            <a:r>
              <a:rPr lang="en-US" sz="1250" dirty="0">
                <a:solidFill>
                  <a:srgbClr val="C7D0E0"/>
                </a:solidFill>
                <a:latin typeface="Calibri" pitchFamily="34" charset="0"/>
                <a:ea typeface="Calibri" pitchFamily="34" charset="-122"/>
                <a:cs typeface="Calibri" pitchFamily="34" charset="-120"/>
              </a:rPr>
              <a:t>Every movement recorded with type, amount, running balance and description for a complete history.</a:t>
            </a:r>
            <a:endParaRPr lang="en-US" sz="1250" dirty="0"/>
          </a:p>
        </p:txBody>
      </p:sp>
      <p:sp>
        <p:nvSpPr>
          <p:cNvPr id="23" name="Shape 18"/>
          <p:cNvSpPr/>
          <p:nvPr/>
        </p:nvSpPr>
        <p:spPr>
          <a:xfrm>
            <a:off x="6245352" y="4050792"/>
            <a:ext cx="5285232" cy="1993392"/>
          </a:xfrm>
          <a:prstGeom prst="roundRect">
            <a:avLst>
              <a:gd name="adj" fmla="val 458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4" name="Shape 19"/>
          <p:cNvSpPr/>
          <p:nvPr/>
        </p:nvSpPr>
        <p:spPr>
          <a:xfrm>
            <a:off x="6556248" y="4379976"/>
            <a:ext cx="749808" cy="749808"/>
          </a:xfrm>
          <a:prstGeom prst="ellipse">
            <a:avLst/>
          </a:prstGeom>
          <a:solidFill>
            <a:srgbClr val="1A2540"/>
          </a:solidFill>
          <a:ln w="22225">
            <a:solidFill>
              <a:srgbClr val="A78BFA"/>
            </a:solidFill>
            <a:prstDash val="solid"/>
          </a:ln>
        </p:spPr>
      </p:sp>
      <p:pic>
        <p:nvPicPr>
          <p:cNvPr id="25" name="Image 3" descr="preencoded.png">    </p:cNvPr>
          <p:cNvPicPr>
            <a:picLocks noChangeAspect="1"/>
          </p:cNvPicPr>
          <p:nvPr/>
        </p:nvPicPr>
        <p:blipFill>
          <a:blip r:embed="rId4"/>
          <a:stretch>
            <a:fillRect/>
          </a:stretch>
        </p:blipFill>
        <p:spPr>
          <a:xfrm>
            <a:off x="6773692" y="4597420"/>
            <a:ext cx="314919" cy="314919"/>
          </a:xfrm>
          <a:prstGeom prst="rect">
            <a:avLst/>
          </a:prstGeom>
        </p:spPr>
      </p:pic>
      <p:sp>
        <p:nvSpPr>
          <p:cNvPr id="26" name="Text 20"/>
          <p:cNvSpPr/>
          <p:nvPr/>
        </p:nvSpPr>
        <p:spPr>
          <a:xfrm>
            <a:off x="7525512" y="4434840"/>
            <a:ext cx="3730752"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Secure &amp; Audited</a:t>
            </a:r>
            <a:endParaRPr lang="en-US" sz="1700" dirty="0"/>
          </a:p>
        </p:txBody>
      </p:sp>
      <p:sp>
        <p:nvSpPr>
          <p:cNvPr id="27" name="Text 21"/>
          <p:cNvSpPr/>
          <p:nvPr/>
        </p:nvSpPr>
        <p:spPr>
          <a:xfrm>
            <a:off x="6574536" y="5239512"/>
            <a:ext cx="4626864" cy="713232"/>
          </a:xfrm>
          <a:prstGeom prst="rect">
            <a:avLst/>
          </a:prstGeom>
          <a:noFill/>
          <a:ln/>
        </p:spPr>
        <p:txBody>
          <a:bodyPr wrap="square" lIns="0" tIns="0" rIns="0" bIns="0" rtlCol="0" anchor="ctr"/>
          <a:lstStyle/>
          <a:p>
            <a:pPr indent="0" marL="0">
              <a:lnSpc>
                <a:spcPct val="108000"/>
              </a:lnSpc>
              <a:buNone/>
            </a:pPr>
            <a:r>
              <a:rPr lang="en-US" sz="1250" dirty="0">
                <a:solidFill>
                  <a:srgbClr val="C7D0E0"/>
                </a:solidFill>
                <a:latin typeface="Calibri" pitchFamily="34" charset="0"/>
                <a:ea typeface="Calibri" pitchFamily="34" charset="-122"/>
                <a:cs typeface="Calibri" pitchFamily="34" charset="-120"/>
              </a:rPr>
              <a:t>JWT-guarded endpoints; the AOP aspect records each controller call into the audit log.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ENGINE 02</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Budgeting &amp; Bill Management</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5486400"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877824" y="1993392"/>
            <a:ext cx="548640" cy="548640"/>
          </a:xfrm>
          <a:prstGeom prst="ellipse">
            <a:avLst/>
          </a:prstGeom>
          <a:solidFill>
            <a:srgbClr val="1A2540"/>
          </a:solidFill>
          <a:ln w="22225">
            <a:solidFill>
              <a:srgbClr val="2DD4BF"/>
            </a:solidFill>
            <a:prstDash val="solid"/>
          </a:ln>
        </p:spPr>
      </p:sp>
      <p:pic>
        <p:nvPicPr>
          <p:cNvPr id="10" name="Image 0" descr="preencoded.png">    </p:cNvPr>
          <p:cNvPicPr>
            <a:picLocks noChangeAspect="1"/>
          </p:cNvPicPr>
          <p:nvPr/>
        </p:nvPicPr>
        <p:blipFill>
          <a:blip r:embed="rId1"/>
          <a:stretch>
            <a:fillRect/>
          </a:stretch>
        </p:blipFill>
        <p:spPr>
          <a:xfrm>
            <a:off x="1036930" y="2152498"/>
            <a:ext cx="230429" cy="230429"/>
          </a:xfrm>
          <a:prstGeom prst="rect">
            <a:avLst/>
          </a:prstGeom>
        </p:spPr>
      </p:pic>
      <p:sp>
        <p:nvSpPr>
          <p:cNvPr id="11" name="Text 8"/>
          <p:cNvSpPr/>
          <p:nvPr/>
        </p:nvSpPr>
        <p:spPr>
          <a:xfrm>
            <a:off x="1554480" y="1911096"/>
            <a:ext cx="43891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Category Budgets</a:t>
            </a:r>
            <a:endParaRPr lang="en-US" sz="1450" dirty="0"/>
          </a:p>
        </p:txBody>
      </p:sp>
      <p:sp>
        <p:nvSpPr>
          <p:cNvPr id="12" name="Text 9"/>
          <p:cNvSpPr/>
          <p:nvPr/>
        </p:nvSpPr>
        <p:spPr>
          <a:xfrm>
            <a:off x="1554480" y="2221992"/>
            <a:ext cx="4389120"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Monthly limits per category give customers proactive control of their spending.</a:t>
            </a:r>
            <a:endParaRPr lang="en-US" sz="1100" dirty="0"/>
          </a:p>
        </p:txBody>
      </p:sp>
      <p:sp>
        <p:nvSpPr>
          <p:cNvPr id="13" name="Shape 10"/>
          <p:cNvSpPr/>
          <p:nvPr/>
        </p:nvSpPr>
        <p:spPr>
          <a:xfrm>
            <a:off x="640080" y="2862072"/>
            <a:ext cx="5486400"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4" name="Shape 11"/>
          <p:cNvSpPr/>
          <p:nvPr/>
        </p:nvSpPr>
        <p:spPr>
          <a:xfrm>
            <a:off x="877824" y="3072384"/>
            <a:ext cx="548640" cy="548640"/>
          </a:xfrm>
          <a:prstGeom prst="ellipse">
            <a:avLst/>
          </a:prstGeom>
          <a:solidFill>
            <a:srgbClr val="1A2540"/>
          </a:solidFill>
          <a:ln w="22225">
            <a:solidFill>
              <a:srgbClr val="D4AF37"/>
            </a:solidFill>
            <a:prstDash val="solid"/>
          </a:ln>
        </p:spPr>
      </p:sp>
      <p:pic>
        <p:nvPicPr>
          <p:cNvPr id="15" name="Image 1" descr="preencoded.png">    </p:cNvPr>
          <p:cNvPicPr>
            <a:picLocks noChangeAspect="1"/>
          </p:cNvPicPr>
          <p:nvPr/>
        </p:nvPicPr>
        <p:blipFill>
          <a:blip r:embed="rId2"/>
          <a:stretch>
            <a:fillRect/>
          </a:stretch>
        </p:blipFill>
        <p:spPr>
          <a:xfrm>
            <a:off x="1036930" y="3231490"/>
            <a:ext cx="230429" cy="230429"/>
          </a:xfrm>
          <a:prstGeom prst="rect">
            <a:avLst/>
          </a:prstGeom>
        </p:spPr>
      </p:pic>
      <p:sp>
        <p:nvSpPr>
          <p:cNvPr id="16" name="Text 12"/>
          <p:cNvSpPr/>
          <p:nvPr/>
        </p:nvSpPr>
        <p:spPr>
          <a:xfrm>
            <a:off x="1554480" y="2990088"/>
            <a:ext cx="43891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Bill Tracking</a:t>
            </a:r>
            <a:endParaRPr lang="en-US" sz="1450" dirty="0"/>
          </a:p>
        </p:txBody>
      </p:sp>
      <p:sp>
        <p:nvSpPr>
          <p:cNvPr id="17" name="Text 13"/>
          <p:cNvSpPr/>
          <p:nvPr/>
        </p:nvSpPr>
        <p:spPr>
          <a:xfrm>
            <a:off x="1554480" y="3300984"/>
            <a:ext cx="4389120"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Billers, due dates and amounts carry a clear paid / pending / overdue status.</a:t>
            </a:r>
            <a:endParaRPr lang="en-US" sz="1100" dirty="0"/>
          </a:p>
        </p:txBody>
      </p:sp>
      <p:sp>
        <p:nvSpPr>
          <p:cNvPr id="18" name="Shape 14"/>
          <p:cNvSpPr/>
          <p:nvPr/>
        </p:nvSpPr>
        <p:spPr>
          <a:xfrm>
            <a:off x="640080" y="3941064"/>
            <a:ext cx="5486400"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9" name="Shape 15"/>
          <p:cNvSpPr/>
          <p:nvPr/>
        </p:nvSpPr>
        <p:spPr>
          <a:xfrm>
            <a:off x="877824" y="4151376"/>
            <a:ext cx="548640" cy="548640"/>
          </a:xfrm>
          <a:prstGeom prst="ellipse">
            <a:avLst/>
          </a:prstGeom>
          <a:solidFill>
            <a:srgbClr val="1A2540"/>
          </a:solidFill>
          <a:ln w="22225">
            <a:solidFill>
              <a:srgbClr val="FB7185"/>
            </a:solidFill>
            <a:prstDash val="solid"/>
          </a:ln>
        </p:spPr>
      </p:sp>
      <p:pic>
        <p:nvPicPr>
          <p:cNvPr id="20" name="Image 2" descr="preencoded.png">    </p:cNvPr>
          <p:cNvPicPr>
            <a:picLocks noChangeAspect="1"/>
          </p:cNvPicPr>
          <p:nvPr/>
        </p:nvPicPr>
        <p:blipFill>
          <a:blip r:embed="rId3"/>
          <a:stretch>
            <a:fillRect/>
          </a:stretch>
        </p:blipFill>
        <p:spPr>
          <a:xfrm>
            <a:off x="1036930" y="4310482"/>
            <a:ext cx="230429" cy="230429"/>
          </a:xfrm>
          <a:prstGeom prst="rect">
            <a:avLst/>
          </a:prstGeom>
        </p:spPr>
      </p:pic>
      <p:sp>
        <p:nvSpPr>
          <p:cNvPr id="21" name="Text 16"/>
          <p:cNvSpPr/>
          <p:nvPr/>
        </p:nvSpPr>
        <p:spPr>
          <a:xfrm>
            <a:off x="1554480" y="4069080"/>
            <a:ext cx="43891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Overdue Detection</a:t>
            </a:r>
            <a:endParaRPr lang="en-US" sz="1450" dirty="0"/>
          </a:p>
        </p:txBody>
      </p:sp>
      <p:sp>
        <p:nvSpPr>
          <p:cNvPr id="22" name="Text 17"/>
          <p:cNvSpPr/>
          <p:nvPr/>
        </p:nvSpPr>
        <p:spPr>
          <a:xfrm>
            <a:off x="1554480" y="4379976"/>
            <a:ext cx="4389120"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Bills are evaluated against their due date, so overdue items surface automatically.</a:t>
            </a:r>
            <a:endParaRPr lang="en-US" sz="1100" dirty="0"/>
          </a:p>
        </p:txBody>
      </p:sp>
      <p:sp>
        <p:nvSpPr>
          <p:cNvPr id="23" name="Shape 18"/>
          <p:cNvSpPr/>
          <p:nvPr/>
        </p:nvSpPr>
        <p:spPr>
          <a:xfrm>
            <a:off x="640080" y="5020056"/>
            <a:ext cx="5486400"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4" name="Shape 19"/>
          <p:cNvSpPr/>
          <p:nvPr/>
        </p:nvSpPr>
        <p:spPr>
          <a:xfrm>
            <a:off x="877824" y="5230368"/>
            <a:ext cx="548640" cy="548640"/>
          </a:xfrm>
          <a:prstGeom prst="ellipse">
            <a:avLst/>
          </a:prstGeom>
          <a:solidFill>
            <a:srgbClr val="1A2540"/>
          </a:solidFill>
          <a:ln w="22225">
            <a:solidFill>
              <a:srgbClr val="A78BFA"/>
            </a:solidFill>
            <a:prstDash val="solid"/>
          </a:ln>
        </p:spPr>
      </p:sp>
      <p:pic>
        <p:nvPicPr>
          <p:cNvPr id="25" name="Image 3" descr="preencoded.png">    </p:cNvPr>
          <p:cNvPicPr>
            <a:picLocks noChangeAspect="1"/>
          </p:cNvPicPr>
          <p:nvPr/>
        </p:nvPicPr>
        <p:blipFill>
          <a:blip r:embed="rId4"/>
          <a:stretch>
            <a:fillRect/>
          </a:stretch>
        </p:blipFill>
        <p:spPr>
          <a:xfrm>
            <a:off x="1036930" y="5389474"/>
            <a:ext cx="230429" cy="230429"/>
          </a:xfrm>
          <a:prstGeom prst="rect">
            <a:avLst/>
          </a:prstGeom>
        </p:spPr>
      </p:pic>
      <p:sp>
        <p:nvSpPr>
          <p:cNvPr id="26" name="Text 20"/>
          <p:cNvSpPr/>
          <p:nvPr/>
        </p:nvSpPr>
        <p:spPr>
          <a:xfrm>
            <a:off x="1554480" y="5148072"/>
            <a:ext cx="43891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Spend Insights</a:t>
            </a:r>
            <a:endParaRPr lang="en-US" sz="1450" dirty="0"/>
          </a:p>
        </p:txBody>
      </p:sp>
      <p:sp>
        <p:nvSpPr>
          <p:cNvPr id="27" name="Text 21"/>
          <p:cNvSpPr/>
          <p:nvPr/>
        </p:nvSpPr>
        <p:spPr>
          <a:xfrm>
            <a:off x="1554480" y="5458968"/>
            <a:ext cx="4389120"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The insights engine aggregates outflow against budgets to show where money goes.</a:t>
            </a:r>
            <a:endParaRPr lang="en-US" sz="1100" dirty="0"/>
          </a:p>
        </p:txBody>
      </p:sp>
      <p:sp>
        <p:nvSpPr>
          <p:cNvPr id="28" name="Shape 22"/>
          <p:cNvSpPr/>
          <p:nvPr/>
        </p:nvSpPr>
        <p:spPr>
          <a:xfrm>
            <a:off x="6492240" y="1783080"/>
            <a:ext cx="5029200" cy="4334256"/>
          </a:xfrm>
          <a:prstGeom prst="roundRect">
            <a:avLst>
              <a:gd name="adj" fmla="val 2110"/>
            </a:avLst>
          </a:prstGeom>
          <a:solidFill>
            <a:srgbClr val="141C30"/>
          </a:solidFill>
          <a:ln w="12700">
            <a:solidFill>
              <a:srgbClr val="32436B"/>
            </a:solidFill>
            <a:prstDash val="solid"/>
          </a:ln>
          <a:effectLst>
            <a:outerShdw sx="100000" sy="100000" kx="0" ky="0" algn="bl" rotWithShape="0" blurRad="152400" dist="50800" dir="5400000">
              <a:srgbClr val="000000">
                <a:alpha val="45000"/>
              </a:srgbClr>
            </a:outerShdw>
          </a:effectLst>
        </p:spPr>
      </p:sp>
      <p:sp>
        <p:nvSpPr>
          <p:cNvPr id="29" name="Text 23"/>
          <p:cNvSpPr/>
          <p:nvPr/>
        </p:nvSpPr>
        <p:spPr>
          <a:xfrm>
            <a:off x="6858000" y="2039112"/>
            <a:ext cx="4297680" cy="365760"/>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BILL STATUS DISTRIBUTION</a:t>
            </a:r>
            <a:endParaRPr lang="en-US" sz="1300" dirty="0"/>
          </a:p>
        </p:txBody>
      </p:sp>
      <p:sp>
        <p:nvSpPr>
          <p:cNvPr id="30" name="Text 24"/>
          <p:cNvSpPr/>
          <p:nvPr/>
        </p:nvSpPr>
        <p:spPr>
          <a:xfrm>
            <a:off x="6858000" y="2386584"/>
            <a:ext cx="4297680" cy="274320"/>
          </a:xfrm>
          <a:prstGeom prst="rect">
            <a:avLst/>
          </a:prstGeom>
          <a:noFill/>
          <a:ln/>
        </p:spPr>
        <p:txBody>
          <a:bodyPr wrap="square" lIns="0" tIns="0" rIns="0" bIns="0" rtlCol="0" anchor="ctr"/>
          <a:lstStyle/>
          <a:p>
            <a:pPr indent="0" marL="0">
              <a:buNone/>
            </a:pPr>
            <a:r>
              <a:rPr lang="en-US" sz="1050" i="1" dirty="0">
                <a:solidFill>
                  <a:srgbClr val="7E8BA8"/>
                </a:solidFill>
                <a:latin typeface="Calibri" pitchFamily="34" charset="0"/>
                <a:ea typeface="Calibri" pitchFamily="34" charset="-122"/>
                <a:cs typeface="Calibri" pitchFamily="34" charset="-120"/>
              </a:rPr>
              <a:t>Illustrative cycle snapshot</a:t>
            </a:r>
            <a:endParaRPr lang="en-US" sz="1050" dirty="0"/>
          </a:p>
        </p:txBody>
      </p:sp>
      <p:graphicFrame>
        <p:nvGraphicFramePr>
          <p:cNvPr id="31" name="Chart 0" descr=""/>
          <p:cNvGraphicFramePr/>
          <p:nvPr/>
        </p:nvGraphicFramePr>
        <p:xfrm>
          <a:off x="6812280" y="2697480"/>
          <a:ext cx="4389120" cy="3145536"/>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ENGINE 03</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Loan &amp; EMI Engine</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4754880" cy="4480560"/>
          </a:xfrm>
          <a:prstGeom prst="roundRect">
            <a:avLst>
              <a:gd name="adj" fmla="val 2041"/>
            </a:avLst>
          </a:prstGeom>
          <a:solidFill>
            <a:srgbClr val="1A2540"/>
          </a:solidFill>
          <a:ln w="15875">
            <a:solidFill>
              <a:srgbClr val="8A6D1F"/>
            </a:solidFill>
            <a:prstDash val="solid"/>
          </a:ln>
          <a:effectLst>
            <a:outerShdw sx="100000" sy="100000" kx="0" ky="0" algn="bl" rotWithShape="0" blurRad="152400" dist="50800" dir="5400000">
              <a:srgbClr val="000000">
                <a:alpha val="45000"/>
              </a:srgbClr>
            </a:outerShdw>
          </a:effectLst>
        </p:spPr>
      </p:sp>
      <p:sp>
        <p:nvSpPr>
          <p:cNvPr id="9" name="Shape 7"/>
          <p:cNvSpPr/>
          <p:nvPr/>
        </p:nvSpPr>
        <p:spPr>
          <a:xfrm>
            <a:off x="950976" y="2093976"/>
            <a:ext cx="621792" cy="621792"/>
          </a:xfrm>
          <a:prstGeom prst="ellipse">
            <a:avLst/>
          </a:prstGeom>
          <a:solidFill>
            <a:srgbClr val="D4AF37"/>
          </a:solidFill>
          <a:ln w="9525">
            <a:solidFill>
              <a:srgbClr val="F0CE6B"/>
            </a:solidFill>
            <a:prstDash val="solid"/>
          </a:ln>
          <a:effectLst>
            <a:outerShdw sx="100000" sy="100000" kx="0" ky="0" algn="bl" rotWithShape="0" blurRad="228600" dist="50800" dir="16200000">
              <a:srgbClr val="D4AF37">
                <a:alpha val="50000"/>
              </a:srgbClr>
            </a:outerShdw>
          </a:effectLst>
        </p:spPr>
      </p:sp>
      <p:pic>
        <p:nvPicPr>
          <p:cNvPr id="10" name="Image 0" descr="preencoded.png">    </p:cNvPr>
          <p:cNvPicPr>
            <a:picLocks noChangeAspect="1"/>
          </p:cNvPicPr>
          <p:nvPr/>
        </p:nvPicPr>
        <p:blipFill>
          <a:blip r:embed="rId1"/>
          <a:stretch>
            <a:fillRect/>
          </a:stretch>
        </p:blipFill>
        <p:spPr>
          <a:xfrm>
            <a:off x="1118860" y="2261860"/>
            <a:ext cx="286024" cy="286024"/>
          </a:xfrm>
          <a:prstGeom prst="rect">
            <a:avLst/>
          </a:prstGeom>
        </p:spPr>
      </p:pic>
      <p:sp>
        <p:nvSpPr>
          <p:cNvPr id="11" name="Text 8"/>
          <p:cNvSpPr/>
          <p:nvPr/>
        </p:nvSpPr>
        <p:spPr>
          <a:xfrm>
            <a:off x="1700784" y="2093976"/>
            <a:ext cx="3474720" cy="621792"/>
          </a:xfrm>
          <a:prstGeom prst="rect">
            <a:avLst/>
          </a:prstGeom>
          <a:noFill/>
          <a:ln/>
        </p:spPr>
        <p:txBody>
          <a:bodyPr wrap="square" lIns="0" tIns="0" rIns="0" bIns="0" rtlCol="0" anchor="ctr"/>
          <a:lstStyle/>
          <a:p>
            <a:pPr indent="0" marL="0">
              <a:buNone/>
            </a:pPr>
            <a:r>
              <a:rPr lang="en-US" sz="1500" b="1" spc="150" kern="0" dirty="0">
                <a:solidFill>
                  <a:srgbClr val="D4AF37"/>
                </a:solidFill>
                <a:latin typeface="Calibri" pitchFamily="34" charset="0"/>
                <a:ea typeface="Calibri" pitchFamily="34" charset="-122"/>
                <a:cs typeface="Calibri" pitchFamily="34" charset="-120"/>
              </a:rPr>
              <a:t>EMI FORMULA</a:t>
            </a:r>
            <a:endParaRPr lang="en-US" sz="1500" dirty="0"/>
          </a:p>
        </p:txBody>
      </p:sp>
      <p:sp>
        <p:nvSpPr>
          <p:cNvPr id="12" name="Shape 9"/>
          <p:cNvSpPr/>
          <p:nvPr/>
        </p:nvSpPr>
        <p:spPr>
          <a:xfrm>
            <a:off x="950976" y="2971800"/>
            <a:ext cx="4133088" cy="1051560"/>
          </a:xfrm>
          <a:prstGeom prst="roundRect">
            <a:avLst>
              <a:gd name="adj" fmla="val 6957"/>
            </a:avLst>
          </a:prstGeom>
          <a:solidFill>
            <a:srgbClr val="0A0E1A"/>
          </a:solidFill>
          <a:ln w="12700">
            <a:solidFill>
              <a:srgbClr val="32436B"/>
            </a:solidFill>
            <a:prstDash val="solid"/>
          </a:ln>
        </p:spPr>
      </p:sp>
      <p:sp>
        <p:nvSpPr>
          <p:cNvPr id="13" name="Text 10"/>
          <p:cNvSpPr/>
          <p:nvPr/>
        </p:nvSpPr>
        <p:spPr>
          <a:xfrm>
            <a:off x="950976" y="2971800"/>
            <a:ext cx="4133088" cy="105156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E = </a:t>
            </a:r>
            <a:pPr algn="ctr" indent="0" marL="0">
              <a:buNone/>
            </a:pPr>
            <a:r>
              <a:rPr lang="en-US" sz="1800" b="1" dirty="0">
                <a:solidFill>
                  <a:srgbClr val="D4AF37"/>
                </a:solidFill>
                <a:latin typeface="Courier New" pitchFamily="34" charset="0"/>
                <a:ea typeface="Courier New" pitchFamily="34" charset="-122"/>
                <a:cs typeface="Courier New" pitchFamily="34" charset="-120"/>
              </a:rPr>
              <a:t>P · r · (1+r)</a:t>
            </a:r>
            <a:pPr algn="ctr" indent="0" marL="0">
              <a:buNone/>
            </a:pPr>
            <a:r>
              <a:rPr lang="en-US" sz="1300" b="1" dirty="0">
                <a:solidFill>
                  <a:srgbClr val="D4AF37"/>
                </a:solidFill>
                <a:latin typeface="Courier New" pitchFamily="34" charset="0"/>
                <a:ea typeface="Courier New" pitchFamily="34" charset="-122"/>
                <a:cs typeface="Courier New" pitchFamily="34" charset="-120"/>
              </a:rPr>
              <a:t>ⁿ</a:t>
            </a:r>
            <a:pPr algn="ctr" indent="0" marL="0">
              <a:buNone/>
            </a:pPr>
            <a:r>
              <a:rPr lang="en-US" sz="1800" b="1" dirty="0">
                <a:solidFill>
                  <a:srgbClr val="2DD4BF"/>
                </a:solidFill>
                <a:latin typeface="Courier New" pitchFamily="34" charset="0"/>
                <a:ea typeface="Courier New" pitchFamily="34" charset="-122"/>
                <a:cs typeface="Courier New" pitchFamily="34" charset="-120"/>
              </a:rPr>
              <a:t>  /  (1+r)</a:t>
            </a:r>
            <a:pPr algn="ctr" indent="0" marL="0">
              <a:buNone/>
            </a:pPr>
            <a:r>
              <a:rPr lang="en-US" sz="1300" b="1" dirty="0">
                <a:solidFill>
                  <a:srgbClr val="2DD4BF"/>
                </a:solidFill>
                <a:latin typeface="Courier New" pitchFamily="34" charset="0"/>
                <a:ea typeface="Courier New" pitchFamily="34" charset="-122"/>
                <a:cs typeface="Courier New" pitchFamily="34" charset="-120"/>
              </a:rPr>
              <a:t>ⁿ</a:t>
            </a:r>
            <a:pPr algn="ctr" indent="0" marL="0">
              <a:buNone/>
            </a:pPr>
            <a:r>
              <a:rPr lang="en-US" sz="1800" b="1" dirty="0">
                <a:solidFill>
                  <a:srgbClr val="2DD4BF"/>
                </a:solidFill>
                <a:latin typeface="Courier New" pitchFamily="34" charset="0"/>
                <a:ea typeface="Courier New" pitchFamily="34" charset="-122"/>
                <a:cs typeface="Courier New" pitchFamily="34" charset="-120"/>
              </a:rPr>
              <a:t> − 1</a:t>
            </a:r>
            <a:endParaRPr lang="en-US" sz="1800" dirty="0"/>
          </a:p>
        </p:txBody>
      </p:sp>
      <p:sp>
        <p:nvSpPr>
          <p:cNvPr id="14" name="Shape 11"/>
          <p:cNvSpPr/>
          <p:nvPr/>
        </p:nvSpPr>
        <p:spPr>
          <a:xfrm>
            <a:off x="1005840" y="4288536"/>
            <a:ext cx="384048" cy="384048"/>
          </a:xfrm>
          <a:prstGeom prst="ellipse">
            <a:avLst/>
          </a:prstGeom>
          <a:solidFill>
            <a:srgbClr val="D4AF37"/>
          </a:solidFill>
          <a:ln/>
        </p:spPr>
      </p:sp>
      <p:sp>
        <p:nvSpPr>
          <p:cNvPr id="15" name="Text 12"/>
          <p:cNvSpPr/>
          <p:nvPr/>
        </p:nvSpPr>
        <p:spPr>
          <a:xfrm>
            <a:off x="1005840" y="4288536"/>
            <a:ext cx="384048" cy="384048"/>
          </a:xfrm>
          <a:prstGeom prst="rect">
            <a:avLst/>
          </a:prstGeom>
          <a:noFill/>
          <a:ln/>
        </p:spPr>
        <p:txBody>
          <a:bodyPr wrap="square" lIns="0" tIns="0" rIns="0" bIns="0" rtlCol="0" anchor="ctr"/>
          <a:lstStyle/>
          <a:p>
            <a:pPr algn="ctr" indent="0" marL="0">
              <a:buNone/>
            </a:pPr>
            <a:r>
              <a:rPr lang="en-US" sz="1500" b="1" dirty="0">
                <a:solidFill>
                  <a:srgbClr val="0A0E1A"/>
                </a:solidFill>
                <a:latin typeface="Courier New" pitchFamily="34" charset="0"/>
                <a:ea typeface="Courier New" pitchFamily="34" charset="-122"/>
                <a:cs typeface="Courier New" pitchFamily="34" charset="-120"/>
              </a:rPr>
              <a:t>P</a:t>
            </a:r>
            <a:endParaRPr lang="en-US" sz="1500" dirty="0"/>
          </a:p>
        </p:txBody>
      </p:sp>
      <p:sp>
        <p:nvSpPr>
          <p:cNvPr id="16" name="Text 13"/>
          <p:cNvSpPr/>
          <p:nvPr/>
        </p:nvSpPr>
        <p:spPr>
          <a:xfrm>
            <a:off x="1554480" y="4288536"/>
            <a:ext cx="3566160" cy="384048"/>
          </a:xfrm>
          <a:prstGeom prst="rect">
            <a:avLst/>
          </a:prstGeom>
          <a:noFill/>
          <a:ln/>
        </p:spPr>
        <p:txBody>
          <a:bodyPr wrap="square" lIns="0" tIns="0" rIns="0" bIns="0" rtlCol="0" anchor="ctr"/>
          <a:lstStyle/>
          <a:p>
            <a:pPr indent="0" marL="0">
              <a:buNone/>
            </a:pPr>
            <a:r>
              <a:rPr lang="en-US" sz="1200" dirty="0">
                <a:solidFill>
                  <a:srgbClr val="C7D0E0"/>
                </a:solidFill>
                <a:latin typeface="Calibri" pitchFamily="34" charset="0"/>
                <a:ea typeface="Calibri" pitchFamily="34" charset="-122"/>
                <a:cs typeface="Calibri" pitchFamily="34" charset="-120"/>
              </a:rPr>
              <a:t>Principal amount</a:t>
            </a:r>
            <a:endParaRPr lang="en-US" sz="1200" dirty="0"/>
          </a:p>
        </p:txBody>
      </p:sp>
      <p:sp>
        <p:nvSpPr>
          <p:cNvPr id="17" name="Shape 14"/>
          <p:cNvSpPr/>
          <p:nvPr/>
        </p:nvSpPr>
        <p:spPr>
          <a:xfrm>
            <a:off x="1005840" y="4837176"/>
            <a:ext cx="384048" cy="384048"/>
          </a:xfrm>
          <a:prstGeom prst="ellipse">
            <a:avLst/>
          </a:prstGeom>
          <a:solidFill>
            <a:srgbClr val="D4AF37"/>
          </a:solidFill>
          <a:ln/>
        </p:spPr>
      </p:sp>
      <p:sp>
        <p:nvSpPr>
          <p:cNvPr id="18" name="Text 15"/>
          <p:cNvSpPr/>
          <p:nvPr/>
        </p:nvSpPr>
        <p:spPr>
          <a:xfrm>
            <a:off x="1005840" y="4837176"/>
            <a:ext cx="384048" cy="384048"/>
          </a:xfrm>
          <a:prstGeom prst="rect">
            <a:avLst/>
          </a:prstGeom>
          <a:noFill/>
          <a:ln/>
        </p:spPr>
        <p:txBody>
          <a:bodyPr wrap="square" lIns="0" tIns="0" rIns="0" bIns="0" rtlCol="0" anchor="ctr"/>
          <a:lstStyle/>
          <a:p>
            <a:pPr algn="ctr" indent="0" marL="0">
              <a:buNone/>
            </a:pPr>
            <a:r>
              <a:rPr lang="en-US" sz="1500" b="1" dirty="0">
                <a:solidFill>
                  <a:srgbClr val="0A0E1A"/>
                </a:solidFill>
                <a:latin typeface="Courier New" pitchFamily="34" charset="0"/>
                <a:ea typeface="Courier New" pitchFamily="34" charset="-122"/>
                <a:cs typeface="Courier New" pitchFamily="34" charset="-120"/>
              </a:rPr>
              <a:t>r</a:t>
            </a:r>
            <a:endParaRPr lang="en-US" sz="1500" dirty="0"/>
          </a:p>
        </p:txBody>
      </p:sp>
      <p:sp>
        <p:nvSpPr>
          <p:cNvPr id="19" name="Text 16"/>
          <p:cNvSpPr/>
          <p:nvPr/>
        </p:nvSpPr>
        <p:spPr>
          <a:xfrm>
            <a:off x="1554480" y="4837176"/>
            <a:ext cx="3566160" cy="384048"/>
          </a:xfrm>
          <a:prstGeom prst="rect">
            <a:avLst/>
          </a:prstGeom>
          <a:noFill/>
          <a:ln/>
        </p:spPr>
        <p:txBody>
          <a:bodyPr wrap="square" lIns="0" tIns="0" rIns="0" bIns="0" rtlCol="0" anchor="ctr"/>
          <a:lstStyle/>
          <a:p>
            <a:pPr indent="0" marL="0">
              <a:buNone/>
            </a:pPr>
            <a:r>
              <a:rPr lang="en-US" sz="1200" dirty="0">
                <a:solidFill>
                  <a:srgbClr val="C7D0E0"/>
                </a:solidFill>
                <a:latin typeface="Calibri" pitchFamily="34" charset="0"/>
                <a:ea typeface="Calibri" pitchFamily="34" charset="-122"/>
                <a:cs typeface="Calibri" pitchFamily="34" charset="-120"/>
              </a:rPr>
              <a:t>Monthly rate = annual ÷ 12 ÷ 100</a:t>
            </a:r>
            <a:endParaRPr lang="en-US" sz="1200" dirty="0"/>
          </a:p>
        </p:txBody>
      </p:sp>
      <p:sp>
        <p:nvSpPr>
          <p:cNvPr id="20" name="Shape 17"/>
          <p:cNvSpPr/>
          <p:nvPr/>
        </p:nvSpPr>
        <p:spPr>
          <a:xfrm>
            <a:off x="1005840" y="5385816"/>
            <a:ext cx="384048" cy="384048"/>
          </a:xfrm>
          <a:prstGeom prst="ellipse">
            <a:avLst/>
          </a:prstGeom>
          <a:solidFill>
            <a:srgbClr val="D4AF37"/>
          </a:solidFill>
          <a:ln/>
        </p:spPr>
      </p:sp>
      <p:sp>
        <p:nvSpPr>
          <p:cNvPr id="21" name="Text 18"/>
          <p:cNvSpPr/>
          <p:nvPr/>
        </p:nvSpPr>
        <p:spPr>
          <a:xfrm>
            <a:off x="1005840" y="5385816"/>
            <a:ext cx="384048" cy="384048"/>
          </a:xfrm>
          <a:prstGeom prst="rect">
            <a:avLst/>
          </a:prstGeom>
          <a:noFill/>
          <a:ln/>
        </p:spPr>
        <p:txBody>
          <a:bodyPr wrap="square" lIns="0" tIns="0" rIns="0" bIns="0" rtlCol="0" anchor="ctr"/>
          <a:lstStyle/>
          <a:p>
            <a:pPr algn="ctr" indent="0" marL="0">
              <a:buNone/>
            </a:pPr>
            <a:r>
              <a:rPr lang="en-US" sz="1500" b="1" dirty="0">
                <a:solidFill>
                  <a:srgbClr val="0A0E1A"/>
                </a:solidFill>
                <a:latin typeface="Courier New" pitchFamily="34" charset="0"/>
                <a:ea typeface="Courier New" pitchFamily="34" charset="-122"/>
                <a:cs typeface="Courier New" pitchFamily="34" charset="-120"/>
              </a:rPr>
              <a:t>n</a:t>
            </a:r>
            <a:endParaRPr lang="en-US" sz="1500" dirty="0"/>
          </a:p>
        </p:txBody>
      </p:sp>
      <p:sp>
        <p:nvSpPr>
          <p:cNvPr id="22" name="Text 19"/>
          <p:cNvSpPr/>
          <p:nvPr/>
        </p:nvSpPr>
        <p:spPr>
          <a:xfrm>
            <a:off x="1554480" y="5385816"/>
            <a:ext cx="3566160" cy="384048"/>
          </a:xfrm>
          <a:prstGeom prst="rect">
            <a:avLst/>
          </a:prstGeom>
          <a:noFill/>
          <a:ln/>
        </p:spPr>
        <p:txBody>
          <a:bodyPr wrap="square" lIns="0" tIns="0" rIns="0" bIns="0" rtlCol="0" anchor="ctr"/>
          <a:lstStyle/>
          <a:p>
            <a:pPr indent="0" marL="0">
              <a:buNone/>
            </a:pPr>
            <a:r>
              <a:rPr lang="en-US" sz="1200" dirty="0">
                <a:solidFill>
                  <a:srgbClr val="C7D0E0"/>
                </a:solidFill>
                <a:latin typeface="Calibri" pitchFamily="34" charset="0"/>
                <a:ea typeface="Calibri" pitchFamily="34" charset="-122"/>
                <a:cs typeface="Calibri" pitchFamily="34" charset="-120"/>
              </a:rPr>
              <a:t>Tenure in months (per product)</a:t>
            </a:r>
            <a:endParaRPr lang="en-US" sz="1200" dirty="0"/>
          </a:p>
        </p:txBody>
      </p:sp>
      <p:sp>
        <p:nvSpPr>
          <p:cNvPr id="23" name="Text 20"/>
          <p:cNvSpPr/>
          <p:nvPr/>
        </p:nvSpPr>
        <p:spPr>
          <a:xfrm>
            <a:off x="950976" y="5788152"/>
            <a:ext cx="4133088" cy="365760"/>
          </a:xfrm>
          <a:prstGeom prst="rect">
            <a:avLst/>
          </a:prstGeom>
          <a:noFill/>
          <a:ln/>
        </p:spPr>
        <p:txBody>
          <a:bodyPr wrap="square" lIns="0" tIns="0" rIns="0" bIns="0" rtlCol="0" anchor="ctr"/>
          <a:lstStyle/>
          <a:p>
            <a:pPr indent="0" marL="0">
              <a:buNone/>
            </a:pPr>
            <a:r>
              <a:rPr lang="en-US" sz="950" i="1" dirty="0">
                <a:solidFill>
                  <a:srgbClr val="7E8BA8"/>
                </a:solidFill>
                <a:latin typeface="Calibri" pitchFamily="34" charset="0"/>
                <a:ea typeface="Calibri" pitchFamily="34" charset="-122"/>
                <a:cs typeface="Calibri" pitchFamily="34" charset="-120"/>
              </a:rPr>
              <a:t>Reducing-balance · per-instalment split · HALF_UP rounding</a:t>
            </a:r>
            <a:endParaRPr lang="en-US" sz="950" dirty="0"/>
          </a:p>
        </p:txBody>
      </p:sp>
      <p:sp>
        <p:nvSpPr>
          <p:cNvPr id="24" name="Shape 21"/>
          <p:cNvSpPr/>
          <p:nvPr/>
        </p:nvSpPr>
        <p:spPr>
          <a:xfrm>
            <a:off x="5669280" y="1783080"/>
            <a:ext cx="587959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5" name="Shape 22"/>
          <p:cNvSpPr/>
          <p:nvPr/>
        </p:nvSpPr>
        <p:spPr>
          <a:xfrm>
            <a:off x="5888736" y="1993392"/>
            <a:ext cx="548640" cy="548640"/>
          </a:xfrm>
          <a:prstGeom prst="ellipse">
            <a:avLst/>
          </a:prstGeom>
          <a:solidFill>
            <a:srgbClr val="1A2540"/>
          </a:solidFill>
          <a:ln w="22225">
            <a:solidFill>
              <a:srgbClr val="38BDF8"/>
            </a:solidFill>
            <a:prstDash val="solid"/>
          </a:ln>
        </p:spPr>
      </p:sp>
      <p:pic>
        <p:nvPicPr>
          <p:cNvPr id="26" name="Image 1" descr="preencoded.png">    </p:cNvPr>
          <p:cNvPicPr>
            <a:picLocks noChangeAspect="1"/>
          </p:cNvPicPr>
          <p:nvPr/>
        </p:nvPicPr>
        <p:blipFill>
          <a:blip r:embed="rId2"/>
          <a:stretch>
            <a:fillRect/>
          </a:stretch>
        </p:blipFill>
        <p:spPr>
          <a:xfrm>
            <a:off x="6047842" y="2152498"/>
            <a:ext cx="230429" cy="230429"/>
          </a:xfrm>
          <a:prstGeom prst="rect">
            <a:avLst/>
          </a:prstGeom>
        </p:spPr>
      </p:pic>
      <p:sp>
        <p:nvSpPr>
          <p:cNvPr id="27" name="Text 23"/>
          <p:cNvSpPr/>
          <p:nvPr/>
        </p:nvSpPr>
        <p:spPr>
          <a:xfrm>
            <a:off x="10268712" y="1929384"/>
            <a:ext cx="1097280" cy="274320"/>
          </a:xfrm>
          <a:prstGeom prst="rect">
            <a:avLst/>
          </a:prstGeom>
          <a:noFill/>
          <a:ln/>
        </p:spPr>
        <p:txBody>
          <a:bodyPr wrap="square" lIns="0" tIns="0" rIns="0" bIns="0" rtlCol="0" anchor="ctr"/>
          <a:lstStyle/>
          <a:p>
            <a:pPr algn="r" indent="0" marL="0">
              <a:buNone/>
            </a:pPr>
            <a:r>
              <a:rPr lang="en-US" sz="1000" b="1" spc="100" kern="0" dirty="0">
                <a:solidFill>
                  <a:srgbClr val="38BDF8"/>
                </a:solidFill>
                <a:latin typeface="Calibri" pitchFamily="34" charset="0"/>
                <a:ea typeface="Calibri" pitchFamily="34" charset="-122"/>
                <a:cs typeface="Calibri" pitchFamily="34" charset="-120"/>
              </a:rPr>
              <a:t>STEP 1</a:t>
            </a:r>
            <a:endParaRPr lang="en-US" sz="1000" dirty="0"/>
          </a:p>
        </p:txBody>
      </p:sp>
      <p:sp>
        <p:nvSpPr>
          <p:cNvPr id="28" name="Text 24"/>
          <p:cNvSpPr/>
          <p:nvPr/>
        </p:nvSpPr>
        <p:spPr>
          <a:xfrm>
            <a:off x="6583680" y="1911096"/>
            <a:ext cx="377647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Loan Products</a:t>
            </a:r>
            <a:endParaRPr lang="en-US" sz="1400" dirty="0"/>
          </a:p>
        </p:txBody>
      </p:sp>
      <p:sp>
        <p:nvSpPr>
          <p:cNvPr id="29" name="Text 25"/>
          <p:cNvSpPr/>
          <p:nvPr/>
        </p:nvSpPr>
        <p:spPr>
          <a:xfrm>
            <a:off x="6583680" y="2221992"/>
            <a:ext cx="4736592"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Admin-defined products with min/max amount, annual rate and allowed tenures.</a:t>
            </a:r>
            <a:endParaRPr lang="en-US" sz="1100" dirty="0"/>
          </a:p>
        </p:txBody>
      </p:sp>
      <p:sp>
        <p:nvSpPr>
          <p:cNvPr id="30" name="Shape 26"/>
          <p:cNvSpPr/>
          <p:nvPr/>
        </p:nvSpPr>
        <p:spPr>
          <a:xfrm>
            <a:off x="5669280" y="2862072"/>
            <a:ext cx="587959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1" name="Shape 27"/>
          <p:cNvSpPr/>
          <p:nvPr/>
        </p:nvSpPr>
        <p:spPr>
          <a:xfrm>
            <a:off x="5888736" y="3072384"/>
            <a:ext cx="548640" cy="548640"/>
          </a:xfrm>
          <a:prstGeom prst="ellipse">
            <a:avLst/>
          </a:prstGeom>
          <a:solidFill>
            <a:srgbClr val="1A2540"/>
          </a:solidFill>
          <a:ln w="22225">
            <a:solidFill>
              <a:srgbClr val="2DD4BF"/>
            </a:solidFill>
            <a:prstDash val="solid"/>
          </a:ln>
        </p:spPr>
      </p:sp>
      <p:pic>
        <p:nvPicPr>
          <p:cNvPr id="32" name="Image 2" descr="preencoded.png">    </p:cNvPr>
          <p:cNvPicPr>
            <a:picLocks noChangeAspect="1"/>
          </p:cNvPicPr>
          <p:nvPr/>
        </p:nvPicPr>
        <p:blipFill>
          <a:blip r:embed="rId3"/>
          <a:stretch>
            <a:fillRect/>
          </a:stretch>
        </p:blipFill>
        <p:spPr>
          <a:xfrm>
            <a:off x="6047842" y="3231490"/>
            <a:ext cx="230429" cy="230429"/>
          </a:xfrm>
          <a:prstGeom prst="rect">
            <a:avLst/>
          </a:prstGeom>
        </p:spPr>
      </p:pic>
      <p:sp>
        <p:nvSpPr>
          <p:cNvPr id="33" name="Text 28"/>
          <p:cNvSpPr/>
          <p:nvPr/>
        </p:nvSpPr>
        <p:spPr>
          <a:xfrm>
            <a:off x="10268712" y="3008376"/>
            <a:ext cx="1097280" cy="274320"/>
          </a:xfrm>
          <a:prstGeom prst="rect">
            <a:avLst/>
          </a:prstGeom>
          <a:noFill/>
          <a:ln/>
        </p:spPr>
        <p:txBody>
          <a:bodyPr wrap="square" lIns="0" tIns="0" rIns="0" bIns="0" rtlCol="0" anchor="ctr"/>
          <a:lstStyle/>
          <a:p>
            <a:pPr algn="r" indent="0" marL="0">
              <a:buNone/>
            </a:pPr>
            <a:r>
              <a:rPr lang="en-US" sz="1000" b="1" spc="100" kern="0" dirty="0">
                <a:solidFill>
                  <a:srgbClr val="2DD4BF"/>
                </a:solidFill>
                <a:latin typeface="Calibri" pitchFamily="34" charset="0"/>
                <a:ea typeface="Calibri" pitchFamily="34" charset="-122"/>
                <a:cs typeface="Calibri" pitchFamily="34" charset="-120"/>
              </a:rPr>
              <a:t>STEP 2</a:t>
            </a:r>
            <a:endParaRPr lang="en-US" sz="1000" dirty="0"/>
          </a:p>
        </p:txBody>
      </p:sp>
      <p:sp>
        <p:nvSpPr>
          <p:cNvPr id="34" name="Text 29"/>
          <p:cNvSpPr/>
          <p:nvPr/>
        </p:nvSpPr>
        <p:spPr>
          <a:xfrm>
            <a:off x="6583680" y="2990088"/>
            <a:ext cx="377647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Apply &amp; Decide</a:t>
            </a:r>
            <a:endParaRPr lang="en-US" sz="1400" dirty="0"/>
          </a:p>
        </p:txBody>
      </p:sp>
      <p:sp>
        <p:nvSpPr>
          <p:cNvPr id="35" name="Text 30"/>
          <p:cNvSpPr/>
          <p:nvPr/>
        </p:nvSpPr>
        <p:spPr>
          <a:xfrm>
            <a:off x="6583680" y="3300984"/>
            <a:ext cx="4736592"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Customer applies; admin approves or rejects with remarks.</a:t>
            </a:r>
            <a:endParaRPr lang="en-US" sz="1100" dirty="0"/>
          </a:p>
        </p:txBody>
      </p:sp>
      <p:sp>
        <p:nvSpPr>
          <p:cNvPr id="36" name="Shape 31"/>
          <p:cNvSpPr/>
          <p:nvPr/>
        </p:nvSpPr>
        <p:spPr>
          <a:xfrm>
            <a:off x="5669280" y="3941064"/>
            <a:ext cx="587959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7" name="Shape 32"/>
          <p:cNvSpPr/>
          <p:nvPr/>
        </p:nvSpPr>
        <p:spPr>
          <a:xfrm>
            <a:off x="5888736" y="4151376"/>
            <a:ext cx="548640" cy="548640"/>
          </a:xfrm>
          <a:prstGeom prst="ellipse">
            <a:avLst/>
          </a:prstGeom>
          <a:solidFill>
            <a:srgbClr val="1A2540"/>
          </a:solidFill>
          <a:ln w="22225">
            <a:solidFill>
              <a:srgbClr val="A78BFA"/>
            </a:solidFill>
            <a:prstDash val="solid"/>
          </a:ln>
        </p:spPr>
      </p:sp>
      <p:pic>
        <p:nvPicPr>
          <p:cNvPr id="38" name="Image 3" descr="preencoded.png">    </p:cNvPr>
          <p:cNvPicPr>
            <a:picLocks noChangeAspect="1"/>
          </p:cNvPicPr>
          <p:nvPr/>
        </p:nvPicPr>
        <p:blipFill>
          <a:blip r:embed="rId4"/>
          <a:stretch>
            <a:fillRect/>
          </a:stretch>
        </p:blipFill>
        <p:spPr>
          <a:xfrm>
            <a:off x="6047842" y="4310482"/>
            <a:ext cx="230429" cy="230429"/>
          </a:xfrm>
          <a:prstGeom prst="rect">
            <a:avLst/>
          </a:prstGeom>
        </p:spPr>
      </p:pic>
      <p:sp>
        <p:nvSpPr>
          <p:cNvPr id="39" name="Text 33"/>
          <p:cNvSpPr/>
          <p:nvPr/>
        </p:nvSpPr>
        <p:spPr>
          <a:xfrm>
            <a:off x="10268712" y="4087368"/>
            <a:ext cx="1097280" cy="274320"/>
          </a:xfrm>
          <a:prstGeom prst="rect">
            <a:avLst/>
          </a:prstGeom>
          <a:noFill/>
          <a:ln/>
        </p:spPr>
        <p:txBody>
          <a:bodyPr wrap="square" lIns="0" tIns="0" rIns="0" bIns="0" rtlCol="0" anchor="ctr"/>
          <a:lstStyle/>
          <a:p>
            <a:pPr algn="r" indent="0" marL="0">
              <a:buNone/>
            </a:pPr>
            <a:r>
              <a:rPr lang="en-US" sz="1000" b="1" spc="100" kern="0" dirty="0">
                <a:solidFill>
                  <a:srgbClr val="A78BFA"/>
                </a:solidFill>
                <a:latin typeface="Calibri" pitchFamily="34" charset="0"/>
                <a:ea typeface="Calibri" pitchFamily="34" charset="-122"/>
                <a:cs typeface="Calibri" pitchFamily="34" charset="-120"/>
              </a:rPr>
              <a:t>STEP 3</a:t>
            </a:r>
            <a:endParaRPr lang="en-US" sz="1000" dirty="0"/>
          </a:p>
        </p:txBody>
      </p:sp>
      <p:sp>
        <p:nvSpPr>
          <p:cNvPr id="40" name="Text 34"/>
          <p:cNvSpPr/>
          <p:nvPr/>
        </p:nvSpPr>
        <p:spPr>
          <a:xfrm>
            <a:off x="6583680" y="4069080"/>
            <a:ext cx="377647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Account &amp; Schedule</a:t>
            </a:r>
            <a:endParaRPr lang="en-US" sz="1400" dirty="0"/>
          </a:p>
        </p:txBody>
      </p:sp>
      <p:sp>
        <p:nvSpPr>
          <p:cNvPr id="41" name="Text 35"/>
          <p:cNvSpPr/>
          <p:nvPr/>
        </p:nvSpPr>
        <p:spPr>
          <a:xfrm>
            <a:off x="6583680" y="4379976"/>
            <a:ext cx="4736592"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On approval, the EMI is computed and a full repayment schedule is generated.</a:t>
            </a:r>
            <a:endParaRPr lang="en-US" sz="1100" dirty="0"/>
          </a:p>
        </p:txBody>
      </p:sp>
      <p:sp>
        <p:nvSpPr>
          <p:cNvPr id="42" name="Shape 36"/>
          <p:cNvSpPr/>
          <p:nvPr/>
        </p:nvSpPr>
        <p:spPr>
          <a:xfrm>
            <a:off x="5669280" y="5020056"/>
            <a:ext cx="587959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43" name="Shape 37"/>
          <p:cNvSpPr/>
          <p:nvPr/>
        </p:nvSpPr>
        <p:spPr>
          <a:xfrm>
            <a:off x="5888736" y="5230368"/>
            <a:ext cx="548640" cy="548640"/>
          </a:xfrm>
          <a:prstGeom prst="ellipse">
            <a:avLst/>
          </a:prstGeom>
          <a:solidFill>
            <a:srgbClr val="1A2540"/>
          </a:solidFill>
          <a:ln w="22225">
            <a:solidFill>
              <a:srgbClr val="D4AF37"/>
            </a:solidFill>
            <a:prstDash val="solid"/>
          </a:ln>
        </p:spPr>
      </p:sp>
      <p:pic>
        <p:nvPicPr>
          <p:cNvPr id="44" name="Image 4" descr="preencoded.png">    </p:cNvPr>
          <p:cNvPicPr>
            <a:picLocks noChangeAspect="1"/>
          </p:cNvPicPr>
          <p:nvPr/>
        </p:nvPicPr>
        <p:blipFill>
          <a:blip r:embed="rId5"/>
          <a:stretch>
            <a:fillRect/>
          </a:stretch>
        </p:blipFill>
        <p:spPr>
          <a:xfrm>
            <a:off x="6047842" y="5389474"/>
            <a:ext cx="230429" cy="230429"/>
          </a:xfrm>
          <a:prstGeom prst="rect">
            <a:avLst/>
          </a:prstGeom>
        </p:spPr>
      </p:pic>
      <p:sp>
        <p:nvSpPr>
          <p:cNvPr id="45" name="Text 38"/>
          <p:cNvSpPr/>
          <p:nvPr/>
        </p:nvSpPr>
        <p:spPr>
          <a:xfrm>
            <a:off x="10268712" y="5166360"/>
            <a:ext cx="1097280" cy="274320"/>
          </a:xfrm>
          <a:prstGeom prst="rect">
            <a:avLst/>
          </a:prstGeom>
          <a:noFill/>
          <a:ln/>
        </p:spPr>
        <p:txBody>
          <a:bodyPr wrap="square" lIns="0" tIns="0" rIns="0" bIns="0" rtlCol="0" anchor="ctr"/>
          <a:lstStyle/>
          <a:p>
            <a:pPr algn="r" indent="0" marL="0">
              <a:buNone/>
            </a:pPr>
            <a:r>
              <a:rPr lang="en-US" sz="1000" b="1" spc="100" kern="0" dirty="0">
                <a:solidFill>
                  <a:srgbClr val="D4AF37"/>
                </a:solidFill>
                <a:latin typeface="Calibri" pitchFamily="34" charset="0"/>
                <a:ea typeface="Calibri" pitchFamily="34" charset="-122"/>
                <a:cs typeface="Calibri" pitchFamily="34" charset="-120"/>
              </a:rPr>
              <a:t>STEP 4</a:t>
            </a:r>
            <a:endParaRPr lang="en-US" sz="1000" dirty="0"/>
          </a:p>
        </p:txBody>
      </p:sp>
      <p:sp>
        <p:nvSpPr>
          <p:cNvPr id="46" name="Text 39"/>
          <p:cNvSpPr/>
          <p:nvPr/>
        </p:nvSpPr>
        <p:spPr>
          <a:xfrm>
            <a:off x="6583680" y="5148072"/>
            <a:ext cx="377647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Track Repayments</a:t>
            </a:r>
            <a:endParaRPr lang="en-US" sz="1400" dirty="0"/>
          </a:p>
        </p:txBody>
      </p:sp>
      <p:sp>
        <p:nvSpPr>
          <p:cNvPr id="47" name="Text 40"/>
          <p:cNvSpPr/>
          <p:nvPr/>
        </p:nvSpPr>
        <p:spPr>
          <a:xfrm>
            <a:off x="6583680" y="5458968"/>
            <a:ext cx="4736592" cy="457200"/>
          </a:xfrm>
          <a:prstGeom prst="rect">
            <a:avLst/>
          </a:prstGeom>
          <a:noFill/>
          <a:ln/>
        </p:spPr>
        <p:txBody>
          <a:bodyPr wrap="square" lIns="0" tIns="0" rIns="0" bIns="0" rtlCol="0" anchor="ctr"/>
          <a:lstStyle/>
          <a:p>
            <a:pPr indent="0" marL="0">
              <a:lnSpc>
                <a:spcPct val="100000"/>
              </a:lnSpc>
              <a:buNone/>
            </a:pPr>
            <a:r>
              <a:rPr lang="en-US" sz="1100" dirty="0">
                <a:solidFill>
                  <a:srgbClr val="C7D0E0"/>
                </a:solidFill>
                <a:latin typeface="Calibri" pitchFamily="34" charset="0"/>
                <a:ea typeface="Calibri" pitchFamily="34" charset="-122"/>
                <a:cs typeface="Calibri" pitchFamily="34" charset="-120"/>
              </a:rPr>
              <a:t>Per-instalment principal &amp; interest split with paid / pending / overdue status.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ENGINE 04</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Advanced Admin Analytics</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6675120" cy="4334256"/>
          </a:xfrm>
          <a:prstGeom prst="roundRect">
            <a:avLst>
              <a:gd name="adj" fmla="val 2110"/>
            </a:avLst>
          </a:prstGeom>
          <a:solidFill>
            <a:srgbClr val="141C30"/>
          </a:solidFill>
          <a:ln w="12700">
            <a:solidFill>
              <a:srgbClr val="32436B"/>
            </a:solidFill>
            <a:prstDash val="solid"/>
          </a:ln>
          <a:effectLst>
            <a:outerShdw sx="100000" sy="100000" kx="0" ky="0" algn="bl" rotWithShape="0" blurRad="152400" dist="50800" dir="5400000">
              <a:srgbClr val="000000">
                <a:alpha val="45000"/>
              </a:srgbClr>
            </a:outerShdw>
          </a:effectLst>
        </p:spPr>
      </p:sp>
      <p:sp>
        <p:nvSpPr>
          <p:cNvPr id="9" name="Text 7"/>
          <p:cNvSpPr/>
          <p:nvPr/>
        </p:nvSpPr>
        <p:spPr>
          <a:xfrm>
            <a:off x="1005840" y="2020824"/>
            <a:ext cx="594360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PLATFORM ACTIVITY — TRANSACTIONS vs. LOANS</a:t>
            </a:r>
            <a:endParaRPr lang="en-US" sz="1300" dirty="0"/>
          </a:p>
        </p:txBody>
      </p:sp>
      <p:sp>
        <p:nvSpPr>
          <p:cNvPr id="10" name="Text 8"/>
          <p:cNvSpPr/>
          <p:nvPr/>
        </p:nvSpPr>
        <p:spPr>
          <a:xfrm>
            <a:off x="1005840" y="2350008"/>
            <a:ext cx="5943600" cy="274320"/>
          </a:xfrm>
          <a:prstGeom prst="rect">
            <a:avLst/>
          </a:prstGeom>
          <a:noFill/>
          <a:ln/>
        </p:spPr>
        <p:txBody>
          <a:bodyPr wrap="square" lIns="0" tIns="0" rIns="0" bIns="0" rtlCol="0" anchor="ctr"/>
          <a:lstStyle/>
          <a:p>
            <a:pPr indent="0" marL="0">
              <a:buNone/>
            </a:pPr>
            <a:r>
              <a:rPr lang="en-US" sz="1000" i="1" dirty="0">
                <a:solidFill>
                  <a:srgbClr val="7E8BA8"/>
                </a:solidFill>
                <a:latin typeface="Calibri" pitchFamily="34" charset="0"/>
                <a:ea typeface="Calibri" pitchFamily="34" charset="-122"/>
                <a:cs typeface="Calibri" pitchFamily="34" charset="-120"/>
              </a:rPr>
              <a:t>Illustrative growth trend</a:t>
            </a:r>
            <a:endParaRPr lang="en-US" sz="1000" dirty="0"/>
          </a:p>
        </p:txBody>
      </p:sp>
      <p:graphicFrame>
        <p:nvGraphicFramePr>
          <p:cNvPr id="11" name="Chart 0" descr=""/>
          <p:cNvGraphicFramePr/>
          <p:nvPr/>
        </p:nvGraphicFramePr>
        <p:xfrm>
          <a:off x="914400" y="2743200"/>
          <a:ext cx="6126480" cy="3099816"/>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7589520" y="1783080"/>
            <a:ext cx="395935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3" name="Shape 10"/>
          <p:cNvSpPr/>
          <p:nvPr/>
        </p:nvSpPr>
        <p:spPr>
          <a:xfrm>
            <a:off x="7790688" y="1993392"/>
            <a:ext cx="548640" cy="548640"/>
          </a:xfrm>
          <a:prstGeom prst="ellipse">
            <a:avLst/>
          </a:prstGeom>
          <a:solidFill>
            <a:srgbClr val="1A2540"/>
          </a:solidFill>
          <a:ln w="22225">
            <a:solidFill>
              <a:srgbClr val="38BDF8"/>
            </a:solidFill>
            <a:prstDash val="solid"/>
          </a:ln>
        </p:spPr>
      </p:sp>
      <p:pic>
        <p:nvPicPr>
          <p:cNvPr id="14" name="Image 0" descr="preencoded.png">    </p:cNvPr>
          <p:cNvPicPr>
            <a:picLocks noChangeAspect="1"/>
          </p:cNvPicPr>
          <p:nvPr/>
        </p:nvPicPr>
        <p:blipFill>
          <a:blip r:embed="rId2"/>
          <a:stretch>
            <a:fillRect/>
          </a:stretch>
        </p:blipFill>
        <p:spPr>
          <a:xfrm>
            <a:off x="7949794" y="2152498"/>
            <a:ext cx="230429" cy="230429"/>
          </a:xfrm>
          <a:prstGeom prst="rect">
            <a:avLst/>
          </a:prstGeom>
        </p:spPr>
      </p:pic>
      <p:sp>
        <p:nvSpPr>
          <p:cNvPr id="15" name="Text 11"/>
          <p:cNvSpPr/>
          <p:nvPr/>
        </p:nvSpPr>
        <p:spPr>
          <a:xfrm>
            <a:off x="8467344" y="1911096"/>
            <a:ext cx="295351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Live Dashboards</a:t>
            </a:r>
            <a:endParaRPr lang="en-US" sz="1350" dirty="0"/>
          </a:p>
        </p:txBody>
      </p:sp>
      <p:sp>
        <p:nvSpPr>
          <p:cNvPr id="16" name="Text 12"/>
          <p:cNvSpPr/>
          <p:nvPr/>
        </p:nvSpPr>
        <p:spPr>
          <a:xfrm>
            <a:off x="8467344" y="2221992"/>
            <a:ext cx="2953512" cy="45720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Real-time transaction, loan &amp; user analytics.</a:t>
            </a:r>
            <a:endParaRPr lang="en-US" sz="1050" dirty="0"/>
          </a:p>
        </p:txBody>
      </p:sp>
      <p:sp>
        <p:nvSpPr>
          <p:cNvPr id="17" name="Shape 13"/>
          <p:cNvSpPr/>
          <p:nvPr/>
        </p:nvSpPr>
        <p:spPr>
          <a:xfrm>
            <a:off x="7589520" y="2862072"/>
            <a:ext cx="395935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8" name="Shape 14"/>
          <p:cNvSpPr/>
          <p:nvPr/>
        </p:nvSpPr>
        <p:spPr>
          <a:xfrm>
            <a:off x="7790688" y="3072384"/>
            <a:ext cx="548640" cy="548640"/>
          </a:xfrm>
          <a:prstGeom prst="ellipse">
            <a:avLst/>
          </a:prstGeom>
          <a:solidFill>
            <a:srgbClr val="1A2540"/>
          </a:solidFill>
          <a:ln w="22225">
            <a:solidFill>
              <a:srgbClr val="FB7185"/>
            </a:solidFill>
            <a:prstDash val="solid"/>
          </a:ln>
        </p:spPr>
      </p:sp>
      <p:pic>
        <p:nvPicPr>
          <p:cNvPr id="19" name="Image 1" descr="preencoded.png">    </p:cNvPr>
          <p:cNvPicPr>
            <a:picLocks noChangeAspect="1"/>
          </p:cNvPicPr>
          <p:nvPr/>
        </p:nvPicPr>
        <p:blipFill>
          <a:blip r:embed="rId3"/>
          <a:stretch>
            <a:fillRect/>
          </a:stretch>
        </p:blipFill>
        <p:spPr>
          <a:xfrm>
            <a:off x="7949794" y="3231490"/>
            <a:ext cx="230429" cy="230429"/>
          </a:xfrm>
          <a:prstGeom prst="rect">
            <a:avLst/>
          </a:prstGeom>
        </p:spPr>
      </p:pic>
      <p:sp>
        <p:nvSpPr>
          <p:cNvPr id="20" name="Text 15"/>
          <p:cNvSpPr/>
          <p:nvPr/>
        </p:nvSpPr>
        <p:spPr>
          <a:xfrm>
            <a:off x="8467344" y="2990088"/>
            <a:ext cx="295351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AOP Audit Logging</a:t>
            </a:r>
            <a:endParaRPr lang="en-US" sz="1350" dirty="0"/>
          </a:p>
        </p:txBody>
      </p:sp>
      <p:sp>
        <p:nvSpPr>
          <p:cNvPr id="21" name="Text 16"/>
          <p:cNvSpPr/>
          <p:nvPr/>
        </p:nvSpPr>
        <p:spPr>
          <a:xfrm>
            <a:off x="8467344" y="3300984"/>
            <a:ext cx="2953512" cy="45720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Every controller call captured to the audit log.</a:t>
            </a:r>
            <a:endParaRPr lang="en-US" sz="1050" dirty="0"/>
          </a:p>
        </p:txBody>
      </p:sp>
      <p:sp>
        <p:nvSpPr>
          <p:cNvPr id="22" name="Shape 17"/>
          <p:cNvSpPr/>
          <p:nvPr/>
        </p:nvSpPr>
        <p:spPr>
          <a:xfrm>
            <a:off x="7589520" y="3941064"/>
            <a:ext cx="395935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3" name="Shape 18"/>
          <p:cNvSpPr/>
          <p:nvPr/>
        </p:nvSpPr>
        <p:spPr>
          <a:xfrm>
            <a:off x="7790688" y="4151376"/>
            <a:ext cx="548640" cy="548640"/>
          </a:xfrm>
          <a:prstGeom prst="ellipse">
            <a:avLst/>
          </a:prstGeom>
          <a:solidFill>
            <a:srgbClr val="1A2540"/>
          </a:solidFill>
          <a:ln w="22225">
            <a:solidFill>
              <a:srgbClr val="2DD4BF"/>
            </a:solidFill>
            <a:prstDash val="solid"/>
          </a:ln>
        </p:spPr>
      </p:sp>
      <p:pic>
        <p:nvPicPr>
          <p:cNvPr id="24" name="Image 2" descr="preencoded.png">    </p:cNvPr>
          <p:cNvPicPr>
            <a:picLocks noChangeAspect="1"/>
          </p:cNvPicPr>
          <p:nvPr/>
        </p:nvPicPr>
        <p:blipFill>
          <a:blip r:embed="rId4"/>
          <a:stretch>
            <a:fillRect/>
          </a:stretch>
        </p:blipFill>
        <p:spPr>
          <a:xfrm>
            <a:off x="7949794" y="4310482"/>
            <a:ext cx="230429" cy="230429"/>
          </a:xfrm>
          <a:prstGeom prst="rect">
            <a:avLst/>
          </a:prstGeom>
        </p:spPr>
      </p:pic>
      <p:sp>
        <p:nvSpPr>
          <p:cNvPr id="25" name="Text 19"/>
          <p:cNvSpPr/>
          <p:nvPr/>
        </p:nvSpPr>
        <p:spPr>
          <a:xfrm>
            <a:off x="8467344" y="4069080"/>
            <a:ext cx="295351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Loan Decisions</a:t>
            </a:r>
            <a:endParaRPr lang="en-US" sz="1350" dirty="0"/>
          </a:p>
        </p:txBody>
      </p:sp>
      <p:sp>
        <p:nvSpPr>
          <p:cNvPr id="26" name="Text 20"/>
          <p:cNvSpPr/>
          <p:nvPr/>
        </p:nvSpPr>
        <p:spPr>
          <a:xfrm>
            <a:off x="8467344" y="4379976"/>
            <a:ext cx="2953512" cy="45720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Approve or reject applications with remarks.</a:t>
            </a:r>
            <a:endParaRPr lang="en-US" sz="1050" dirty="0"/>
          </a:p>
        </p:txBody>
      </p:sp>
      <p:sp>
        <p:nvSpPr>
          <p:cNvPr id="27" name="Shape 21"/>
          <p:cNvSpPr/>
          <p:nvPr/>
        </p:nvSpPr>
        <p:spPr>
          <a:xfrm>
            <a:off x="7589520" y="5020056"/>
            <a:ext cx="3959352" cy="969264"/>
          </a:xfrm>
          <a:prstGeom prst="roundRect">
            <a:avLst>
              <a:gd name="adj" fmla="val 8491"/>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8" name="Shape 22"/>
          <p:cNvSpPr/>
          <p:nvPr/>
        </p:nvSpPr>
        <p:spPr>
          <a:xfrm>
            <a:off x="7790688" y="5230368"/>
            <a:ext cx="548640" cy="548640"/>
          </a:xfrm>
          <a:prstGeom prst="ellipse">
            <a:avLst/>
          </a:prstGeom>
          <a:solidFill>
            <a:srgbClr val="1A2540"/>
          </a:solidFill>
          <a:ln w="22225">
            <a:solidFill>
              <a:srgbClr val="A78BFA"/>
            </a:solidFill>
            <a:prstDash val="solid"/>
          </a:ln>
        </p:spPr>
      </p:sp>
      <p:pic>
        <p:nvPicPr>
          <p:cNvPr id="29" name="Image 3" descr="preencoded.png">    </p:cNvPr>
          <p:cNvPicPr>
            <a:picLocks noChangeAspect="1"/>
          </p:cNvPicPr>
          <p:nvPr/>
        </p:nvPicPr>
        <p:blipFill>
          <a:blip r:embed="rId5"/>
          <a:stretch>
            <a:fillRect/>
          </a:stretch>
        </p:blipFill>
        <p:spPr>
          <a:xfrm>
            <a:off x="7949794" y="5389474"/>
            <a:ext cx="230429" cy="230429"/>
          </a:xfrm>
          <a:prstGeom prst="rect">
            <a:avLst/>
          </a:prstGeom>
        </p:spPr>
      </p:pic>
      <p:sp>
        <p:nvSpPr>
          <p:cNvPr id="30" name="Text 23"/>
          <p:cNvSpPr/>
          <p:nvPr/>
        </p:nvSpPr>
        <p:spPr>
          <a:xfrm>
            <a:off x="8467344" y="5148072"/>
            <a:ext cx="295351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User &amp; Role Control</a:t>
            </a:r>
            <a:endParaRPr lang="en-US" sz="1350" dirty="0"/>
          </a:p>
        </p:txBody>
      </p:sp>
      <p:sp>
        <p:nvSpPr>
          <p:cNvPr id="31" name="Text 24"/>
          <p:cNvSpPr/>
          <p:nvPr/>
        </p:nvSpPr>
        <p:spPr>
          <a:xfrm>
            <a:off x="8467344" y="5458968"/>
            <a:ext cx="2953512" cy="45720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Admin-scoped management across roles.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OUTCOMES</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Key Achievements</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914400" y="2075688"/>
            <a:ext cx="676656" cy="676656"/>
          </a:xfrm>
          <a:prstGeom prst="ellipse">
            <a:avLst/>
          </a:prstGeom>
          <a:solidFill>
            <a:srgbClr val="1A2540"/>
          </a:solidFill>
          <a:ln w="22225">
            <a:solidFill>
              <a:srgbClr val="D4AF37"/>
            </a:solidFill>
            <a:prstDash val="solid"/>
          </a:ln>
        </p:spPr>
      </p:sp>
      <p:pic>
        <p:nvPicPr>
          <p:cNvPr id="10" name="Image 0" descr="preencoded.png">    </p:cNvPr>
          <p:cNvPicPr>
            <a:picLocks noChangeAspect="1"/>
          </p:cNvPicPr>
          <p:nvPr/>
        </p:nvPicPr>
        <p:blipFill>
          <a:blip r:embed="rId1"/>
          <a:stretch>
            <a:fillRect/>
          </a:stretch>
        </p:blipFill>
        <p:spPr>
          <a:xfrm>
            <a:off x="1110630" y="2271918"/>
            <a:ext cx="284196" cy="284196"/>
          </a:xfrm>
          <a:prstGeom prst="rect">
            <a:avLst/>
          </a:prstGeom>
        </p:spPr>
      </p:pic>
      <p:sp>
        <p:nvSpPr>
          <p:cNvPr id="11" name="Text 8"/>
          <p:cNvSpPr/>
          <p:nvPr/>
        </p:nvSpPr>
        <p:spPr>
          <a:xfrm>
            <a:off x="914400" y="2880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Accurate loan engine</a:t>
            </a:r>
            <a:endParaRPr lang="en-US" sz="1450" dirty="0"/>
          </a:p>
        </p:txBody>
      </p:sp>
      <p:sp>
        <p:nvSpPr>
          <p:cNvPr id="12" name="Text 9"/>
          <p:cNvSpPr/>
          <p:nvPr/>
        </p:nvSpPr>
        <p:spPr>
          <a:xfrm>
            <a:off x="914400" y="3227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Reducing-balance EMI with a clean principal/interest split and exact rounding closure.</a:t>
            </a:r>
            <a:endParaRPr lang="en-US" sz="1100" dirty="0"/>
          </a:p>
        </p:txBody>
      </p:sp>
      <p:sp>
        <p:nvSpPr>
          <p:cNvPr id="13" name="Shape 10"/>
          <p:cNvSpPr/>
          <p:nvPr/>
        </p:nvSpPr>
        <p:spPr>
          <a:xfrm>
            <a:off x="4453128" y="1783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4" name="Shape 11"/>
          <p:cNvSpPr/>
          <p:nvPr/>
        </p:nvSpPr>
        <p:spPr>
          <a:xfrm>
            <a:off x="4727448" y="2075688"/>
            <a:ext cx="676656" cy="676656"/>
          </a:xfrm>
          <a:prstGeom prst="ellipse">
            <a:avLst/>
          </a:prstGeom>
          <a:solidFill>
            <a:srgbClr val="1A2540"/>
          </a:solidFill>
          <a:ln w="22225">
            <a:solidFill>
              <a:srgbClr val="A78BFA"/>
            </a:solidFill>
            <a:prstDash val="solid"/>
          </a:ln>
        </p:spPr>
      </p:sp>
      <p:pic>
        <p:nvPicPr>
          <p:cNvPr id="15" name="Image 1" descr="preencoded.png">    </p:cNvPr>
          <p:cNvPicPr>
            <a:picLocks noChangeAspect="1"/>
          </p:cNvPicPr>
          <p:nvPr/>
        </p:nvPicPr>
        <p:blipFill>
          <a:blip r:embed="rId2"/>
          <a:stretch>
            <a:fillRect/>
          </a:stretch>
        </p:blipFill>
        <p:spPr>
          <a:xfrm>
            <a:off x="4923678" y="2271918"/>
            <a:ext cx="284196" cy="284196"/>
          </a:xfrm>
          <a:prstGeom prst="rect">
            <a:avLst/>
          </a:prstGeom>
        </p:spPr>
      </p:pic>
      <p:sp>
        <p:nvSpPr>
          <p:cNvPr id="16" name="Text 12"/>
          <p:cNvSpPr/>
          <p:nvPr/>
        </p:nvSpPr>
        <p:spPr>
          <a:xfrm>
            <a:off x="4727448" y="2880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Secure by design</a:t>
            </a:r>
            <a:endParaRPr lang="en-US" sz="1450" dirty="0"/>
          </a:p>
        </p:txBody>
      </p:sp>
      <p:sp>
        <p:nvSpPr>
          <p:cNvPr id="17" name="Text 13"/>
          <p:cNvSpPr/>
          <p:nvPr/>
        </p:nvSpPr>
        <p:spPr>
          <a:xfrm>
            <a:off x="4727448" y="3227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Stateless JWT (HS256), BCrypt hashing and layered route guards across roles.</a:t>
            </a:r>
            <a:endParaRPr lang="en-US" sz="1100" dirty="0"/>
          </a:p>
        </p:txBody>
      </p:sp>
      <p:sp>
        <p:nvSpPr>
          <p:cNvPr id="18" name="Shape 14"/>
          <p:cNvSpPr/>
          <p:nvPr/>
        </p:nvSpPr>
        <p:spPr>
          <a:xfrm>
            <a:off x="8266176" y="1783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9" name="Shape 15"/>
          <p:cNvSpPr/>
          <p:nvPr/>
        </p:nvSpPr>
        <p:spPr>
          <a:xfrm>
            <a:off x="8540496" y="2075688"/>
            <a:ext cx="676656" cy="676656"/>
          </a:xfrm>
          <a:prstGeom prst="ellipse">
            <a:avLst/>
          </a:prstGeom>
          <a:solidFill>
            <a:srgbClr val="1A2540"/>
          </a:solidFill>
          <a:ln w="22225">
            <a:solidFill>
              <a:srgbClr val="FB7185"/>
            </a:solidFill>
            <a:prstDash val="solid"/>
          </a:ln>
        </p:spPr>
      </p:sp>
      <p:pic>
        <p:nvPicPr>
          <p:cNvPr id="20" name="Image 2" descr="preencoded.png">    </p:cNvPr>
          <p:cNvPicPr>
            <a:picLocks noChangeAspect="1"/>
          </p:cNvPicPr>
          <p:nvPr/>
        </p:nvPicPr>
        <p:blipFill>
          <a:blip r:embed="rId3"/>
          <a:stretch>
            <a:fillRect/>
          </a:stretch>
        </p:blipFill>
        <p:spPr>
          <a:xfrm>
            <a:off x="8736726" y="2271918"/>
            <a:ext cx="284196" cy="284196"/>
          </a:xfrm>
          <a:prstGeom prst="rect">
            <a:avLst/>
          </a:prstGeom>
        </p:spPr>
      </p:pic>
      <p:sp>
        <p:nvSpPr>
          <p:cNvPr id="21" name="Text 16"/>
          <p:cNvSpPr/>
          <p:nvPr/>
        </p:nvSpPr>
        <p:spPr>
          <a:xfrm>
            <a:off x="8540496" y="2880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Fully auditable</a:t>
            </a:r>
            <a:endParaRPr lang="en-US" sz="1450" dirty="0"/>
          </a:p>
        </p:txBody>
      </p:sp>
      <p:sp>
        <p:nvSpPr>
          <p:cNvPr id="22" name="Text 17"/>
          <p:cNvSpPr/>
          <p:nvPr/>
        </p:nvSpPr>
        <p:spPr>
          <a:xfrm>
            <a:off x="8540496" y="3227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An AOP aspect records every controller action into a queryable audit log.</a:t>
            </a:r>
            <a:endParaRPr lang="en-US" sz="1100" dirty="0"/>
          </a:p>
        </p:txBody>
      </p:sp>
      <p:sp>
        <p:nvSpPr>
          <p:cNvPr id="23" name="Shape 18"/>
          <p:cNvSpPr/>
          <p:nvPr/>
        </p:nvSpPr>
        <p:spPr>
          <a:xfrm>
            <a:off x="640080" y="4069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4" name="Shape 19"/>
          <p:cNvSpPr/>
          <p:nvPr/>
        </p:nvSpPr>
        <p:spPr>
          <a:xfrm>
            <a:off x="914400" y="4361688"/>
            <a:ext cx="676656" cy="676656"/>
          </a:xfrm>
          <a:prstGeom prst="ellipse">
            <a:avLst/>
          </a:prstGeom>
          <a:solidFill>
            <a:srgbClr val="1A2540"/>
          </a:solidFill>
          <a:ln w="22225">
            <a:solidFill>
              <a:srgbClr val="2DD4BF"/>
            </a:solidFill>
            <a:prstDash val="solid"/>
          </a:ln>
        </p:spPr>
      </p:sp>
      <p:pic>
        <p:nvPicPr>
          <p:cNvPr id="25" name="Image 3" descr="preencoded.png">    </p:cNvPr>
          <p:cNvPicPr>
            <a:picLocks noChangeAspect="1"/>
          </p:cNvPicPr>
          <p:nvPr/>
        </p:nvPicPr>
        <p:blipFill>
          <a:blip r:embed="rId4"/>
          <a:stretch>
            <a:fillRect/>
          </a:stretch>
        </p:blipFill>
        <p:spPr>
          <a:xfrm>
            <a:off x="1110630" y="4557918"/>
            <a:ext cx="284196" cy="284196"/>
          </a:xfrm>
          <a:prstGeom prst="rect">
            <a:avLst/>
          </a:prstGeom>
        </p:spPr>
      </p:pic>
      <p:sp>
        <p:nvSpPr>
          <p:cNvPr id="26" name="Text 20"/>
          <p:cNvSpPr/>
          <p:nvPr/>
        </p:nvSpPr>
        <p:spPr>
          <a:xfrm>
            <a:off x="914400" y="5166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Transactional integrity</a:t>
            </a:r>
            <a:endParaRPr lang="en-US" sz="1450" dirty="0"/>
          </a:p>
        </p:txBody>
      </p:sp>
      <p:sp>
        <p:nvSpPr>
          <p:cNvPr id="27" name="Text 21"/>
          <p:cNvSpPr/>
          <p:nvPr/>
        </p:nvSpPr>
        <p:spPr>
          <a:xfrm>
            <a:off x="914400" y="5513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Atomic transfers keep debit and credit legs perfectly consistent.</a:t>
            </a:r>
            <a:endParaRPr lang="en-US" sz="1100" dirty="0"/>
          </a:p>
        </p:txBody>
      </p:sp>
      <p:sp>
        <p:nvSpPr>
          <p:cNvPr id="28" name="Shape 22"/>
          <p:cNvSpPr/>
          <p:nvPr/>
        </p:nvSpPr>
        <p:spPr>
          <a:xfrm>
            <a:off x="4453128" y="4069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9" name="Shape 23"/>
          <p:cNvSpPr/>
          <p:nvPr/>
        </p:nvSpPr>
        <p:spPr>
          <a:xfrm>
            <a:off x="4727448" y="4361688"/>
            <a:ext cx="676656" cy="676656"/>
          </a:xfrm>
          <a:prstGeom prst="ellipse">
            <a:avLst/>
          </a:prstGeom>
          <a:solidFill>
            <a:srgbClr val="1A2540"/>
          </a:solidFill>
          <a:ln w="22225">
            <a:solidFill>
              <a:srgbClr val="38BDF8"/>
            </a:solidFill>
            <a:prstDash val="solid"/>
          </a:ln>
        </p:spPr>
      </p:sp>
      <p:pic>
        <p:nvPicPr>
          <p:cNvPr id="30" name="Image 4" descr="preencoded.png">    </p:cNvPr>
          <p:cNvPicPr>
            <a:picLocks noChangeAspect="1"/>
          </p:cNvPicPr>
          <p:nvPr/>
        </p:nvPicPr>
        <p:blipFill>
          <a:blip r:embed="rId5"/>
          <a:stretch>
            <a:fillRect/>
          </a:stretch>
        </p:blipFill>
        <p:spPr>
          <a:xfrm>
            <a:off x="4923678" y="4557918"/>
            <a:ext cx="284196" cy="284196"/>
          </a:xfrm>
          <a:prstGeom prst="rect">
            <a:avLst/>
          </a:prstGeom>
        </p:spPr>
      </p:pic>
      <p:sp>
        <p:nvSpPr>
          <p:cNvPr id="31" name="Text 24"/>
          <p:cNvSpPr/>
          <p:nvPr/>
        </p:nvSpPr>
        <p:spPr>
          <a:xfrm>
            <a:off x="4727448" y="5166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Unified domain</a:t>
            </a:r>
            <a:endParaRPr lang="en-US" sz="1450" dirty="0"/>
          </a:p>
        </p:txBody>
      </p:sp>
      <p:sp>
        <p:nvSpPr>
          <p:cNvPr id="32" name="Text 25"/>
          <p:cNvSpPr/>
          <p:nvPr/>
        </p:nvSpPr>
        <p:spPr>
          <a:xfrm>
            <a:off x="4727448" y="5513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One coherent schema spanning every banking domain end to end.</a:t>
            </a:r>
            <a:endParaRPr lang="en-US" sz="1100" dirty="0"/>
          </a:p>
        </p:txBody>
      </p:sp>
      <p:sp>
        <p:nvSpPr>
          <p:cNvPr id="33" name="Shape 26"/>
          <p:cNvSpPr/>
          <p:nvPr/>
        </p:nvSpPr>
        <p:spPr>
          <a:xfrm>
            <a:off x="8266176" y="4069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4" name="Shape 27"/>
          <p:cNvSpPr/>
          <p:nvPr/>
        </p:nvSpPr>
        <p:spPr>
          <a:xfrm>
            <a:off x="8540496" y="4361688"/>
            <a:ext cx="676656" cy="676656"/>
          </a:xfrm>
          <a:prstGeom prst="ellipse">
            <a:avLst/>
          </a:prstGeom>
          <a:solidFill>
            <a:srgbClr val="1A2540"/>
          </a:solidFill>
          <a:ln w="22225">
            <a:solidFill>
              <a:srgbClr val="34D399"/>
            </a:solidFill>
            <a:prstDash val="solid"/>
          </a:ln>
        </p:spPr>
      </p:sp>
      <p:pic>
        <p:nvPicPr>
          <p:cNvPr id="35" name="Image 5" descr="preencoded.png">    </p:cNvPr>
          <p:cNvPicPr>
            <a:picLocks noChangeAspect="1"/>
          </p:cNvPicPr>
          <p:nvPr/>
        </p:nvPicPr>
        <p:blipFill>
          <a:blip r:embed="rId6"/>
          <a:stretch>
            <a:fillRect/>
          </a:stretch>
        </p:blipFill>
        <p:spPr>
          <a:xfrm>
            <a:off x="8736726" y="4557918"/>
            <a:ext cx="284196" cy="284196"/>
          </a:xfrm>
          <a:prstGeom prst="rect">
            <a:avLst/>
          </a:prstGeom>
        </p:spPr>
      </p:pic>
      <p:sp>
        <p:nvSpPr>
          <p:cNvPr id="36" name="Text 28"/>
          <p:cNvSpPr/>
          <p:nvPr/>
        </p:nvSpPr>
        <p:spPr>
          <a:xfrm>
            <a:off x="8540496" y="5166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Clean architecture</a:t>
            </a:r>
            <a:endParaRPr lang="en-US" sz="1450" dirty="0"/>
          </a:p>
        </p:txBody>
      </p:sp>
      <p:sp>
        <p:nvSpPr>
          <p:cNvPr id="37" name="Text 29"/>
          <p:cNvSpPr/>
          <p:nvPr/>
        </p:nvSpPr>
        <p:spPr>
          <a:xfrm>
            <a:off x="8540496" y="5513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Disciplined controller-service-repository layering with DTOs at the edges.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4"/>
        </a:solidFill>
      </p:bgPr>
    </p:bg>
    <p:spTree>
      <p:nvGrpSpPr>
        <p:cNvPr id="1" name=""/>
        <p:cNvGrpSpPr/>
        <p:nvPr/>
      </p:nvGrpSpPr>
      <p:grpSpPr>
        <a:xfrm>
          <a:off x="0" y="0"/>
          <a:ext cx="0" cy="0"/>
          <a:chOff x="0" y="0"/>
          <a:chExt cx="0" cy="0"/>
        </a:xfrm>
      </p:grpSpPr>
      <p:sp>
        <p:nvSpPr>
          <p:cNvPr id="2" name="Shape 0"/>
          <p:cNvSpPr/>
          <p:nvPr/>
        </p:nvSpPr>
        <p:spPr>
          <a:xfrm>
            <a:off x="9326880" y="-2377440"/>
            <a:ext cx="5852160" cy="5852160"/>
          </a:xfrm>
          <a:prstGeom prst="ellipse">
            <a:avLst/>
          </a:prstGeom>
          <a:solidFill>
            <a:srgbClr val="D4AF37">
              <a:alpha val="8000"/>
            </a:srgbClr>
          </a:solidFill>
          <a:ln/>
        </p:spPr>
      </p:sp>
      <p:sp>
        <p:nvSpPr>
          <p:cNvPr id="3" name="Shape 1"/>
          <p:cNvSpPr/>
          <p:nvPr/>
        </p:nvSpPr>
        <p:spPr>
          <a:xfrm>
            <a:off x="-2011680" y="4206240"/>
            <a:ext cx="4754880" cy="4754880"/>
          </a:xfrm>
          <a:prstGeom prst="ellipse">
            <a:avLst/>
          </a:prstGeom>
          <a:solidFill>
            <a:srgbClr val="38BDF8">
              <a:alpha val="6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WHAT'S NEXT</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Future Scope</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783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914400" y="2075688"/>
            <a:ext cx="676656" cy="676656"/>
          </a:xfrm>
          <a:prstGeom prst="ellipse">
            <a:avLst/>
          </a:prstGeom>
          <a:solidFill>
            <a:srgbClr val="1A2540"/>
          </a:solidFill>
          <a:ln w="22225">
            <a:solidFill>
              <a:srgbClr val="D4AF37"/>
            </a:solidFill>
            <a:prstDash val="solid"/>
          </a:ln>
        </p:spPr>
      </p:sp>
      <p:pic>
        <p:nvPicPr>
          <p:cNvPr id="10" name="Image 0" descr="preencoded.png">    </p:cNvPr>
          <p:cNvPicPr>
            <a:picLocks noChangeAspect="1"/>
          </p:cNvPicPr>
          <p:nvPr/>
        </p:nvPicPr>
        <p:blipFill>
          <a:blip r:embed="rId1"/>
          <a:stretch>
            <a:fillRect/>
          </a:stretch>
        </p:blipFill>
        <p:spPr>
          <a:xfrm>
            <a:off x="1110630" y="2271918"/>
            <a:ext cx="284196" cy="284196"/>
          </a:xfrm>
          <a:prstGeom prst="rect">
            <a:avLst/>
          </a:prstGeom>
        </p:spPr>
      </p:pic>
      <p:sp>
        <p:nvSpPr>
          <p:cNvPr id="11" name="Text 8"/>
          <p:cNvSpPr/>
          <p:nvPr/>
        </p:nvSpPr>
        <p:spPr>
          <a:xfrm>
            <a:off x="914400" y="2880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Scheduled Automation</a:t>
            </a:r>
            <a:endParaRPr lang="en-US" sz="1450" dirty="0"/>
          </a:p>
        </p:txBody>
      </p:sp>
      <p:sp>
        <p:nvSpPr>
          <p:cNvPr id="12" name="Text 9"/>
          <p:cNvSpPr/>
          <p:nvPr/>
        </p:nvSpPr>
        <p:spPr>
          <a:xfrm>
            <a:off x="914400" y="3227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Background jobs to auto-mark overdue EMIs &amp; bills and send reminders.</a:t>
            </a:r>
            <a:endParaRPr lang="en-US" sz="1100" dirty="0"/>
          </a:p>
        </p:txBody>
      </p:sp>
      <p:sp>
        <p:nvSpPr>
          <p:cNvPr id="13" name="Shape 10"/>
          <p:cNvSpPr/>
          <p:nvPr/>
        </p:nvSpPr>
        <p:spPr>
          <a:xfrm>
            <a:off x="4453128" y="1783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4" name="Shape 11"/>
          <p:cNvSpPr/>
          <p:nvPr/>
        </p:nvSpPr>
        <p:spPr>
          <a:xfrm>
            <a:off x="4727448" y="2075688"/>
            <a:ext cx="676656" cy="676656"/>
          </a:xfrm>
          <a:prstGeom prst="ellipse">
            <a:avLst/>
          </a:prstGeom>
          <a:solidFill>
            <a:srgbClr val="1A2540"/>
          </a:solidFill>
          <a:ln w="22225">
            <a:solidFill>
              <a:srgbClr val="38BDF8"/>
            </a:solidFill>
            <a:prstDash val="solid"/>
          </a:ln>
        </p:spPr>
      </p:sp>
      <p:pic>
        <p:nvPicPr>
          <p:cNvPr id="15" name="Image 1" descr="preencoded.png">    </p:cNvPr>
          <p:cNvPicPr>
            <a:picLocks noChangeAspect="1"/>
          </p:cNvPicPr>
          <p:nvPr/>
        </p:nvPicPr>
        <p:blipFill>
          <a:blip r:embed="rId2"/>
          <a:stretch>
            <a:fillRect/>
          </a:stretch>
        </p:blipFill>
        <p:spPr>
          <a:xfrm>
            <a:off x="4923678" y="2271918"/>
            <a:ext cx="284196" cy="284196"/>
          </a:xfrm>
          <a:prstGeom prst="rect">
            <a:avLst/>
          </a:prstGeom>
        </p:spPr>
      </p:pic>
      <p:sp>
        <p:nvSpPr>
          <p:cNvPr id="16" name="Text 12"/>
          <p:cNvSpPr/>
          <p:nvPr/>
        </p:nvSpPr>
        <p:spPr>
          <a:xfrm>
            <a:off x="4727448" y="2880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Microservices</a:t>
            </a:r>
            <a:endParaRPr lang="en-US" sz="1450" dirty="0"/>
          </a:p>
        </p:txBody>
      </p:sp>
      <p:sp>
        <p:nvSpPr>
          <p:cNvPr id="17" name="Text 13"/>
          <p:cNvSpPr/>
          <p:nvPr/>
        </p:nvSpPr>
        <p:spPr>
          <a:xfrm>
            <a:off x="4727448" y="3227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Decompose the monolith into independently scalable services.</a:t>
            </a:r>
            <a:endParaRPr lang="en-US" sz="1100" dirty="0"/>
          </a:p>
        </p:txBody>
      </p:sp>
      <p:sp>
        <p:nvSpPr>
          <p:cNvPr id="18" name="Shape 14"/>
          <p:cNvSpPr/>
          <p:nvPr/>
        </p:nvSpPr>
        <p:spPr>
          <a:xfrm>
            <a:off x="8266176" y="1783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9" name="Shape 15"/>
          <p:cNvSpPr/>
          <p:nvPr/>
        </p:nvSpPr>
        <p:spPr>
          <a:xfrm>
            <a:off x="8540496" y="2075688"/>
            <a:ext cx="676656" cy="676656"/>
          </a:xfrm>
          <a:prstGeom prst="ellipse">
            <a:avLst/>
          </a:prstGeom>
          <a:solidFill>
            <a:srgbClr val="1A2540"/>
          </a:solidFill>
          <a:ln w="22225">
            <a:solidFill>
              <a:srgbClr val="2DD4BF"/>
            </a:solidFill>
            <a:prstDash val="solid"/>
          </a:ln>
        </p:spPr>
      </p:sp>
      <p:pic>
        <p:nvPicPr>
          <p:cNvPr id="20" name="Image 2" descr="preencoded.png">    </p:cNvPr>
          <p:cNvPicPr>
            <a:picLocks noChangeAspect="1"/>
          </p:cNvPicPr>
          <p:nvPr/>
        </p:nvPicPr>
        <p:blipFill>
          <a:blip r:embed="rId3"/>
          <a:stretch>
            <a:fillRect/>
          </a:stretch>
        </p:blipFill>
        <p:spPr>
          <a:xfrm>
            <a:off x="8736726" y="2271918"/>
            <a:ext cx="284196" cy="284196"/>
          </a:xfrm>
          <a:prstGeom prst="rect">
            <a:avLst/>
          </a:prstGeom>
        </p:spPr>
      </p:pic>
      <p:sp>
        <p:nvSpPr>
          <p:cNvPr id="21" name="Text 16"/>
          <p:cNvSpPr/>
          <p:nvPr/>
        </p:nvSpPr>
        <p:spPr>
          <a:xfrm>
            <a:off x="8540496" y="2880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AI Spend Insights</a:t>
            </a:r>
            <a:endParaRPr lang="en-US" sz="1450" dirty="0"/>
          </a:p>
        </p:txBody>
      </p:sp>
      <p:sp>
        <p:nvSpPr>
          <p:cNvPr id="22" name="Text 17"/>
          <p:cNvSpPr/>
          <p:nvPr/>
        </p:nvSpPr>
        <p:spPr>
          <a:xfrm>
            <a:off x="8540496" y="3227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ML-driven categorisation, anomaly detection &amp; savings nudges.</a:t>
            </a:r>
            <a:endParaRPr lang="en-US" sz="1100" dirty="0"/>
          </a:p>
        </p:txBody>
      </p:sp>
      <p:sp>
        <p:nvSpPr>
          <p:cNvPr id="23" name="Shape 18"/>
          <p:cNvSpPr/>
          <p:nvPr/>
        </p:nvSpPr>
        <p:spPr>
          <a:xfrm>
            <a:off x="640080" y="4069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4" name="Shape 19"/>
          <p:cNvSpPr/>
          <p:nvPr/>
        </p:nvSpPr>
        <p:spPr>
          <a:xfrm>
            <a:off x="914400" y="4361688"/>
            <a:ext cx="676656" cy="676656"/>
          </a:xfrm>
          <a:prstGeom prst="ellipse">
            <a:avLst/>
          </a:prstGeom>
          <a:solidFill>
            <a:srgbClr val="1A2540"/>
          </a:solidFill>
          <a:ln w="22225">
            <a:solidFill>
              <a:srgbClr val="A78BFA"/>
            </a:solidFill>
            <a:prstDash val="solid"/>
          </a:ln>
        </p:spPr>
      </p:sp>
      <p:pic>
        <p:nvPicPr>
          <p:cNvPr id="25" name="Image 3" descr="preencoded.png">    </p:cNvPr>
          <p:cNvPicPr>
            <a:picLocks noChangeAspect="1"/>
          </p:cNvPicPr>
          <p:nvPr/>
        </p:nvPicPr>
        <p:blipFill>
          <a:blip r:embed="rId4"/>
          <a:stretch>
            <a:fillRect/>
          </a:stretch>
        </p:blipFill>
        <p:spPr>
          <a:xfrm>
            <a:off x="1110630" y="4557918"/>
            <a:ext cx="284196" cy="284196"/>
          </a:xfrm>
          <a:prstGeom prst="rect">
            <a:avLst/>
          </a:prstGeom>
        </p:spPr>
      </p:pic>
      <p:sp>
        <p:nvSpPr>
          <p:cNvPr id="26" name="Text 20"/>
          <p:cNvSpPr/>
          <p:nvPr/>
        </p:nvSpPr>
        <p:spPr>
          <a:xfrm>
            <a:off x="914400" y="5166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Native Mobile Apps</a:t>
            </a:r>
            <a:endParaRPr lang="en-US" sz="1450" dirty="0"/>
          </a:p>
        </p:txBody>
      </p:sp>
      <p:sp>
        <p:nvSpPr>
          <p:cNvPr id="27" name="Text 21"/>
          <p:cNvSpPr/>
          <p:nvPr/>
        </p:nvSpPr>
        <p:spPr>
          <a:xfrm>
            <a:off x="914400" y="5513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Companion iOS / Android clients on the same API surface.</a:t>
            </a:r>
            <a:endParaRPr lang="en-US" sz="1100" dirty="0"/>
          </a:p>
        </p:txBody>
      </p:sp>
      <p:sp>
        <p:nvSpPr>
          <p:cNvPr id="28" name="Shape 22"/>
          <p:cNvSpPr/>
          <p:nvPr/>
        </p:nvSpPr>
        <p:spPr>
          <a:xfrm>
            <a:off x="4453128" y="4069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9" name="Shape 23"/>
          <p:cNvSpPr/>
          <p:nvPr/>
        </p:nvSpPr>
        <p:spPr>
          <a:xfrm>
            <a:off x="4727448" y="4361688"/>
            <a:ext cx="676656" cy="676656"/>
          </a:xfrm>
          <a:prstGeom prst="ellipse">
            <a:avLst/>
          </a:prstGeom>
          <a:solidFill>
            <a:srgbClr val="1A2540"/>
          </a:solidFill>
          <a:ln w="22225">
            <a:solidFill>
              <a:srgbClr val="FB7185"/>
            </a:solidFill>
            <a:prstDash val="solid"/>
          </a:ln>
        </p:spPr>
      </p:sp>
      <p:pic>
        <p:nvPicPr>
          <p:cNvPr id="30" name="Image 4" descr="preencoded.png">    </p:cNvPr>
          <p:cNvPicPr>
            <a:picLocks noChangeAspect="1"/>
          </p:cNvPicPr>
          <p:nvPr/>
        </p:nvPicPr>
        <p:blipFill>
          <a:blip r:embed="rId5"/>
          <a:stretch>
            <a:fillRect/>
          </a:stretch>
        </p:blipFill>
        <p:spPr>
          <a:xfrm>
            <a:off x="4923678" y="4557918"/>
            <a:ext cx="284196" cy="284196"/>
          </a:xfrm>
          <a:prstGeom prst="rect">
            <a:avLst/>
          </a:prstGeom>
        </p:spPr>
      </p:pic>
      <p:sp>
        <p:nvSpPr>
          <p:cNvPr id="31" name="Text 24"/>
          <p:cNvSpPr/>
          <p:nvPr/>
        </p:nvSpPr>
        <p:spPr>
          <a:xfrm>
            <a:off x="4727448" y="5166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Biometric &amp; 2FA</a:t>
            </a:r>
            <a:endParaRPr lang="en-US" sz="1450" dirty="0"/>
          </a:p>
        </p:txBody>
      </p:sp>
      <p:sp>
        <p:nvSpPr>
          <p:cNvPr id="32" name="Text 25"/>
          <p:cNvSpPr/>
          <p:nvPr/>
        </p:nvSpPr>
        <p:spPr>
          <a:xfrm>
            <a:off x="4727448" y="5513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Device biometrics and TOTP for stronger authentication.</a:t>
            </a:r>
            <a:endParaRPr lang="en-US" sz="1100" dirty="0"/>
          </a:p>
        </p:txBody>
      </p:sp>
      <p:sp>
        <p:nvSpPr>
          <p:cNvPr id="33" name="Shape 26"/>
          <p:cNvSpPr/>
          <p:nvPr/>
        </p:nvSpPr>
        <p:spPr>
          <a:xfrm>
            <a:off x="8266176" y="4069080"/>
            <a:ext cx="3520440" cy="2011680"/>
          </a:xfrm>
          <a:prstGeom prst="roundRect">
            <a:avLst>
              <a:gd name="adj" fmla="val 4545"/>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4" name="Shape 27"/>
          <p:cNvSpPr/>
          <p:nvPr/>
        </p:nvSpPr>
        <p:spPr>
          <a:xfrm>
            <a:off x="8540496" y="4361688"/>
            <a:ext cx="676656" cy="676656"/>
          </a:xfrm>
          <a:prstGeom prst="ellipse">
            <a:avLst/>
          </a:prstGeom>
          <a:solidFill>
            <a:srgbClr val="1A2540"/>
          </a:solidFill>
          <a:ln w="22225">
            <a:solidFill>
              <a:srgbClr val="34D399"/>
            </a:solidFill>
            <a:prstDash val="solid"/>
          </a:ln>
        </p:spPr>
      </p:sp>
      <p:pic>
        <p:nvPicPr>
          <p:cNvPr id="35" name="Image 5" descr="preencoded.png">    </p:cNvPr>
          <p:cNvPicPr>
            <a:picLocks noChangeAspect="1"/>
          </p:cNvPicPr>
          <p:nvPr/>
        </p:nvPicPr>
        <p:blipFill>
          <a:blip r:embed="rId6"/>
          <a:stretch>
            <a:fillRect/>
          </a:stretch>
        </p:blipFill>
        <p:spPr>
          <a:xfrm>
            <a:off x="8736726" y="4557918"/>
            <a:ext cx="284196" cy="284196"/>
          </a:xfrm>
          <a:prstGeom prst="rect">
            <a:avLst/>
          </a:prstGeom>
        </p:spPr>
      </p:pic>
      <p:sp>
        <p:nvSpPr>
          <p:cNvPr id="36" name="Text 28"/>
          <p:cNvSpPr/>
          <p:nvPr/>
        </p:nvSpPr>
        <p:spPr>
          <a:xfrm>
            <a:off x="8540496" y="516636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Open Banking APIs</a:t>
            </a:r>
            <a:endParaRPr lang="en-US" sz="1450" dirty="0"/>
          </a:p>
        </p:txBody>
      </p:sp>
      <p:sp>
        <p:nvSpPr>
          <p:cNvPr id="37" name="Text 29"/>
          <p:cNvSpPr/>
          <p:nvPr/>
        </p:nvSpPr>
        <p:spPr>
          <a:xfrm>
            <a:off x="8540496" y="5513832"/>
            <a:ext cx="2971800" cy="502920"/>
          </a:xfrm>
          <a:prstGeom prst="rect">
            <a:avLst/>
          </a:prstGeom>
          <a:noFill/>
          <a:ln/>
        </p:spPr>
        <p:txBody>
          <a:bodyPr wrap="square" lIns="0" tIns="0" rIns="0" bIns="0" rtlCol="0" anchor="ctr"/>
          <a:lstStyle/>
          <a:p>
            <a:pPr indent="0" marL="0">
              <a:lnSpc>
                <a:spcPct val="102000"/>
              </a:lnSpc>
              <a:buNone/>
            </a:pPr>
            <a:r>
              <a:rPr lang="en-US" sz="1100" dirty="0">
                <a:solidFill>
                  <a:srgbClr val="C7D0E0"/>
                </a:solidFill>
                <a:latin typeface="Calibri" pitchFamily="34" charset="0"/>
                <a:ea typeface="Calibri" pitchFamily="34" charset="-122"/>
                <a:cs typeface="Calibri" pitchFamily="34" charset="-120"/>
              </a:rPr>
              <a:t>Secure third-party integrations via partner endpoints.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9144000" y="-2194560"/>
            <a:ext cx="5669280" cy="5669280"/>
          </a:xfrm>
          <a:prstGeom prst="ellipse">
            <a:avLst/>
          </a:prstGeom>
          <a:solidFill>
            <a:srgbClr val="D4AF37">
              <a:alpha val="9000"/>
            </a:srgbClr>
          </a:solidFill>
          <a:ln/>
        </p:spPr>
      </p:sp>
      <p:sp>
        <p:nvSpPr>
          <p:cNvPr id="3" name="Shape 1"/>
          <p:cNvSpPr/>
          <p:nvPr/>
        </p:nvSpPr>
        <p:spPr>
          <a:xfrm>
            <a:off x="-1828800" y="4023360"/>
            <a:ext cx="4572000" cy="4572000"/>
          </a:xfrm>
          <a:prstGeom prst="ellipse">
            <a:avLst/>
          </a:prstGeom>
          <a:solidFill>
            <a:srgbClr val="A78BFA">
              <a:alpha val="7000"/>
            </a:srgbClr>
          </a:solidFill>
          <a:ln/>
        </p:spPr>
      </p:sp>
      <p:sp>
        <p:nvSpPr>
          <p:cNvPr id="4" name="Shape 2"/>
          <p:cNvSpPr/>
          <p:nvPr/>
        </p:nvSpPr>
        <p:spPr>
          <a:xfrm>
            <a:off x="658368" y="475488"/>
            <a:ext cx="118872" cy="118872"/>
          </a:xfrm>
          <a:prstGeom prst="ellipse">
            <a:avLst/>
          </a:prstGeom>
          <a:solidFill>
            <a:srgbClr val="D4AF37"/>
          </a:solidFill>
          <a:ln/>
        </p:spPr>
      </p:sp>
      <p:sp>
        <p:nvSpPr>
          <p:cNvPr id="5" name="Text 3"/>
          <p:cNvSpPr/>
          <p:nvPr/>
        </p:nvSpPr>
        <p:spPr>
          <a:xfrm>
            <a:off x="868680" y="384048"/>
            <a:ext cx="8229600" cy="310896"/>
          </a:xfrm>
          <a:prstGeom prst="rect">
            <a:avLst/>
          </a:prstGeom>
          <a:noFill/>
          <a:ln/>
        </p:spPr>
        <p:txBody>
          <a:bodyPr wrap="square" lIns="0" tIns="0" rIns="0" bIns="0" rtlCol="0" anchor="ctr"/>
          <a:lstStyle/>
          <a:p>
            <a:pPr indent="0" marL="0">
              <a:buNone/>
            </a:pPr>
            <a:r>
              <a:rPr lang="en-US" sz="1200" b="1" spc="400" kern="0" dirty="0">
                <a:solidFill>
                  <a:srgbClr val="D4AF37"/>
                </a:solidFill>
                <a:latin typeface="Calibri" pitchFamily="34" charset="0"/>
                <a:ea typeface="Calibri" pitchFamily="34" charset="-122"/>
                <a:cs typeface="Calibri" pitchFamily="34" charset="-120"/>
              </a:rPr>
              <a:t>REFLECTIONS</a:t>
            </a:r>
            <a:endParaRPr lang="en-US" sz="1200" dirty="0"/>
          </a:p>
        </p:txBody>
      </p:sp>
      <p:sp>
        <p:nvSpPr>
          <p:cNvPr id="6" name="Text 4"/>
          <p:cNvSpPr/>
          <p:nvPr/>
        </p:nvSpPr>
        <p:spPr>
          <a:xfrm>
            <a:off x="640080" y="676656"/>
            <a:ext cx="10607040" cy="749808"/>
          </a:xfrm>
          <a:prstGeom prst="rect">
            <a:avLst/>
          </a:prstGeom>
          <a:noFill/>
          <a:ln/>
        </p:spPr>
        <p:txBody>
          <a:bodyPr wrap="square" lIns="0" tIns="0" rIns="0" bIns="0" rtlCol="0" anchor="ctr"/>
          <a:lstStyle/>
          <a:p>
            <a:pPr indent="0" marL="0">
              <a:buNone/>
            </a:pPr>
            <a:r>
              <a:rPr lang="en-US" sz="2900" b="1" dirty="0">
                <a:solidFill>
                  <a:srgbClr val="FFFFFF"/>
                </a:solidFill>
                <a:latin typeface="Bookman Old Style" pitchFamily="34" charset="0"/>
                <a:ea typeface="Bookman Old Style" pitchFamily="34" charset="-122"/>
                <a:cs typeface="Bookman Old Style" pitchFamily="34" charset="-120"/>
              </a:rPr>
              <a:t>Challenges &amp; Learnings</a:t>
            </a:r>
            <a:endParaRPr lang="en-US" sz="2900" dirty="0"/>
          </a:p>
        </p:txBody>
      </p:sp>
      <p:sp>
        <p:nvSpPr>
          <p:cNvPr id="7" name="Shape 5"/>
          <p:cNvSpPr/>
          <p:nvPr/>
        </p:nvSpPr>
        <p:spPr>
          <a:xfrm>
            <a:off x="676656" y="1444752"/>
            <a:ext cx="777240" cy="0"/>
          </a:xfrm>
          <a:prstGeom prst="line">
            <a:avLst/>
          </a:prstGeom>
          <a:noFill/>
          <a:ln w="28575">
            <a:solidFill>
              <a:srgbClr val="D4AF37"/>
            </a:solidFill>
            <a:prstDash val="solid"/>
          </a:ln>
        </p:spPr>
      </p:sp>
      <p:sp>
        <p:nvSpPr>
          <p:cNvPr id="8" name="Shape 6"/>
          <p:cNvSpPr/>
          <p:nvPr/>
        </p:nvSpPr>
        <p:spPr>
          <a:xfrm>
            <a:off x="640080" y="1691640"/>
            <a:ext cx="5440680" cy="1078992"/>
          </a:xfrm>
          <a:prstGeom prst="roundRect">
            <a:avLst>
              <a:gd name="adj" fmla="val 762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9" name="Shape 7"/>
          <p:cNvSpPr/>
          <p:nvPr/>
        </p:nvSpPr>
        <p:spPr>
          <a:xfrm>
            <a:off x="841248" y="1938528"/>
            <a:ext cx="566928" cy="566928"/>
          </a:xfrm>
          <a:prstGeom prst="ellipse">
            <a:avLst/>
          </a:prstGeom>
          <a:solidFill>
            <a:srgbClr val="1A2540"/>
          </a:solidFill>
          <a:ln w="22225">
            <a:solidFill>
              <a:srgbClr val="D4AF37"/>
            </a:solidFill>
            <a:prstDash val="solid"/>
          </a:ln>
        </p:spPr>
      </p:sp>
      <p:pic>
        <p:nvPicPr>
          <p:cNvPr id="10" name="Image 0" descr="preencoded.png">    </p:cNvPr>
          <p:cNvPicPr>
            <a:picLocks noChangeAspect="1"/>
          </p:cNvPicPr>
          <p:nvPr/>
        </p:nvPicPr>
        <p:blipFill>
          <a:blip r:embed="rId1"/>
          <a:stretch>
            <a:fillRect/>
          </a:stretch>
        </p:blipFill>
        <p:spPr>
          <a:xfrm>
            <a:off x="1005657" y="2102937"/>
            <a:ext cx="238110" cy="238110"/>
          </a:xfrm>
          <a:prstGeom prst="rect">
            <a:avLst/>
          </a:prstGeom>
        </p:spPr>
      </p:pic>
      <p:sp>
        <p:nvSpPr>
          <p:cNvPr id="11" name="Text 8"/>
          <p:cNvSpPr/>
          <p:nvPr/>
        </p:nvSpPr>
        <p:spPr>
          <a:xfrm>
            <a:off x="1554480" y="1856232"/>
            <a:ext cx="43434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Financial precision</a:t>
            </a:r>
            <a:endParaRPr lang="en-US" sz="1350" dirty="0"/>
          </a:p>
        </p:txBody>
      </p:sp>
      <p:sp>
        <p:nvSpPr>
          <p:cNvPr id="12" name="Text 9"/>
          <p:cNvSpPr/>
          <p:nvPr/>
        </p:nvSpPr>
        <p:spPr>
          <a:xfrm>
            <a:off x="1554480" y="2167128"/>
            <a:ext cx="4343400" cy="50292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Careful rounding and a residual-absorbing final EMI so schedules close exactly.</a:t>
            </a:r>
            <a:endParaRPr lang="en-US" sz="1050" dirty="0"/>
          </a:p>
        </p:txBody>
      </p:sp>
      <p:sp>
        <p:nvSpPr>
          <p:cNvPr id="13" name="Shape 10"/>
          <p:cNvSpPr/>
          <p:nvPr/>
        </p:nvSpPr>
        <p:spPr>
          <a:xfrm>
            <a:off x="6373368" y="1691640"/>
            <a:ext cx="5440680" cy="1078992"/>
          </a:xfrm>
          <a:prstGeom prst="roundRect">
            <a:avLst>
              <a:gd name="adj" fmla="val 762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4" name="Shape 11"/>
          <p:cNvSpPr/>
          <p:nvPr/>
        </p:nvSpPr>
        <p:spPr>
          <a:xfrm>
            <a:off x="6574536" y="1938528"/>
            <a:ext cx="566928" cy="566928"/>
          </a:xfrm>
          <a:prstGeom prst="ellipse">
            <a:avLst/>
          </a:prstGeom>
          <a:solidFill>
            <a:srgbClr val="1A2540"/>
          </a:solidFill>
          <a:ln w="22225">
            <a:solidFill>
              <a:srgbClr val="2DD4BF"/>
            </a:solidFill>
            <a:prstDash val="solid"/>
          </a:ln>
        </p:spPr>
      </p:sp>
      <p:pic>
        <p:nvPicPr>
          <p:cNvPr id="15" name="Image 1" descr="preencoded.png">    </p:cNvPr>
          <p:cNvPicPr>
            <a:picLocks noChangeAspect="1"/>
          </p:cNvPicPr>
          <p:nvPr/>
        </p:nvPicPr>
        <p:blipFill>
          <a:blip r:embed="rId2"/>
          <a:stretch>
            <a:fillRect/>
          </a:stretch>
        </p:blipFill>
        <p:spPr>
          <a:xfrm>
            <a:off x="6738945" y="2102937"/>
            <a:ext cx="238110" cy="238110"/>
          </a:xfrm>
          <a:prstGeom prst="rect">
            <a:avLst/>
          </a:prstGeom>
        </p:spPr>
      </p:pic>
      <p:sp>
        <p:nvSpPr>
          <p:cNvPr id="16" name="Text 12"/>
          <p:cNvSpPr/>
          <p:nvPr/>
        </p:nvSpPr>
        <p:spPr>
          <a:xfrm>
            <a:off x="7287768" y="1856232"/>
            <a:ext cx="43434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Atomic transfers</a:t>
            </a:r>
            <a:endParaRPr lang="en-US" sz="1350" dirty="0"/>
          </a:p>
        </p:txBody>
      </p:sp>
      <p:sp>
        <p:nvSpPr>
          <p:cNvPr id="17" name="Text 13"/>
          <p:cNvSpPr/>
          <p:nvPr/>
        </p:nvSpPr>
        <p:spPr>
          <a:xfrm>
            <a:off x="7287768" y="2167128"/>
            <a:ext cx="4343400" cy="50292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Debit and credit legs must commit together for true consistency.</a:t>
            </a:r>
            <a:endParaRPr lang="en-US" sz="1050" dirty="0"/>
          </a:p>
        </p:txBody>
      </p:sp>
      <p:sp>
        <p:nvSpPr>
          <p:cNvPr id="18" name="Shape 14"/>
          <p:cNvSpPr/>
          <p:nvPr/>
        </p:nvSpPr>
        <p:spPr>
          <a:xfrm>
            <a:off x="640080" y="2953512"/>
            <a:ext cx="5440680" cy="1078992"/>
          </a:xfrm>
          <a:prstGeom prst="roundRect">
            <a:avLst>
              <a:gd name="adj" fmla="val 762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19" name="Shape 15"/>
          <p:cNvSpPr/>
          <p:nvPr/>
        </p:nvSpPr>
        <p:spPr>
          <a:xfrm>
            <a:off x="841248" y="3200400"/>
            <a:ext cx="566928" cy="566928"/>
          </a:xfrm>
          <a:prstGeom prst="ellipse">
            <a:avLst/>
          </a:prstGeom>
          <a:solidFill>
            <a:srgbClr val="1A2540"/>
          </a:solidFill>
          <a:ln w="22225">
            <a:solidFill>
              <a:srgbClr val="FB7185"/>
            </a:solidFill>
            <a:prstDash val="solid"/>
          </a:ln>
        </p:spPr>
      </p:sp>
      <p:pic>
        <p:nvPicPr>
          <p:cNvPr id="20" name="Image 2" descr="preencoded.png">    </p:cNvPr>
          <p:cNvPicPr>
            <a:picLocks noChangeAspect="1"/>
          </p:cNvPicPr>
          <p:nvPr/>
        </p:nvPicPr>
        <p:blipFill>
          <a:blip r:embed="rId3"/>
          <a:stretch>
            <a:fillRect/>
          </a:stretch>
        </p:blipFill>
        <p:spPr>
          <a:xfrm>
            <a:off x="1005657" y="3364809"/>
            <a:ext cx="238110" cy="238110"/>
          </a:xfrm>
          <a:prstGeom prst="rect">
            <a:avLst/>
          </a:prstGeom>
        </p:spPr>
      </p:pic>
      <p:sp>
        <p:nvSpPr>
          <p:cNvPr id="21" name="Text 16"/>
          <p:cNvSpPr/>
          <p:nvPr/>
        </p:nvSpPr>
        <p:spPr>
          <a:xfrm>
            <a:off x="1554480" y="3118104"/>
            <a:ext cx="43434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Securing the API</a:t>
            </a:r>
            <a:endParaRPr lang="en-US" sz="1350" dirty="0"/>
          </a:p>
        </p:txBody>
      </p:sp>
      <p:sp>
        <p:nvSpPr>
          <p:cNvPr id="22" name="Text 17"/>
          <p:cNvSpPr/>
          <p:nvPr/>
        </p:nvSpPr>
        <p:spPr>
          <a:xfrm>
            <a:off x="1554480" y="3429000"/>
            <a:ext cx="4343400" cy="50292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Mapping endpoints onto clean role-based access with stateless JWT.</a:t>
            </a:r>
            <a:endParaRPr lang="en-US" sz="1050" dirty="0"/>
          </a:p>
        </p:txBody>
      </p:sp>
      <p:sp>
        <p:nvSpPr>
          <p:cNvPr id="23" name="Shape 18"/>
          <p:cNvSpPr/>
          <p:nvPr/>
        </p:nvSpPr>
        <p:spPr>
          <a:xfrm>
            <a:off x="6373368" y="2953512"/>
            <a:ext cx="5440680" cy="1078992"/>
          </a:xfrm>
          <a:prstGeom prst="roundRect">
            <a:avLst>
              <a:gd name="adj" fmla="val 762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4" name="Shape 19"/>
          <p:cNvSpPr/>
          <p:nvPr/>
        </p:nvSpPr>
        <p:spPr>
          <a:xfrm>
            <a:off x="6574536" y="3200400"/>
            <a:ext cx="566928" cy="566928"/>
          </a:xfrm>
          <a:prstGeom prst="ellipse">
            <a:avLst/>
          </a:prstGeom>
          <a:solidFill>
            <a:srgbClr val="1A2540"/>
          </a:solidFill>
          <a:ln w="22225">
            <a:solidFill>
              <a:srgbClr val="38BDF8"/>
            </a:solidFill>
            <a:prstDash val="solid"/>
          </a:ln>
        </p:spPr>
      </p:sp>
      <p:pic>
        <p:nvPicPr>
          <p:cNvPr id="25" name="Image 3" descr="preencoded.png">    </p:cNvPr>
          <p:cNvPicPr>
            <a:picLocks noChangeAspect="1"/>
          </p:cNvPicPr>
          <p:nvPr/>
        </p:nvPicPr>
        <p:blipFill>
          <a:blip r:embed="rId4"/>
          <a:stretch>
            <a:fillRect/>
          </a:stretch>
        </p:blipFill>
        <p:spPr>
          <a:xfrm>
            <a:off x="6738945" y="3364809"/>
            <a:ext cx="238110" cy="238110"/>
          </a:xfrm>
          <a:prstGeom prst="rect">
            <a:avLst/>
          </a:prstGeom>
        </p:spPr>
      </p:pic>
      <p:sp>
        <p:nvSpPr>
          <p:cNvPr id="26" name="Text 20"/>
          <p:cNvSpPr/>
          <p:nvPr/>
        </p:nvSpPr>
        <p:spPr>
          <a:xfrm>
            <a:off x="7287768" y="3118104"/>
            <a:ext cx="43434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Clean layering</a:t>
            </a:r>
            <a:endParaRPr lang="en-US" sz="1350" dirty="0"/>
          </a:p>
        </p:txBody>
      </p:sp>
      <p:sp>
        <p:nvSpPr>
          <p:cNvPr id="27" name="Text 21"/>
          <p:cNvSpPr/>
          <p:nvPr/>
        </p:nvSpPr>
        <p:spPr>
          <a:xfrm>
            <a:off x="7287768" y="3429000"/>
            <a:ext cx="4343400" cy="50292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Disciplined controller-service-repository boundaries with DTOs.</a:t>
            </a:r>
            <a:endParaRPr lang="en-US" sz="1050" dirty="0"/>
          </a:p>
        </p:txBody>
      </p:sp>
      <p:sp>
        <p:nvSpPr>
          <p:cNvPr id="28" name="Shape 22"/>
          <p:cNvSpPr/>
          <p:nvPr/>
        </p:nvSpPr>
        <p:spPr>
          <a:xfrm>
            <a:off x="640080" y="4215384"/>
            <a:ext cx="5440680" cy="1078992"/>
          </a:xfrm>
          <a:prstGeom prst="roundRect">
            <a:avLst>
              <a:gd name="adj" fmla="val 762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29" name="Shape 23"/>
          <p:cNvSpPr/>
          <p:nvPr/>
        </p:nvSpPr>
        <p:spPr>
          <a:xfrm>
            <a:off x="841248" y="4462272"/>
            <a:ext cx="566928" cy="566928"/>
          </a:xfrm>
          <a:prstGeom prst="ellipse">
            <a:avLst/>
          </a:prstGeom>
          <a:solidFill>
            <a:srgbClr val="1A2540"/>
          </a:solidFill>
          <a:ln w="22225">
            <a:solidFill>
              <a:srgbClr val="A78BFA"/>
            </a:solidFill>
            <a:prstDash val="solid"/>
          </a:ln>
        </p:spPr>
      </p:sp>
      <p:pic>
        <p:nvPicPr>
          <p:cNvPr id="30" name="Image 4" descr="preencoded.png">    </p:cNvPr>
          <p:cNvPicPr>
            <a:picLocks noChangeAspect="1"/>
          </p:cNvPicPr>
          <p:nvPr/>
        </p:nvPicPr>
        <p:blipFill>
          <a:blip r:embed="rId5"/>
          <a:stretch>
            <a:fillRect/>
          </a:stretch>
        </p:blipFill>
        <p:spPr>
          <a:xfrm>
            <a:off x="1005657" y="4626681"/>
            <a:ext cx="238110" cy="238110"/>
          </a:xfrm>
          <a:prstGeom prst="rect">
            <a:avLst/>
          </a:prstGeom>
        </p:spPr>
      </p:pic>
      <p:sp>
        <p:nvSpPr>
          <p:cNvPr id="31" name="Text 24"/>
          <p:cNvSpPr/>
          <p:nvPr/>
        </p:nvSpPr>
        <p:spPr>
          <a:xfrm>
            <a:off x="1554480" y="4379976"/>
            <a:ext cx="43434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Cross-cutting concerns</a:t>
            </a:r>
            <a:endParaRPr lang="en-US" sz="1350" dirty="0"/>
          </a:p>
        </p:txBody>
      </p:sp>
      <p:sp>
        <p:nvSpPr>
          <p:cNvPr id="32" name="Text 25"/>
          <p:cNvSpPr/>
          <p:nvPr/>
        </p:nvSpPr>
        <p:spPr>
          <a:xfrm>
            <a:off x="1554480" y="4690872"/>
            <a:ext cx="4343400" cy="50292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AOP added audit logging without polluting business logic.</a:t>
            </a:r>
            <a:endParaRPr lang="en-US" sz="1050" dirty="0"/>
          </a:p>
        </p:txBody>
      </p:sp>
      <p:sp>
        <p:nvSpPr>
          <p:cNvPr id="33" name="Shape 26"/>
          <p:cNvSpPr/>
          <p:nvPr/>
        </p:nvSpPr>
        <p:spPr>
          <a:xfrm>
            <a:off x="6373368" y="4215384"/>
            <a:ext cx="5440680" cy="1078992"/>
          </a:xfrm>
          <a:prstGeom prst="roundRect">
            <a:avLst>
              <a:gd name="adj" fmla="val 7627"/>
            </a:avLst>
          </a:prstGeom>
          <a:solidFill>
            <a:srgbClr val="141C30"/>
          </a:solidFill>
          <a:ln w="12700">
            <a:solidFill>
              <a:srgbClr val="32436B"/>
            </a:solidFill>
            <a:prstDash val="solid"/>
          </a:ln>
          <a:effectLst>
            <a:outerShdw sx="100000" sy="100000" kx="0" ky="0" algn="bl" rotWithShape="0" blurRad="101600" dist="25400" dir="5400000">
              <a:srgbClr val="000000">
                <a:alpha val="30000"/>
              </a:srgbClr>
            </a:outerShdw>
          </a:effectLst>
        </p:spPr>
      </p:sp>
      <p:sp>
        <p:nvSpPr>
          <p:cNvPr id="34" name="Shape 27"/>
          <p:cNvSpPr/>
          <p:nvPr/>
        </p:nvSpPr>
        <p:spPr>
          <a:xfrm>
            <a:off x="6574536" y="4462272"/>
            <a:ext cx="566928" cy="566928"/>
          </a:xfrm>
          <a:prstGeom prst="ellipse">
            <a:avLst/>
          </a:prstGeom>
          <a:solidFill>
            <a:srgbClr val="1A2540"/>
          </a:solidFill>
          <a:ln w="22225">
            <a:solidFill>
              <a:srgbClr val="34D399"/>
            </a:solidFill>
            <a:prstDash val="solid"/>
          </a:ln>
        </p:spPr>
      </p:sp>
      <p:pic>
        <p:nvPicPr>
          <p:cNvPr id="35" name="Image 5" descr="preencoded.png">    </p:cNvPr>
          <p:cNvPicPr>
            <a:picLocks noChangeAspect="1"/>
          </p:cNvPicPr>
          <p:nvPr/>
        </p:nvPicPr>
        <p:blipFill>
          <a:blip r:embed="rId6"/>
          <a:stretch>
            <a:fillRect/>
          </a:stretch>
        </p:blipFill>
        <p:spPr>
          <a:xfrm>
            <a:off x="6738945" y="4626681"/>
            <a:ext cx="238110" cy="238110"/>
          </a:xfrm>
          <a:prstGeom prst="rect">
            <a:avLst/>
          </a:prstGeom>
        </p:spPr>
      </p:pic>
      <p:sp>
        <p:nvSpPr>
          <p:cNvPr id="36" name="Text 28"/>
          <p:cNvSpPr/>
          <p:nvPr/>
        </p:nvSpPr>
        <p:spPr>
          <a:xfrm>
            <a:off x="7287768" y="4379976"/>
            <a:ext cx="43434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Team collaboration</a:t>
            </a:r>
            <a:endParaRPr lang="en-US" sz="1350" dirty="0"/>
          </a:p>
        </p:txBody>
      </p:sp>
      <p:sp>
        <p:nvSpPr>
          <p:cNvPr id="37" name="Text 29"/>
          <p:cNvSpPr/>
          <p:nvPr/>
        </p:nvSpPr>
        <p:spPr>
          <a:xfrm>
            <a:off x="7287768" y="4690872"/>
            <a:ext cx="4343400" cy="502920"/>
          </a:xfrm>
          <a:prstGeom prst="rect">
            <a:avLst/>
          </a:prstGeom>
          <a:noFill/>
          <a:ln/>
        </p:spPr>
        <p:txBody>
          <a:bodyPr wrap="square" lIns="0" tIns="0" rIns="0" bIns="0" rtlCol="0" anchor="ctr"/>
          <a:lstStyle/>
          <a:p>
            <a:pPr indent="0" marL="0">
              <a:lnSpc>
                <a:spcPct val="100000"/>
              </a:lnSpc>
              <a:buNone/>
            </a:pPr>
            <a:r>
              <a:rPr lang="en-US" sz="1050" dirty="0">
                <a:solidFill>
                  <a:srgbClr val="C7D0E0"/>
                </a:solidFill>
                <a:latin typeface="Calibri" pitchFamily="34" charset="0"/>
                <a:ea typeface="Calibri" pitchFamily="34" charset="-122"/>
                <a:cs typeface="Calibri" pitchFamily="34" charset="-120"/>
              </a:rPr>
              <a:t>Coordinated Git workflow across the whole team.</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863840" y="-2743200"/>
            <a:ext cx="7498080" cy="7498080"/>
          </a:xfrm>
          <a:prstGeom prst="ellipse">
            <a:avLst/>
          </a:prstGeom>
          <a:solidFill>
            <a:srgbClr val="D4AF37">
              <a:alpha val="10000"/>
            </a:srgbClr>
          </a:solidFill>
          <a:ln/>
        </p:spPr>
      </p:sp>
      <p:sp>
        <p:nvSpPr>
          <p:cNvPr id="3" name="Shape 1"/>
          <p:cNvSpPr/>
          <p:nvPr/>
        </p:nvSpPr>
        <p:spPr>
          <a:xfrm>
            <a:off x="9692640" y="3108960"/>
            <a:ext cx="4572000" cy="4572000"/>
          </a:xfrm>
          <a:prstGeom prst="ellipse">
            <a:avLst/>
          </a:prstGeom>
          <a:solidFill>
            <a:srgbClr val="A78BFA">
              <a:alpha val="7000"/>
            </a:srgbClr>
          </a:solidFill>
          <a:ln/>
        </p:spPr>
      </p:sp>
      <p:sp>
        <p:nvSpPr>
          <p:cNvPr id="4" name="Shape 2"/>
          <p:cNvSpPr/>
          <p:nvPr/>
        </p:nvSpPr>
        <p:spPr>
          <a:xfrm>
            <a:off x="-2194560" y="-1828800"/>
            <a:ext cx="4754880" cy="4754880"/>
          </a:xfrm>
          <a:prstGeom prst="ellipse">
            <a:avLst/>
          </a:prstGeom>
          <a:solidFill>
            <a:srgbClr val="38BDF8">
              <a:alpha val="6000"/>
            </a:srgbClr>
          </a:solidFill>
          <a:ln/>
        </p:spPr>
      </p:sp>
      <p:sp>
        <p:nvSpPr>
          <p:cNvPr id="5" name="Shape 3"/>
          <p:cNvSpPr/>
          <p:nvPr/>
        </p:nvSpPr>
        <p:spPr>
          <a:xfrm>
            <a:off x="274320" y="274320"/>
            <a:ext cx="11643055" cy="6309360"/>
          </a:xfrm>
          <a:prstGeom prst="rect">
            <a:avLst/>
          </a:prstGeom>
          <a:ln w="12700">
            <a:solidFill>
              <a:srgbClr val="263352"/>
            </a:solidFill>
            <a:prstDash val="solid"/>
          </a:ln>
        </p:spPr>
      </p:sp>
      <p:sp>
        <p:nvSpPr>
          <p:cNvPr id="6" name="Shape 4"/>
          <p:cNvSpPr/>
          <p:nvPr/>
        </p:nvSpPr>
        <p:spPr>
          <a:xfrm>
            <a:off x="5592928" y="1371600"/>
            <a:ext cx="1005840" cy="1005840"/>
          </a:xfrm>
          <a:prstGeom prst="ellipse">
            <a:avLst/>
          </a:prstGeom>
          <a:solidFill>
            <a:srgbClr val="D4AF37"/>
          </a:solidFill>
          <a:ln w="9525">
            <a:solidFill>
              <a:srgbClr val="F0CE6B"/>
            </a:solidFill>
            <a:prstDash val="solid"/>
          </a:ln>
          <a:effectLst>
            <a:outerShdw sx="100000" sy="100000" kx="0" ky="0" algn="bl" rotWithShape="0" blurRad="228600" dist="50800" dir="16200000">
              <a:srgbClr val="D4AF37">
                <a:alpha val="50000"/>
              </a:srgbClr>
            </a:outerShdw>
          </a:effectLst>
        </p:spPr>
      </p:sp>
      <p:pic>
        <p:nvPicPr>
          <p:cNvPr id="7" name="Image 0" descr="preencoded.png">    </p:cNvPr>
          <p:cNvPicPr>
            <a:picLocks noChangeAspect="1"/>
          </p:cNvPicPr>
          <p:nvPr/>
        </p:nvPicPr>
        <p:blipFill>
          <a:blip r:embed="rId1"/>
          <a:stretch>
            <a:fillRect/>
          </a:stretch>
        </p:blipFill>
        <p:spPr>
          <a:xfrm>
            <a:off x="5864504" y="1643177"/>
            <a:ext cx="462686" cy="462686"/>
          </a:xfrm>
          <a:prstGeom prst="rect">
            <a:avLst/>
          </a:prstGeom>
        </p:spPr>
      </p:pic>
      <p:sp>
        <p:nvSpPr>
          <p:cNvPr id="8" name="Text 5"/>
          <p:cNvSpPr/>
          <p:nvPr/>
        </p:nvSpPr>
        <p:spPr>
          <a:xfrm>
            <a:off x="0" y="2670048"/>
            <a:ext cx="12191695" cy="914400"/>
          </a:xfrm>
          <a:prstGeom prst="rect">
            <a:avLst/>
          </a:prstGeom>
          <a:noFill/>
          <a:ln/>
        </p:spPr>
        <p:txBody>
          <a:bodyPr wrap="square" lIns="0" tIns="0" rIns="0" bIns="0" rtlCol="0" anchor="ctr"/>
          <a:lstStyle/>
          <a:p>
            <a:pPr algn="ctr" indent="0" marL="0">
              <a:buNone/>
            </a:pPr>
            <a:r>
              <a:rPr lang="en-US" sz="5400" b="1" spc="100" kern="0" dirty="0">
                <a:solidFill>
                  <a:srgbClr val="FFFFFF"/>
                </a:solidFill>
                <a:latin typeface="Bookman Old Style" pitchFamily="34" charset="0"/>
                <a:ea typeface="Bookman Old Style" pitchFamily="34" charset="-122"/>
                <a:cs typeface="Bookman Old Style" pitchFamily="34" charset="-120"/>
              </a:rPr>
              <a:t>THANK YOU</a:t>
            </a:r>
            <a:endParaRPr lang="en-US" sz="5400" dirty="0"/>
          </a:p>
        </p:txBody>
      </p:sp>
      <p:sp>
        <p:nvSpPr>
          <p:cNvPr id="9" name="Shape 6"/>
          <p:cNvSpPr/>
          <p:nvPr/>
        </p:nvSpPr>
        <p:spPr>
          <a:xfrm>
            <a:off x="5455768" y="3703320"/>
            <a:ext cx="1280160" cy="0"/>
          </a:xfrm>
          <a:prstGeom prst="line">
            <a:avLst/>
          </a:prstGeom>
          <a:noFill/>
          <a:ln w="31750">
            <a:solidFill>
              <a:srgbClr val="D4AF37"/>
            </a:solidFill>
            <a:prstDash val="solid"/>
          </a:ln>
        </p:spPr>
      </p:sp>
      <p:sp>
        <p:nvSpPr>
          <p:cNvPr id="10" name="Text 7"/>
          <p:cNvSpPr/>
          <p:nvPr/>
        </p:nvSpPr>
        <p:spPr>
          <a:xfrm>
            <a:off x="0" y="3877056"/>
            <a:ext cx="12191695" cy="365760"/>
          </a:xfrm>
          <a:prstGeom prst="rect">
            <a:avLst/>
          </a:prstGeom>
          <a:noFill/>
          <a:ln/>
        </p:spPr>
        <p:txBody>
          <a:bodyPr wrap="square" lIns="0" tIns="0" rIns="0" bIns="0" rtlCol="0" anchor="ctr"/>
          <a:lstStyle/>
          <a:p>
            <a:pPr algn="ctr" indent="0" marL="0">
              <a:buNone/>
            </a:pPr>
            <a:r>
              <a:rPr lang="en-US" sz="1600" b="1" spc="100" kern="0" dirty="0">
                <a:solidFill>
                  <a:srgbClr val="D4AF37"/>
                </a:solidFill>
                <a:latin typeface="Calibri" pitchFamily="34" charset="0"/>
                <a:ea typeface="Calibri" pitchFamily="34" charset="-122"/>
                <a:cs typeface="Calibri" pitchFamily="34" charset="-120"/>
              </a:rPr>
              <a:t>NeoBank 360  —  Unified Digital Banking Platform</a:t>
            </a:r>
            <a:endParaRPr lang="en-US" sz="1600" dirty="0"/>
          </a:p>
        </p:txBody>
      </p:sp>
      <p:sp>
        <p:nvSpPr>
          <p:cNvPr id="11" name="Text 8"/>
          <p:cNvSpPr/>
          <p:nvPr/>
        </p:nvSpPr>
        <p:spPr>
          <a:xfrm>
            <a:off x="0" y="4315968"/>
            <a:ext cx="12191695" cy="320040"/>
          </a:xfrm>
          <a:prstGeom prst="rect">
            <a:avLst/>
          </a:prstGeom>
          <a:noFill/>
          <a:ln/>
        </p:spPr>
        <p:txBody>
          <a:bodyPr wrap="square" lIns="0" tIns="0" rIns="0" bIns="0" rtlCol="0" anchor="ctr"/>
          <a:lstStyle/>
          <a:p>
            <a:pPr algn="ctr" indent="0" marL="0">
              <a:buNone/>
            </a:pPr>
            <a:r>
              <a:rPr lang="en-US" sz="1300" i="1" dirty="0">
                <a:solidFill>
                  <a:srgbClr val="7E8BA8"/>
                </a:solidFill>
                <a:latin typeface="Calibri" pitchFamily="34" charset="0"/>
                <a:ea typeface="Calibri" pitchFamily="34" charset="-122"/>
                <a:cs typeface="Calibri" pitchFamily="34" charset="-120"/>
              </a:rPr>
              <a:t>We welcome your questions.</a:t>
            </a:r>
            <a:endParaRPr lang="en-US" sz="1300" dirty="0"/>
          </a:p>
        </p:txBody>
      </p:sp>
      <p:sp>
        <p:nvSpPr>
          <p:cNvPr id="12" name="Text 9"/>
          <p:cNvSpPr/>
          <p:nvPr/>
        </p:nvSpPr>
        <p:spPr>
          <a:xfrm>
            <a:off x="1097280" y="5852160"/>
            <a:ext cx="9997135" cy="457200"/>
          </a:xfrm>
          <a:prstGeom prst="rect">
            <a:avLst/>
          </a:prstGeom>
          <a:noFill/>
          <a:ln/>
        </p:spPr>
        <p:txBody>
          <a:bodyPr wrap="square" lIns="0" tIns="0" rIns="0" bIns="0" rtlCol="0" anchor="ctr"/>
          <a:lstStyle/>
          <a:p>
            <a:pPr algn="ctr" indent="0" marL="0">
              <a:lnSpc>
                <a:spcPct val="110000"/>
              </a:lnSpc>
              <a:buNone/>
            </a:pPr>
            <a:r>
              <a:rPr lang="en-US" sz="1050" dirty="0">
                <a:solidFill>
                  <a:srgbClr val="5C6884"/>
                </a:solidFill>
                <a:latin typeface="Calibri" pitchFamily="34" charset="0"/>
                <a:ea typeface="Calibri" pitchFamily="34" charset="-122"/>
                <a:cs typeface="Calibri" pitchFamily="34" charset="-120"/>
              </a:rPr>
              <a:t>Presented by  Ritik Shekhar Parida  ·  Gyana Ranjan Sahoo  ·  Laxmipriya Nayak  ·  Manoj Kumar Sahoo  ·  Ashutosh Sahoo  ·  Biswa Prakash Mandal  ·  Suvajit Majhi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NeoBank 360 — Unified Digital Banking Platform</dc:title>
  <dc:subject>PptxGenJS Presentation</dc:subject>
  <dc:creator>NeoBank 360 Team</dc:creator>
  <cp:lastModifiedBy>NeoBank 360 Team</cp:lastModifiedBy>
  <cp:revision>1</cp:revision>
  <dcterms:created xsi:type="dcterms:W3CDTF">2026-06-29T04:06:30Z</dcterms:created>
  <dcterms:modified xsi:type="dcterms:W3CDTF">2026-06-29T04:06:30Z</dcterms:modified>
</cp:coreProperties>
</file>